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9" r:id="rId8"/>
    <p:sldId id="263" r:id="rId9"/>
    <p:sldId id="262" r:id="rId10"/>
    <p:sldId id="264" r:id="rId11"/>
    <p:sldId id="265"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file:///C:\Users\ARUNA\AppData\Local\Packages\5319275A.WhatsAppDesktop_cv1g1gvanyjgm\LocalState\sessions\3772C3D5DF62AAD163DCEE43843F8F9512FD1F3C\transfers\2026-32\New_Book1_Binal.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binal\OneDrive\Desktop\Adventure%20Works%20Project\Excel\New_Book1_Binal.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3" Type="http://schemas.openxmlformats.org/officeDocument/2006/relationships/oleObject" Target="file:///C:\Users\ARUNA\AppData\Local\Packages\5319275A.WhatsAppDesktop_cv1g1gvanyjgm\LocalState\sessions\3772C3D5DF62AAD163DCEE43843F8F9512FD1F3C\transfers\2026-32\New_Book1_Binal.xlsx" TargetMode="External"/><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RUNA\AppData\Local\Packages\5319275A.WhatsAppDesktop_cv1g1gvanyjgm\LocalState\sessions\3772C3D5DF62AAD163DCEE43843F8F9512FD1F3C\transfers\2026-32\New_Book1_Binal.xlsx" TargetMode="External"/><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RUNA\AppData\Local\Packages\5319275A.WhatsAppDesktop_cv1g1gvanyjgm\LocalState\sessions\3772C3D5DF62AAD163DCEE43843F8F9512FD1F3C\transfers\2026-32\New_Book1_Binal.xlsx" TargetMode="External"/><Relationship Id="rId2" Type="http://schemas.microsoft.com/office/2011/relationships/chartColorStyle" Target="colors5.xml"/><Relationship Id="rId1" Type="http://schemas.microsoft.com/office/2011/relationships/chartStyle" Target="style5.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RUNA\AppData\Local\Packages\5319275A.WhatsAppDesktop_cv1g1gvanyjgm\LocalState\sessions\3772C3D5DF62AAD163DCEE43843F8F9512FD1F3C\transfers\2026-32\New_Book1_Binal.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Sales $M</c:v>
                </c:pt>
              </c:strCache>
            </c:strRef>
          </c:tx>
          <c:spPr>
            <a:solidFill>
              <a:srgbClr val="1E2761"/>
            </a:solidFill>
            <a:effectLst/>
          </c:spPr>
          <c:invertIfNegative val="0"/>
          <c:dLbls>
            <c:numFmt formatCode="0.0" sourceLinked="0"/>
            <c:spPr>
              <a:noFill/>
              <a:ln>
                <a:noFill/>
              </a:ln>
              <a:effectLst/>
            </c:spPr>
            <c:txPr>
              <a:bodyPr/>
              <a:lstStyle/>
              <a:p>
                <a:pPr>
                  <a:defRPr sz="9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Australia</c:v>
                </c:pt>
                <c:pt idx="1">
                  <c:v>Southwest</c:v>
                </c:pt>
                <c:pt idx="2">
                  <c:v>Northwest</c:v>
                </c:pt>
                <c:pt idx="3">
                  <c:v>UK</c:v>
                </c:pt>
                <c:pt idx="4">
                  <c:v>Germany</c:v>
                </c:pt>
                <c:pt idx="5">
                  <c:v>France</c:v>
                </c:pt>
                <c:pt idx="6">
                  <c:v>Canada</c:v>
                </c:pt>
              </c:strCache>
            </c:strRef>
          </c:cat>
          <c:val>
            <c:numRef>
              <c:f>Sheet1!$B$2:$B$8</c:f>
              <c:numCache>
                <c:formatCode>General</c:formatCode>
                <c:ptCount val="7"/>
                <c:pt idx="0">
                  <c:v>9.06</c:v>
                </c:pt>
                <c:pt idx="1">
                  <c:v>5.72</c:v>
                </c:pt>
                <c:pt idx="2">
                  <c:v>3.65</c:v>
                </c:pt>
                <c:pt idx="3">
                  <c:v>3.39</c:v>
                </c:pt>
                <c:pt idx="4">
                  <c:v>2.89</c:v>
                </c:pt>
                <c:pt idx="5">
                  <c:v>2.64</c:v>
                </c:pt>
                <c:pt idx="6">
                  <c:v>1.98</c:v>
                </c:pt>
              </c:numCache>
            </c:numRef>
          </c:val>
          <c:extLst>
            <c:ext xmlns:c16="http://schemas.microsoft.com/office/drawing/2014/chart" uri="{C3380CC4-5D6E-409C-BE32-E72D297353CC}">
              <c16:uniqueId val="{00000000-A2C9-48C5-902E-565C4D31C8D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A6B87"/>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a:solidFill>
                  <a:schemeClr val="tx1"/>
                </a:solidFill>
                <a:latin typeface="Arial Black" panose="020B0A04020102020204" pitchFamily="34" charset="0"/>
              </a:rPr>
              <a:t>Sale</a:t>
            </a:r>
            <a:r>
              <a:rPr lang="en-IN" b="1" baseline="0">
                <a:solidFill>
                  <a:schemeClr val="tx1"/>
                </a:solidFill>
                <a:latin typeface="Arial Black" panose="020B0A04020102020204" pitchFamily="34" charset="0"/>
              </a:rPr>
              <a:t> Cost Vs Production Cost</a:t>
            </a:r>
            <a:endParaRPr lang="en-IN" b="1">
              <a:solidFill>
                <a:schemeClr val="tx1"/>
              </a:solidFill>
              <a:latin typeface="Arial Black" panose="020B0A040201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rgbClr val="1E2761"/>
          </a:solidFill>
          <a:ln>
            <a:noFill/>
          </a:ln>
          <a:effectLst/>
        </c:spPr>
        <c:marker>
          <c:symbol val="none"/>
        </c:marker>
        <c:dLbl>
          <c:idx val="0"/>
          <c:numFmt formatCode="#,##0.0,&quot;K&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1E2761"/>
          </a:solidFill>
          <a:ln w="28575" cap="rnd">
            <a:solidFill>
              <a:srgbClr val="1E2761"/>
            </a:solidFill>
            <a:round/>
          </a:ln>
          <a:effectLst/>
        </c:spPr>
        <c:marker>
          <c:symbol val="triangle"/>
          <c:size val="7"/>
          <c:spPr>
            <a:solidFill>
              <a:srgbClr val="2FC8B7"/>
            </a:solidFill>
            <a:ln w="9525">
              <a:solidFill>
                <a:srgbClr val="2FC8B7">
                  <a:alpha val="90000"/>
                </a:srgbClr>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1E2761"/>
          </a:solidFill>
          <a:ln w="28575" cap="rnd">
            <a:solidFill>
              <a:srgbClr val="2FC8B7"/>
            </a:solidFill>
            <a:round/>
          </a:ln>
          <a:effectLst/>
        </c:spPr>
        <c:marker>
          <c:symbol val="triangle"/>
          <c:size val="7"/>
          <c:spPr>
            <a:solidFill>
              <a:srgbClr val="2FC8B7"/>
            </a:solidFill>
            <a:ln w="9525">
              <a:solidFill>
                <a:srgbClr val="92D050">
                  <a:alpha val="0"/>
                </a:srgbClr>
              </a:solidFill>
            </a:ln>
            <a:effectLst/>
          </c:spPr>
        </c:marker>
      </c:pivotFmt>
      <c:pivotFmt>
        <c:idx val="3"/>
        <c:spPr>
          <a:solidFill>
            <a:srgbClr val="1E2761"/>
          </a:solidFill>
          <a:ln>
            <a:noFill/>
          </a:ln>
          <a:effectLst/>
        </c:spPr>
        <c:marker>
          <c:symbol val="none"/>
        </c:marker>
        <c:dLbl>
          <c:idx val="0"/>
          <c:numFmt formatCode="#,##0.0,&quot;K&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1E2761"/>
          </a:solidFill>
          <a:ln w="28575" cap="rnd">
            <a:solidFill>
              <a:srgbClr val="1E2761"/>
            </a:solidFill>
            <a:round/>
          </a:ln>
          <a:effectLst/>
        </c:spPr>
        <c:marker>
          <c:symbol val="triangle"/>
          <c:size val="7"/>
          <c:spPr>
            <a:solidFill>
              <a:srgbClr val="2FC8B7"/>
            </a:solidFill>
            <a:ln w="9525">
              <a:solidFill>
                <a:srgbClr val="2FC8B7">
                  <a:alpha val="90000"/>
                </a:srgbClr>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1E2761"/>
          </a:solidFill>
          <a:ln w="28575" cap="rnd">
            <a:solidFill>
              <a:srgbClr val="2FC8B7"/>
            </a:solidFill>
            <a:round/>
          </a:ln>
          <a:effectLst/>
        </c:spPr>
        <c:marker>
          <c:symbol val="triangle"/>
          <c:size val="7"/>
          <c:spPr>
            <a:solidFill>
              <a:srgbClr val="2FC8B7"/>
            </a:solidFill>
            <a:ln w="9525">
              <a:solidFill>
                <a:srgbClr val="92D050">
                  <a:alpha val="0"/>
                </a:srgbClr>
              </a:solidFill>
            </a:ln>
            <a:effectLst/>
          </c:spPr>
        </c:marker>
      </c:pivotFmt>
    </c:pivotFmts>
    <c:plotArea>
      <c:layout/>
      <c:barChart>
        <c:barDir val="col"/>
        <c:grouping val="clustered"/>
        <c:varyColors val="0"/>
        <c:ser>
          <c:idx val="0"/>
          <c:order val="0"/>
          <c:tx>
            <c:v>Sum of SalesAmount</c:v>
          </c:tx>
          <c:spPr>
            <a:solidFill>
              <a:srgbClr val="1E2761"/>
            </a:solidFill>
            <a:ln>
              <a:noFill/>
            </a:ln>
            <a:effectLst/>
          </c:spPr>
          <c:invertIfNegative val="0"/>
          <c:dLbls>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Lit>
          </c:cat>
          <c:val>
            <c:numLit>
              <c:formatCode>General</c:formatCode>
              <c:ptCount val="12"/>
              <c:pt idx="0">
                <c:v>1868572.6708999944</c:v>
              </c:pt>
              <c:pt idx="1">
                <c:v>1744677.8305999951</c:v>
              </c:pt>
              <c:pt idx="2">
                <c:v>1908589.054799991</c:v>
              </c:pt>
              <c:pt idx="3">
                <c:v>1948432.2302999962</c:v>
              </c:pt>
              <c:pt idx="4">
                <c:v>2205152.2965000584</c:v>
              </c:pt>
              <c:pt idx="5">
                <c:v>2936177.7442004671</c:v>
              </c:pt>
              <c:pt idx="6">
                <c:v>2412980.5949001843</c:v>
              </c:pt>
              <c:pt idx="7">
                <c:v>2689540.8765003341</c:v>
              </c:pt>
              <c:pt idx="8">
                <c:v>2536756.6378002483</c:v>
              </c:pt>
              <c:pt idx="9">
                <c:v>2916660.8978004777</c:v>
              </c:pt>
              <c:pt idx="10">
                <c:v>2979421.3902004738</c:v>
              </c:pt>
              <c:pt idx="11">
                <c:v>3211714.9962005606</c:v>
              </c:pt>
            </c:numLit>
          </c:val>
          <c:extLst>
            <c:ext xmlns:c16="http://schemas.microsoft.com/office/drawing/2014/chart" uri="{C3380CC4-5D6E-409C-BE32-E72D297353CC}">
              <c16:uniqueId val="{00000000-8DA0-4E81-8272-97A304DDC49E}"/>
            </c:ext>
          </c:extLst>
        </c:ser>
        <c:dLbls>
          <c:dLblPos val="outEnd"/>
          <c:showLegendKey val="0"/>
          <c:showVal val="1"/>
          <c:showCatName val="0"/>
          <c:showSerName val="0"/>
          <c:showPercent val="0"/>
          <c:showBubbleSize val="0"/>
        </c:dLbls>
        <c:gapWidth val="219"/>
        <c:overlap val="-27"/>
        <c:axId val="1282591904"/>
        <c:axId val="266196175"/>
      </c:barChart>
      <c:lineChart>
        <c:grouping val="standard"/>
        <c:varyColors val="0"/>
        <c:ser>
          <c:idx val="1"/>
          <c:order val="1"/>
          <c:tx>
            <c:v>Sum of Production Cost</c:v>
          </c:tx>
          <c:spPr>
            <a:ln w="28575" cap="rnd">
              <a:solidFill>
                <a:srgbClr val="2FC8B7"/>
              </a:solidFill>
              <a:round/>
            </a:ln>
            <a:effectLst/>
          </c:spPr>
          <c:marker>
            <c:symbol val="diamond"/>
            <c:size val="7"/>
            <c:spPr>
              <a:solidFill>
                <a:srgbClr val="2FC8B7"/>
              </a:solidFill>
              <a:ln w="9525">
                <a:noFill/>
              </a:ln>
              <a:effectLst/>
            </c:spPr>
          </c:marker>
          <c:dPt>
            <c:idx val="10"/>
            <c:marker>
              <c:symbol val="diamond"/>
              <c:size val="7"/>
              <c:spPr>
                <a:solidFill>
                  <a:srgbClr val="2FC8B7"/>
                </a:solidFill>
                <a:ln w="9525">
                  <a:noFill/>
                </a:ln>
                <a:effectLst/>
              </c:spPr>
            </c:marker>
            <c:bubble3D val="0"/>
            <c:spPr>
              <a:ln w="28575" cap="rnd">
                <a:solidFill>
                  <a:srgbClr val="2FC8B7"/>
                </a:solidFill>
                <a:round/>
              </a:ln>
              <a:effectLst/>
            </c:spPr>
            <c:extLst>
              <c:ext xmlns:c16="http://schemas.microsoft.com/office/drawing/2014/chart" uri="{C3380CC4-5D6E-409C-BE32-E72D297353CC}">
                <c16:uniqueId val="{00000002-8DA0-4E81-8272-97A304DDC49E}"/>
              </c:ext>
            </c:extLst>
          </c:dPt>
          <c:dLbls>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Lit>
          </c:cat>
          <c:val>
            <c:numLit>
              <c:formatCode>General</c:formatCode>
              <c:ptCount val="12"/>
              <c:pt idx="0">
                <c:v>1102629.006000007</c:v>
              </c:pt>
              <c:pt idx="1">
                <c:v>1029856.6198999985</c:v>
              </c:pt>
              <c:pt idx="2">
                <c:v>1125849.9350000103</c:v>
              </c:pt>
              <c:pt idx="3">
                <c:v>1147859.5759000222</c:v>
              </c:pt>
              <c:pt idx="4">
                <c:v>1301413.2076000497</c:v>
              </c:pt>
              <c:pt idx="5">
                <c:v>1731234.9446000948</c:v>
              </c:pt>
              <c:pt idx="6">
                <c:v>1417749.2112000661</c:v>
              </c:pt>
              <c:pt idx="7">
                <c:v>1583754.2180000832</c:v>
              </c:pt>
              <c:pt idx="8">
                <c:v>1491621.5279000646</c:v>
              </c:pt>
              <c:pt idx="9">
                <c:v>1716362.9005001043</c:v>
              </c:pt>
              <c:pt idx="10">
                <c:v>1745370.128500097</c:v>
              </c:pt>
              <c:pt idx="11">
                <c:v>1884092.3006001108</c:v>
              </c:pt>
            </c:numLit>
          </c:val>
          <c:smooth val="0"/>
          <c:extLst>
            <c:ext xmlns:c16="http://schemas.microsoft.com/office/drawing/2014/chart" uri="{C3380CC4-5D6E-409C-BE32-E72D297353CC}">
              <c16:uniqueId val="{00000003-8DA0-4E81-8272-97A304DDC49E}"/>
            </c:ext>
          </c:extLst>
        </c:ser>
        <c:dLbls>
          <c:showLegendKey val="0"/>
          <c:showVal val="1"/>
          <c:showCatName val="0"/>
          <c:showSerName val="0"/>
          <c:showPercent val="0"/>
          <c:showBubbleSize val="0"/>
        </c:dLbls>
        <c:marker val="1"/>
        <c:smooth val="0"/>
        <c:axId val="1282591904"/>
        <c:axId val="266196175"/>
      </c:lineChart>
      <c:catAx>
        <c:axId val="1282591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266196175"/>
        <c:crosses val="autoZero"/>
        <c:auto val="1"/>
        <c:lblAlgn val="ctr"/>
        <c:lblOffset val="100"/>
        <c:noMultiLvlLbl val="0"/>
      </c:catAx>
      <c:valAx>
        <c:axId val="266196175"/>
        <c:scaling>
          <c:orientation val="minMax"/>
        </c:scaling>
        <c:delete val="1"/>
        <c:axPos val="l"/>
        <c:numFmt formatCode="General" sourceLinked="1"/>
        <c:majorTickMark val="none"/>
        <c:minorTickMark val="none"/>
        <c:tickLblPos val="nextTo"/>
        <c:crossAx val="1282591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chemeClr val="tx1"/>
      </a:solidFill>
      <a:round/>
    </a:ln>
    <a:effectLst/>
  </c:spPr>
  <c:txPr>
    <a:bodyPr/>
    <a:lstStyle/>
    <a:p>
      <a:pPr>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[New_Book1_Binal.xlsx]Charts!PivotTable7</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latin typeface="Arial Black" panose="020B0A04020102020204" pitchFamily="34" charset="0"/>
              </a:rPr>
              <a:t>Quarter</a:t>
            </a:r>
            <a:r>
              <a:rPr lang="en-US" b="1" baseline="0">
                <a:solidFill>
                  <a:schemeClr val="tx1"/>
                </a:solidFill>
                <a:latin typeface="Arial Black" panose="020B0A04020102020204" pitchFamily="34" charset="0"/>
              </a:rPr>
              <a:t>-Wise Sales</a:t>
            </a:r>
            <a:endParaRPr lang="en-US" b="1">
              <a:solidFill>
                <a:schemeClr val="tx1"/>
              </a:solidFill>
              <a:latin typeface="Arial Black" panose="020B0A040201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ysClr val="windowText" lastClr="000000">
                <a:lumMod val="25000"/>
                <a:lumOff val="75000"/>
              </a:sysClr>
            </a:solidFill>
          </a:ln>
          <a:effectLst/>
        </c:spPr>
        <c:marker>
          <c:symbol val="none"/>
        </c:marker>
        <c:dLbl>
          <c:idx val="0"/>
          <c:spPr>
            <a:solidFill>
              <a:sysClr val="window" lastClr="FFFFFF">
                <a:lumMod val="85000"/>
              </a:sys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ysClr val="windowText" lastClr="000000">
                <a:lumMod val="25000"/>
                <a:lumOff val="75000"/>
              </a:sysClr>
            </a:solidFill>
          </a:ln>
          <a:effectLst/>
        </c:spPr>
      </c:pivotFmt>
      <c:pivotFmt>
        <c:idx val="2"/>
        <c:spPr>
          <a:solidFill>
            <a:schemeClr val="accent1"/>
          </a:solidFill>
          <a:ln w="19050">
            <a:solidFill>
              <a:sysClr val="windowText" lastClr="000000">
                <a:lumMod val="25000"/>
                <a:lumOff val="75000"/>
              </a:sysClr>
            </a:solidFill>
          </a:ln>
          <a:effectLst/>
        </c:spPr>
      </c:pivotFmt>
      <c:pivotFmt>
        <c:idx val="3"/>
        <c:spPr>
          <a:solidFill>
            <a:schemeClr val="accent1"/>
          </a:solidFill>
          <a:ln w="19050">
            <a:solidFill>
              <a:sysClr val="windowText" lastClr="000000">
                <a:lumMod val="25000"/>
                <a:lumOff val="75000"/>
              </a:sysClr>
            </a:solidFill>
          </a:ln>
          <a:effectLst/>
        </c:spPr>
      </c:pivotFmt>
      <c:pivotFmt>
        <c:idx val="4"/>
        <c:spPr>
          <a:solidFill>
            <a:schemeClr val="accent1"/>
          </a:solidFill>
          <a:ln w="19050">
            <a:solidFill>
              <a:sysClr val="windowText" lastClr="000000">
                <a:lumMod val="25000"/>
                <a:lumOff val="75000"/>
              </a:sysClr>
            </a:solidFill>
          </a:ln>
          <a:effectLst/>
        </c:spPr>
      </c:pivotFmt>
      <c:pivotFmt>
        <c:idx val="5"/>
        <c:spPr>
          <a:solidFill>
            <a:schemeClr val="accent1"/>
          </a:solidFill>
          <a:ln w="19050">
            <a:solidFill>
              <a:sysClr val="windowText" lastClr="000000">
                <a:lumMod val="25000"/>
                <a:lumOff val="75000"/>
              </a:sysClr>
            </a:solidFill>
          </a:ln>
          <a:effectLst/>
        </c:spPr>
      </c:pivotFmt>
      <c:pivotFmt>
        <c:idx val="6"/>
        <c:spPr>
          <a:solidFill>
            <a:schemeClr val="accent1"/>
          </a:solidFill>
          <a:ln w="19050">
            <a:solidFill>
              <a:sysClr val="windowText" lastClr="000000">
                <a:lumMod val="25000"/>
                <a:lumOff val="75000"/>
              </a:sysClr>
            </a:solidFill>
          </a:ln>
          <a:effectLst/>
        </c:spPr>
      </c:pivotFmt>
      <c:pivotFmt>
        <c:idx val="7"/>
        <c:spPr>
          <a:solidFill>
            <a:schemeClr val="accent1"/>
          </a:solidFill>
          <a:ln w="19050">
            <a:solidFill>
              <a:sysClr val="windowText" lastClr="000000">
                <a:lumMod val="25000"/>
                <a:lumOff val="75000"/>
              </a:sysClr>
            </a:solidFill>
          </a:ln>
          <a:effectLst/>
        </c:spPr>
      </c:pivotFmt>
      <c:pivotFmt>
        <c:idx val="8"/>
        <c:spPr>
          <a:solidFill>
            <a:schemeClr val="accent1"/>
          </a:solidFill>
          <a:ln w="19050">
            <a:solidFill>
              <a:sysClr val="windowText" lastClr="000000">
                <a:lumMod val="25000"/>
                <a:lumOff val="75000"/>
              </a:sysClr>
            </a:solidFill>
          </a:ln>
          <a:effectLst/>
        </c:spPr>
      </c:pivotFmt>
      <c:pivotFmt>
        <c:idx val="9"/>
        <c:spPr>
          <a:solidFill>
            <a:schemeClr val="accent1"/>
          </a:solidFill>
          <a:ln w="19050">
            <a:solidFill>
              <a:sysClr val="windowText" lastClr="000000">
                <a:lumMod val="25000"/>
                <a:lumOff val="75000"/>
              </a:sysClr>
            </a:solidFill>
          </a:ln>
          <a:effectLst/>
        </c:spPr>
        <c:marker>
          <c:symbol val="none"/>
        </c:marker>
        <c:dLbl>
          <c:idx val="0"/>
          <c:spPr>
            <a:solidFill>
              <a:sysClr val="window" lastClr="FFFFFF">
                <a:lumMod val="85000"/>
              </a:sys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1"/>
          </a:solidFill>
          <a:ln w="19050">
            <a:solidFill>
              <a:sysClr val="windowText" lastClr="000000">
                <a:lumMod val="25000"/>
                <a:lumOff val="75000"/>
              </a:sysClr>
            </a:solidFill>
          </a:ln>
          <a:effectLst/>
        </c:spPr>
      </c:pivotFmt>
      <c:pivotFmt>
        <c:idx val="11"/>
        <c:spPr>
          <a:solidFill>
            <a:schemeClr val="accent1"/>
          </a:solidFill>
          <a:ln w="19050">
            <a:solidFill>
              <a:sysClr val="windowText" lastClr="000000">
                <a:lumMod val="25000"/>
                <a:lumOff val="75000"/>
              </a:sysClr>
            </a:solidFill>
          </a:ln>
          <a:effectLst/>
        </c:spPr>
      </c:pivotFmt>
      <c:pivotFmt>
        <c:idx val="12"/>
        <c:spPr>
          <a:solidFill>
            <a:schemeClr val="accent1"/>
          </a:solidFill>
          <a:ln w="19050">
            <a:solidFill>
              <a:sysClr val="windowText" lastClr="000000">
                <a:lumMod val="25000"/>
                <a:lumOff val="75000"/>
              </a:sysClr>
            </a:solidFill>
          </a:ln>
          <a:effectLst/>
        </c:spPr>
      </c:pivotFmt>
      <c:pivotFmt>
        <c:idx val="13"/>
        <c:spPr>
          <a:solidFill>
            <a:schemeClr val="accent1"/>
          </a:solidFill>
          <a:ln w="19050">
            <a:solidFill>
              <a:sysClr val="windowText" lastClr="000000">
                <a:lumMod val="25000"/>
                <a:lumOff val="75000"/>
              </a:sysClr>
            </a:solidFill>
          </a:ln>
          <a:effectLst/>
        </c:spPr>
      </c:pivotFmt>
      <c:pivotFmt>
        <c:idx val="14"/>
        <c:spPr>
          <a:solidFill>
            <a:schemeClr val="accent1"/>
          </a:solidFill>
          <a:ln w="19050">
            <a:solidFill>
              <a:sysClr val="windowText" lastClr="000000">
                <a:lumMod val="25000"/>
                <a:lumOff val="75000"/>
              </a:sysClr>
            </a:solidFill>
          </a:ln>
          <a:effectLst/>
        </c:spPr>
        <c:marker>
          <c:symbol val="none"/>
        </c:marker>
        <c:dLbl>
          <c:idx val="0"/>
          <c:spPr>
            <a:solidFill>
              <a:sysClr val="window" lastClr="FFFFFF">
                <a:lumMod val="85000"/>
              </a:sys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5"/>
        <c:spPr>
          <a:solidFill>
            <a:schemeClr val="accent1"/>
          </a:solidFill>
          <a:ln w="19050">
            <a:solidFill>
              <a:sysClr val="windowText" lastClr="000000">
                <a:lumMod val="25000"/>
                <a:lumOff val="75000"/>
              </a:sysClr>
            </a:solidFill>
          </a:ln>
          <a:effectLst/>
        </c:spPr>
      </c:pivotFmt>
      <c:pivotFmt>
        <c:idx val="16"/>
        <c:spPr>
          <a:solidFill>
            <a:schemeClr val="accent1"/>
          </a:solidFill>
          <a:ln w="19050">
            <a:solidFill>
              <a:sysClr val="windowText" lastClr="000000">
                <a:lumMod val="25000"/>
                <a:lumOff val="75000"/>
              </a:sysClr>
            </a:solidFill>
          </a:ln>
          <a:effectLst/>
        </c:spPr>
      </c:pivotFmt>
      <c:pivotFmt>
        <c:idx val="17"/>
        <c:spPr>
          <a:solidFill>
            <a:schemeClr val="accent1"/>
          </a:solidFill>
          <a:ln w="19050">
            <a:solidFill>
              <a:sysClr val="windowText" lastClr="000000">
                <a:lumMod val="25000"/>
                <a:lumOff val="75000"/>
              </a:sysClr>
            </a:solidFill>
          </a:ln>
          <a:effectLst/>
        </c:spPr>
      </c:pivotFmt>
      <c:pivotFmt>
        <c:idx val="18"/>
        <c:spPr>
          <a:solidFill>
            <a:schemeClr val="accent1"/>
          </a:solidFill>
          <a:ln w="19050">
            <a:solidFill>
              <a:sysClr val="windowText" lastClr="000000">
                <a:lumMod val="25000"/>
                <a:lumOff val="75000"/>
              </a:sysClr>
            </a:solidFill>
          </a:ln>
          <a:effectLst/>
        </c:spPr>
      </c:pivotFmt>
    </c:pivotFmts>
    <c:plotArea>
      <c:layout/>
      <c:pieChart>
        <c:varyColors val="1"/>
        <c:ser>
          <c:idx val="0"/>
          <c:order val="0"/>
          <c:tx>
            <c:strRef>
              <c:f>Charts!$F$18</c:f>
              <c:strCache>
                <c:ptCount val="1"/>
                <c:pt idx="0">
                  <c:v>Total</c:v>
                </c:pt>
              </c:strCache>
            </c:strRef>
          </c:tx>
          <c:spPr>
            <a:ln>
              <a:solidFill>
                <a:sysClr val="windowText" lastClr="000000">
                  <a:lumMod val="25000"/>
                  <a:lumOff val="75000"/>
                </a:sysClr>
              </a:solidFill>
            </a:ln>
          </c:spPr>
          <c:dPt>
            <c:idx val="0"/>
            <c:bubble3D val="0"/>
            <c:spPr>
              <a:solidFill>
                <a:schemeClr val="accent1"/>
              </a:solidFill>
              <a:ln w="19050">
                <a:solidFill>
                  <a:sysClr val="windowText" lastClr="000000">
                    <a:lumMod val="25000"/>
                    <a:lumOff val="75000"/>
                  </a:sysClr>
                </a:solidFill>
              </a:ln>
              <a:effectLst/>
            </c:spPr>
            <c:extLst>
              <c:ext xmlns:c16="http://schemas.microsoft.com/office/drawing/2014/chart" uri="{C3380CC4-5D6E-409C-BE32-E72D297353CC}">
                <c16:uniqueId val="{00000001-AC03-485E-8B47-9868AF8F3FA4}"/>
              </c:ext>
            </c:extLst>
          </c:dPt>
          <c:dPt>
            <c:idx val="1"/>
            <c:bubble3D val="0"/>
            <c:spPr>
              <a:solidFill>
                <a:schemeClr val="accent2"/>
              </a:solidFill>
              <a:ln w="19050">
                <a:solidFill>
                  <a:sysClr val="windowText" lastClr="000000">
                    <a:lumMod val="25000"/>
                    <a:lumOff val="75000"/>
                  </a:sysClr>
                </a:solidFill>
              </a:ln>
              <a:effectLst/>
            </c:spPr>
            <c:extLst>
              <c:ext xmlns:c16="http://schemas.microsoft.com/office/drawing/2014/chart" uri="{C3380CC4-5D6E-409C-BE32-E72D297353CC}">
                <c16:uniqueId val="{00000003-AC03-485E-8B47-9868AF8F3FA4}"/>
              </c:ext>
            </c:extLst>
          </c:dPt>
          <c:dPt>
            <c:idx val="2"/>
            <c:bubble3D val="0"/>
            <c:spPr>
              <a:solidFill>
                <a:schemeClr val="accent3"/>
              </a:solidFill>
              <a:ln w="19050">
                <a:solidFill>
                  <a:sysClr val="windowText" lastClr="000000">
                    <a:lumMod val="25000"/>
                    <a:lumOff val="75000"/>
                  </a:sysClr>
                </a:solidFill>
              </a:ln>
              <a:effectLst/>
            </c:spPr>
            <c:extLst>
              <c:ext xmlns:c16="http://schemas.microsoft.com/office/drawing/2014/chart" uri="{C3380CC4-5D6E-409C-BE32-E72D297353CC}">
                <c16:uniqueId val="{00000005-AC03-485E-8B47-9868AF8F3FA4}"/>
              </c:ext>
            </c:extLst>
          </c:dPt>
          <c:dPt>
            <c:idx val="3"/>
            <c:bubble3D val="0"/>
            <c:spPr>
              <a:solidFill>
                <a:schemeClr val="accent4"/>
              </a:solidFill>
              <a:ln w="19050">
                <a:solidFill>
                  <a:sysClr val="windowText" lastClr="000000">
                    <a:lumMod val="25000"/>
                    <a:lumOff val="75000"/>
                  </a:sysClr>
                </a:solidFill>
              </a:ln>
              <a:effectLst/>
            </c:spPr>
            <c:extLst>
              <c:ext xmlns:c16="http://schemas.microsoft.com/office/drawing/2014/chart" uri="{C3380CC4-5D6E-409C-BE32-E72D297353CC}">
                <c16:uniqueId val="{00000007-AC03-485E-8B47-9868AF8F3FA4}"/>
              </c:ext>
            </c:extLst>
          </c:dPt>
          <c:dLbls>
            <c:spPr>
              <a:solidFill>
                <a:sysClr val="window" lastClr="FFFFFF">
                  <a:lumMod val="85000"/>
                </a:sys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Charts!$E$19:$E$23</c:f>
              <c:strCache>
                <c:ptCount val="4"/>
                <c:pt idx="0">
                  <c:v>Q1</c:v>
                </c:pt>
                <c:pt idx="1">
                  <c:v>Q2</c:v>
                </c:pt>
                <c:pt idx="2">
                  <c:v>Q3</c:v>
                </c:pt>
                <c:pt idx="3">
                  <c:v>Q4</c:v>
                </c:pt>
              </c:strCache>
            </c:strRef>
          </c:cat>
          <c:val>
            <c:numRef>
              <c:f>Charts!$F$19:$F$23</c:f>
              <c:numCache>
                <c:formatCode>0.00,,"M"</c:formatCode>
                <c:ptCount val="4"/>
                <c:pt idx="0">
                  <c:v>5521839.5563000608</c:v>
                </c:pt>
                <c:pt idx="1">
                  <c:v>7089762.2710009906</c:v>
                </c:pt>
                <c:pt idx="2">
                  <c:v>7639278.1092010578</c:v>
                </c:pt>
                <c:pt idx="3">
                  <c:v>9107797.284201555</c:v>
                </c:pt>
              </c:numCache>
            </c:numRef>
          </c:val>
          <c:extLst>
            <c:ext xmlns:c16="http://schemas.microsoft.com/office/drawing/2014/chart" uri="{C3380CC4-5D6E-409C-BE32-E72D297353CC}">
              <c16:uniqueId val="{00000008-AC03-485E-8B47-9868AF8F3FA4}"/>
            </c:ext>
          </c:extLst>
        </c:ser>
        <c:dLbls>
          <c:dLblPos val="outEnd"/>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chemeClr val="tx2"/>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1295C"/>
                </a:solidFill>
                <a:latin typeface="Calibri"/>
              </a:defRPr>
            </a:pPr>
            <a:r>
              <a:rPr lang="en-US" sz="1300" b="0" i="0" u="none" strike="noStrike">
                <a:solidFill>
                  <a:srgbClr val="21295C"/>
                </a:solidFill>
                <a:latin typeface="Calibri"/>
              </a:rPr>
              <a:t>Top Products by Sales ($M)</a:t>
            </a:r>
          </a:p>
        </c:rich>
      </c:tx>
      <c:overlay val="0"/>
    </c:title>
    <c:autoTitleDeleted val="0"/>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6B79"/>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1295C"/>
                </a:solidFill>
                <a:latin typeface="Calibri"/>
              </a:defRPr>
            </a:pPr>
            <a:r>
              <a:rPr lang="en-US" sz="1300" b="0" i="0" u="none" strike="noStrike">
                <a:solidFill>
                  <a:srgbClr val="21295C"/>
                </a:solidFill>
                <a:latin typeface="Calibri"/>
              </a:rPr>
              <a:t>Sales by Gender (%)</a:t>
            </a:r>
          </a:p>
        </c:rich>
      </c:tx>
      <c:overlay val="0"/>
    </c:title>
    <c:autoTitleDeleted val="0"/>
    <c:plotArea>
      <c:layout/>
      <c:doughnutChart>
        <c:varyColors val="1"/>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solidFill>
                <a:srgbClr val="5B6B79"/>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[New_Book1_Binal.xlsx]Charts 2!PivotTable10</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rPr>
              <a:t>Total 10 Products by Sales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1E276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1E276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1E276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'Charts 2'!$B$22</c:f>
              <c:strCache>
                <c:ptCount val="1"/>
                <c:pt idx="0">
                  <c:v>Total</c:v>
                </c:pt>
              </c:strCache>
            </c:strRef>
          </c:tx>
          <c:spPr>
            <a:solidFill>
              <a:srgbClr val="1E276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'Charts 2'!$A$23:$A$33</c:f>
              <c:strCache>
                <c:ptCount val="10"/>
                <c:pt idx="0">
                  <c:v>Road-150 Red, 56</c:v>
                </c:pt>
                <c:pt idx="1">
                  <c:v>Road-150 Red, 52</c:v>
                </c:pt>
                <c:pt idx="2">
                  <c:v>Road-150 Red, 62</c:v>
                </c:pt>
                <c:pt idx="3">
                  <c:v>Road-150 Red, 48</c:v>
                </c:pt>
                <c:pt idx="4">
                  <c:v>Mountain-200 Silver, 42</c:v>
                </c:pt>
                <c:pt idx="5">
                  <c:v>Mountain-200 Black, 38</c:v>
                </c:pt>
                <c:pt idx="6">
                  <c:v>Mountain-200 Silver, 46</c:v>
                </c:pt>
                <c:pt idx="7">
                  <c:v>Mountain-200 Silver, 38</c:v>
                </c:pt>
                <c:pt idx="8">
                  <c:v>Mountain-200 Black, 42</c:v>
                </c:pt>
                <c:pt idx="9">
                  <c:v>Mountain-200 Black, 46</c:v>
                </c:pt>
              </c:strCache>
            </c:strRef>
          </c:cat>
          <c:val>
            <c:numRef>
              <c:f>'Charts 2'!$B$23:$B$33</c:f>
              <c:numCache>
                <c:formatCode>0.00,,"M"</c:formatCode>
                <c:ptCount val="10"/>
                <c:pt idx="0">
                  <c:v>1055589.6500000036</c:v>
                </c:pt>
                <c:pt idx="1">
                  <c:v>1080637.5400000038</c:v>
                </c:pt>
                <c:pt idx="2">
                  <c:v>1202298.7200000044</c:v>
                </c:pt>
                <c:pt idx="3">
                  <c:v>1205876.9900000044</c:v>
                </c:pt>
                <c:pt idx="4">
                  <c:v>1257434.5727999893</c:v>
                </c:pt>
                <c:pt idx="5">
                  <c:v>1294866.1411999841</c:v>
                </c:pt>
                <c:pt idx="6">
                  <c:v>1301100.098399987</c:v>
                </c:pt>
                <c:pt idx="7">
                  <c:v>1339462.7903999845</c:v>
                </c:pt>
                <c:pt idx="8">
                  <c:v>1363142.0933999803</c:v>
                </c:pt>
                <c:pt idx="9">
                  <c:v>1373469.5481999798</c:v>
                </c:pt>
              </c:numCache>
            </c:numRef>
          </c:val>
          <c:extLst>
            <c:ext xmlns:c16="http://schemas.microsoft.com/office/drawing/2014/chart" uri="{C3380CC4-5D6E-409C-BE32-E72D297353CC}">
              <c16:uniqueId val="{00000000-15E9-412E-B698-6F52B5A22FB4}"/>
            </c:ext>
          </c:extLst>
        </c:ser>
        <c:dLbls>
          <c:dLblPos val="outEnd"/>
          <c:showLegendKey val="0"/>
          <c:showVal val="1"/>
          <c:showCatName val="0"/>
          <c:showSerName val="0"/>
          <c:showPercent val="0"/>
          <c:showBubbleSize val="0"/>
        </c:dLbls>
        <c:gapWidth val="182"/>
        <c:axId val="2060138096"/>
        <c:axId val="782283183"/>
      </c:barChart>
      <c:catAx>
        <c:axId val="206013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782283183"/>
        <c:crosses val="autoZero"/>
        <c:auto val="1"/>
        <c:lblAlgn val="ctr"/>
        <c:lblOffset val="100"/>
        <c:noMultiLvlLbl val="0"/>
      </c:catAx>
      <c:valAx>
        <c:axId val="782283183"/>
        <c:scaling>
          <c:orientation val="minMax"/>
        </c:scaling>
        <c:delete val="0"/>
        <c:axPos val="b"/>
        <c:numFmt formatCode="0.00,,&quot;M&quot;"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6013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[New_Book1_Binal.xlsx]Charts 2!PivotTable7</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1" i="0" u="none" strike="noStrike" baseline="0">
                <a:solidFill>
                  <a:schemeClr val="tx1"/>
                </a:solidFill>
              </a:rPr>
              <a:t>Sales Distribution by Gender</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1E276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1"/>
        <c:spPr>
          <a:solidFill>
            <a:srgbClr val="1E2761"/>
          </a:solidFill>
          <a:ln w="19050">
            <a:solidFill>
              <a:schemeClr val="lt1"/>
            </a:solidFill>
          </a:ln>
          <a:effectLst/>
        </c:spPr>
        <c:dLbl>
          <c:idx val="0"/>
          <c:layout>
            <c:manualLayout>
              <c:x val="0.18055555555555555"/>
              <c:y val="-0.14814814814814814"/>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2"/>
        <c:spPr>
          <a:solidFill>
            <a:srgbClr val="1E2761"/>
          </a:solidFill>
          <a:ln w="19050">
            <a:solidFill>
              <a:schemeClr val="lt1"/>
            </a:solidFill>
          </a:ln>
          <a:effectLst/>
        </c:spPr>
        <c:dLbl>
          <c:idx val="0"/>
          <c:layout>
            <c:manualLayout>
              <c:x val="-0.12777777777777777"/>
              <c:y val="-4.1666666666666664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3"/>
        <c:spPr>
          <a:solidFill>
            <a:srgbClr val="1E276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4"/>
        <c:spPr>
          <a:solidFill>
            <a:srgbClr val="1E2761"/>
          </a:solidFill>
          <a:ln w="19050">
            <a:solidFill>
              <a:schemeClr val="lt1"/>
            </a:solidFill>
          </a:ln>
          <a:effectLst/>
        </c:spPr>
        <c:dLbl>
          <c:idx val="0"/>
          <c:layout>
            <c:manualLayout>
              <c:x val="0.18055555555555555"/>
              <c:y val="-0.14814814814814814"/>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5"/>
        <c:spPr>
          <a:solidFill>
            <a:srgbClr val="1E2761"/>
          </a:solidFill>
          <a:ln w="19050">
            <a:solidFill>
              <a:schemeClr val="lt1"/>
            </a:solidFill>
          </a:ln>
          <a:effectLst/>
        </c:spPr>
        <c:dLbl>
          <c:idx val="0"/>
          <c:layout>
            <c:manualLayout>
              <c:x val="-0.12777777777777777"/>
              <c:y val="-4.1666666666666664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6"/>
        <c:spPr>
          <a:solidFill>
            <a:srgbClr val="1E276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7"/>
        <c:spPr>
          <a:solidFill>
            <a:srgbClr val="1E2761"/>
          </a:solidFill>
          <a:ln w="19050">
            <a:solidFill>
              <a:schemeClr val="lt1"/>
            </a:solidFill>
          </a:ln>
          <a:effectLst/>
        </c:spPr>
        <c:dLbl>
          <c:idx val="0"/>
          <c:layout>
            <c:manualLayout>
              <c:x val="0.18055555555555555"/>
              <c:y val="-0.14814814814814814"/>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8"/>
        <c:spPr>
          <a:solidFill>
            <a:srgbClr val="1E2761"/>
          </a:solidFill>
          <a:ln w="19050">
            <a:solidFill>
              <a:schemeClr val="lt1"/>
            </a:solidFill>
          </a:ln>
          <a:effectLst/>
        </c:spPr>
        <c:dLbl>
          <c:idx val="0"/>
          <c:layout>
            <c:manualLayout>
              <c:x val="-0.12777777777777777"/>
              <c:y val="-4.1666666666666664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s>
    <c:plotArea>
      <c:layout/>
      <c:doughnutChart>
        <c:varyColors val="1"/>
        <c:ser>
          <c:idx val="0"/>
          <c:order val="0"/>
          <c:tx>
            <c:strRef>
              <c:f>'Charts 2'!$B$38</c:f>
              <c:strCache>
                <c:ptCount val="1"/>
                <c:pt idx="0">
                  <c:v>Total</c:v>
                </c:pt>
              </c:strCache>
            </c:strRef>
          </c:tx>
          <c:dPt>
            <c:idx val="0"/>
            <c:bubble3D val="0"/>
            <c:spPr>
              <a:solidFill>
                <a:srgbClr val="1E2761"/>
              </a:solidFill>
              <a:ln w="19050">
                <a:solidFill>
                  <a:schemeClr val="lt1"/>
                </a:solidFill>
              </a:ln>
              <a:effectLst/>
            </c:spPr>
            <c:extLst>
              <c:ext xmlns:c16="http://schemas.microsoft.com/office/drawing/2014/chart" uri="{C3380CC4-5D6E-409C-BE32-E72D297353CC}">
                <c16:uniqueId val="{00000001-0CE3-40D5-A920-5D11BAB6C07B}"/>
              </c:ext>
            </c:extLst>
          </c:dPt>
          <c:dPt>
            <c:idx val="1"/>
            <c:bubble3D val="0"/>
            <c:spPr>
              <a:solidFill>
                <a:srgbClr val="2FC8B7"/>
              </a:solidFill>
              <a:ln w="19050">
                <a:solidFill>
                  <a:schemeClr val="lt1"/>
                </a:solidFill>
              </a:ln>
              <a:effectLst/>
            </c:spPr>
            <c:extLst>
              <c:ext xmlns:c16="http://schemas.microsoft.com/office/drawing/2014/chart" uri="{C3380CC4-5D6E-409C-BE32-E72D297353CC}">
                <c16:uniqueId val="{00000003-0CE3-40D5-A920-5D11BAB6C07B}"/>
              </c:ext>
            </c:extLst>
          </c:dPt>
          <c:dLbls>
            <c:dLbl>
              <c:idx val="0"/>
              <c:layout>
                <c:manualLayout>
                  <c:x val="0.18055555555555555"/>
                  <c:y val="-0.14814814814814814"/>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CE3-40D5-A920-5D11BAB6C07B}"/>
                </c:ext>
              </c:extLst>
            </c:dLbl>
            <c:dLbl>
              <c:idx val="1"/>
              <c:layout>
                <c:manualLayout>
                  <c:x val="-0.12777777777777777"/>
                  <c:y val="-4.1666666666666664E-2"/>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CE3-40D5-A920-5D11BAB6C07B}"/>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'Charts 2'!$A$39:$A$41</c:f>
              <c:strCache>
                <c:ptCount val="2"/>
                <c:pt idx="0">
                  <c:v>F</c:v>
                </c:pt>
                <c:pt idx="1">
                  <c:v>M</c:v>
                </c:pt>
              </c:strCache>
            </c:strRef>
          </c:cat>
          <c:val>
            <c:numRef>
              <c:f>'Charts 2'!$B$39:$B$41</c:f>
              <c:numCache>
                <c:formatCode>0.00,,"M"</c:formatCode>
                <c:ptCount val="2"/>
                <c:pt idx="0">
                  <c:v>14813618.675203761</c:v>
                </c:pt>
                <c:pt idx="1">
                  <c:v>14545058.545503844</c:v>
                </c:pt>
              </c:numCache>
            </c:numRef>
          </c:val>
          <c:extLst>
            <c:ext xmlns:c16="http://schemas.microsoft.com/office/drawing/2014/chart" uri="{C3380CC4-5D6E-409C-BE32-E72D297353CC}">
              <c16:uniqueId val="{00000004-0CE3-40D5-A920-5D11BAB6C07B}"/>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rgbClr val="1E276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[New_Book1_Binal.xlsx]Charts!PivotTable5</c:name>
    <c:fmtId val="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ysClr val="windowText" lastClr="000000"/>
                </a:solidFill>
                <a:latin typeface="Arial Black" panose="020B0A04020102020204" pitchFamily="34" charset="0"/>
              </a:rPr>
              <a:t>Month</a:t>
            </a:r>
            <a:r>
              <a:rPr lang="en-US" b="1" baseline="0">
                <a:solidFill>
                  <a:sysClr val="windowText" lastClr="000000"/>
                </a:solidFill>
                <a:latin typeface="Arial Black" panose="020B0A04020102020204" pitchFamily="34" charset="0"/>
              </a:rPr>
              <a:t>-wise Sales</a:t>
            </a:r>
          </a:p>
          <a:p>
            <a:pPr>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1E2761"/>
          </a:solidFill>
          <a:ln>
            <a:noFill/>
          </a:ln>
          <a:effectLst/>
        </c:spPr>
        <c:marker>
          <c:symbol val="diamond"/>
          <c:size val="5"/>
          <c:spPr>
            <a:solidFill>
              <a:srgbClr val="1E2761"/>
            </a:solidFill>
            <a:ln w="9525">
              <a:solidFill>
                <a:srgbClr val="1E276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1E2761"/>
          </a:solidFill>
          <a:ln>
            <a:noFill/>
          </a:ln>
          <a:effectLst/>
        </c:spPr>
        <c:marker>
          <c:symbol val="diamond"/>
          <c:size val="5"/>
          <c:spPr>
            <a:solidFill>
              <a:srgbClr val="1E2761"/>
            </a:solidFill>
            <a:ln w="9525">
              <a:solidFill>
                <a:srgbClr val="1E276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1E2761"/>
          </a:solidFill>
          <a:ln>
            <a:noFill/>
          </a:ln>
          <a:effectLst/>
        </c:spPr>
        <c:marker>
          <c:symbol val="diamond"/>
          <c:size val="5"/>
          <c:spPr>
            <a:solidFill>
              <a:srgbClr val="1E2761"/>
            </a:solidFill>
            <a:ln w="9525">
              <a:solidFill>
                <a:srgbClr val="1E276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Charts!$J$1</c:f>
              <c:strCache>
                <c:ptCount val="1"/>
                <c:pt idx="0">
                  <c:v>Total</c:v>
                </c:pt>
              </c:strCache>
            </c:strRef>
          </c:tx>
          <c:spPr>
            <a:ln w="28575" cap="rnd">
              <a:solidFill>
                <a:srgbClr val="1E2761"/>
              </a:solidFill>
              <a:round/>
            </a:ln>
            <a:effectLst/>
          </c:spPr>
          <c:marker>
            <c:symbol val="diamond"/>
            <c:size val="5"/>
            <c:spPr>
              <a:solidFill>
                <a:srgbClr val="1E2761"/>
              </a:solidFill>
              <a:ln w="9525">
                <a:solidFill>
                  <a:srgbClr val="1E276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Charts!$I$2:$I$14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Charts!$J$2:$J$14</c:f>
              <c:numCache>
                <c:formatCode>0.00,,"M"</c:formatCode>
                <c:ptCount val="12"/>
                <c:pt idx="0">
                  <c:v>1868572.6708999884</c:v>
                </c:pt>
                <c:pt idx="1">
                  <c:v>1744677.8305999762</c:v>
                </c:pt>
                <c:pt idx="2">
                  <c:v>1908589.0547999695</c:v>
                </c:pt>
                <c:pt idx="3">
                  <c:v>1948432.2302999671</c:v>
                </c:pt>
                <c:pt idx="4">
                  <c:v>2205152.2964999741</c:v>
                </c:pt>
                <c:pt idx="5">
                  <c:v>2936177.7441999791</c:v>
                </c:pt>
                <c:pt idx="6">
                  <c:v>2412980.5948999715</c:v>
                </c:pt>
                <c:pt idx="7">
                  <c:v>2689540.8764999704</c:v>
                </c:pt>
                <c:pt idx="8">
                  <c:v>2536756.6377999731</c:v>
                </c:pt>
                <c:pt idx="9">
                  <c:v>2916660.8977999794</c:v>
                </c:pt>
                <c:pt idx="10">
                  <c:v>2979421.3901999854</c:v>
                </c:pt>
                <c:pt idx="11">
                  <c:v>3211714.9961999985</c:v>
                </c:pt>
              </c:numCache>
            </c:numRef>
          </c:val>
          <c:smooth val="0"/>
          <c:extLst>
            <c:ext xmlns:c16="http://schemas.microsoft.com/office/drawing/2014/chart" uri="{C3380CC4-5D6E-409C-BE32-E72D297353CC}">
              <c16:uniqueId val="{00000000-3BCD-43EF-A95D-974126EE05DF}"/>
            </c:ext>
          </c:extLst>
        </c:ser>
        <c:dLbls>
          <c:dLblPos val="t"/>
          <c:showLegendKey val="0"/>
          <c:showVal val="1"/>
          <c:showCatName val="0"/>
          <c:showSerName val="0"/>
          <c:showPercent val="0"/>
          <c:showBubbleSize val="0"/>
        </c:dLbls>
        <c:marker val="1"/>
        <c:smooth val="0"/>
        <c:axId val="2060142736"/>
        <c:axId val="355296431"/>
      </c:lineChart>
      <c:catAx>
        <c:axId val="2060142736"/>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Arial" panose="020B0604020202020204" pitchFamily="34" charset="0"/>
                    <a:ea typeface="+mn-ea"/>
                    <a:cs typeface="Arial" panose="020B0604020202020204" pitchFamily="34" charset="0"/>
                  </a:defRPr>
                </a:pPr>
                <a:r>
                  <a:rPr lang="en-IN" b="1">
                    <a:solidFill>
                      <a:schemeClr val="tx1"/>
                    </a:solidFill>
                    <a:latin typeface="Arial" panose="020B0604020202020204" pitchFamily="34" charset="0"/>
                    <a:cs typeface="Arial" panose="020B0604020202020204" pitchFamily="34" charset="0"/>
                  </a:rPr>
                  <a:t>Month</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355296431"/>
        <c:crosses val="autoZero"/>
        <c:auto val="1"/>
        <c:lblAlgn val="ctr"/>
        <c:lblOffset val="100"/>
        <c:noMultiLvlLbl val="0"/>
      </c:catAx>
      <c:valAx>
        <c:axId val="355296431"/>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solidFill>
                    <a:latin typeface="Arial" panose="020B0604020202020204" pitchFamily="34" charset="0"/>
                    <a:ea typeface="+mn-ea"/>
                    <a:cs typeface="Arial" panose="020B0604020202020204" pitchFamily="34" charset="0"/>
                  </a:defRPr>
                </a:pPr>
                <a:r>
                  <a:rPr lang="en-IN" b="1">
                    <a:solidFill>
                      <a:schemeClr val="tx1"/>
                    </a:solidFill>
                    <a:latin typeface="Arial" panose="020B0604020202020204" pitchFamily="34" charset="0"/>
                    <a:cs typeface="Arial" panose="020B0604020202020204" pitchFamily="34" charset="0"/>
                  </a:rPr>
                  <a:t>Sales Amount</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00,,&quot;M&quot;"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601427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rgbClr val="1E276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[New_Book1_Binal.xlsx]Charts 2!PivotTable9</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latin typeface="Arial" panose="020B0604020202020204" pitchFamily="34" charset="0"/>
                <a:cs typeface="Arial" panose="020B0604020202020204" pitchFamily="34" charset="0"/>
              </a:rPr>
              <a:t>Region</a:t>
            </a:r>
            <a:r>
              <a:rPr lang="en-US" b="1" baseline="0">
                <a:solidFill>
                  <a:schemeClr val="tx1"/>
                </a:solidFill>
                <a:latin typeface="Arial" panose="020B0604020202020204" pitchFamily="34" charset="0"/>
                <a:cs typeface="Arial" panose="020B0604020202020204" pitchFamily="34" charset="0"/>
              </a:rPr>
              <a:t>-wise Profit</a:t>
            </a:r>
            <a:endParaRPr lang="en-US" b="1">
              <a:solidFill>
                <a:schemeClr val="tx1"/>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1E2761"/>
          </a:solidFill>
          <a:ln>
            <a:noFill/>
          </a:ln>
          <a:effectLst/>
        </c:spPr>
        <c:marker>
          <c:symbol val="none"/>
        </c:marker>
        <c:dLbl>
          <c:idx val="0"/>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1E2761"/>
          </a:solidFill>
          <a:ln>
            <a:noFill/>
          </a:ln>
          <a:effectLst/>
        </c:spPr>
        <c:marker>
          <c:symbol val="none"/>
        </c:marker>
        <c:dLbl>
          <c:idx val="0"/>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1E2761"/>
          </a:solidFill>
          <a:ln>
            <a:noFill/>
          </a:ln>
          <a:effectLst/>
        </c:spPr>
        <c:marker>
          <c:symbol val="none"/>
        </c:marker>
        <c:dLbl>
          <c:idx val="0"/>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'Charts 2'!$B$47</c:f>
              <c:strCache>
                <c:ptCount val="1"/>
                <c:pt idx="0">
                  <c:v>Total</c:v>
                </c:pt>
              </c:strCache>
            </c:strRef>
          </c:tx>
          <c:spPr>
            <a:solidFill>
              <a:srgbClr val="1E2761"/>
            </a:solidFill>
            <a:ln>
              <a:noFill/>
            </a:ln>
            <a:effectLst/>
          </c:spPr>
          <c:invertIfNegative val="0"/>
          <c:dLbls>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'Charts 2'!$A$48:$A$51</c:f>
              <c:strCache>
                <c:ptCount val="3"/>
                <c:pt idx="0">
                  <c:v>North America</c:v>
                </c:pt>
                <c:pt idx="1">
                  <c:v>Pacific</c:v>
                </c:pt>
                <c:pt idx="2">
                  <c:v>Europe</c:v>
                </c:pt>
              </c:strCache>
            </c:strRef>
          </c:cat>
          <c:val>
            <c:numRef>
              <c:f>'Charts 2'!$B$48:$B$51</c:f>
              <c:numCache>
                <c:formatCode>0.00,,"M"</c:formatCode>
                <c:ptCount val="3"/>
                <c:pt idx="0">
                  <c:v>4730902.303900145</c:v>
                </c:pt>
                <c:pt idx="1">
                  <c:v>3685855.076300079</c:v>
                </c:pt>
                <c:pt idx="2">
                  <c:v>3664126.2648000736</c:v>
                </c:pt>
              </c:numCache>
            </c:numRef>
          </c:val>
          <c:extLst>
            <c:ext xmlns:c16="http://schemas.microsoft.com/office/drawing/2014/chart" uri="{C3380CC4-5D6E-409C-BE32-E72D297353CC}">
              <c16:uniqueId val="{00000000-FCDD-426E-9EDE-D9FCFEA25065}"/>
            </c:ext>
          </c:extLst>
        </c:ser>
        <c:dLbls>
          <c:dLblPos val="outEnd"/>
          <c:showLegendKey val="0"/>
          <c:showVal val="1"/>
          <c:showCatName val="0"/>
          <c:showSerName val="0"/>
          <c:showPercent val="0"/>
          <c:showBubbleSize val="0"/>
        </c:dLbls>
        <c:gapWidth val="219"/>
        <c:overlap val="-27"/>
        <c:axId val="1030542816"/>
        <c:axId val="1273785040"/>
      </c:barChart>
      <c:catAx>
        <c:axId val="1030542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273785040"/>
        <c:crosses val="autoZero"/>
        <c:auto val="1"/>
        <c:lblAlgn val="ctr"/>
        <c:lblOffset val="100"/>
        <c:noMultiLvlLbl val="0"/>
      </c:catAx>
      <c:valAx>
        <c:axId val="1273785040"/>
        <c:scaling>
          <c:orientation val="minMax"/>
        </c:scaling>
        <c:delete val="0"/>
        <c:axPos val="l"/>
        <c:numFmt formatCode="0.00,,&quot;M&quot;"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305428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rgbClr val="1E276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1">
  <a:schemeClr val="accent1"/>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100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44DBE-5B86-1AE8-320F-4B119042F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54776-3DA5-75E3-BCAA-3CCB6D255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4FC70-7A87-AC32-2F50-4216B222EC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A0024F-EA79-7D0D-6FFD-E394992F49E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52599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065A82">
              <a:alpha val="45000"/>
            </a:srgbClr>
          </a:solidFill>
          <a:ln/>
        </p:spPr>
      </p:sp>
      <p:sp>
        <p:nvSpPr>
          <p:cNvPr id="3" name="Shape 1"/>
          <p:cNvSpPr/>
          <p:nvPr/>
        </p:nvSpPr>
        <p:spPr>
          <a:xfrm>
            <a:off x="10789920" y="4297680"/>
            <a:ext cx="2926080" cy="2926080"/>
          </a:xfrm>
          <a:prstGeom prst="ellipse">
            <a:avLst/>
          </a:prstGeom>
          <a:solidFill>
            <a:srgbClr val="1C7293">
              <a:alpha val="40000"/>
            </a:srgbClr>
          </a:solidFill>
          <a:ln/>
        </p:spPr>
      </p:sp>
      <p:sp>
        <p:nvSpPr>
          <p:cNvPr id="4" name="Shape 2"/>
          <p:cNvSpPr/>
          <p:nvPr/>
        </p:nvSpPr>
        <p:spPr>
          <a:xfrm>
            <a:off x="-1097280" y="4937760"/>
            <a:ext cx="2743200" cy="2743200"/>
          </a:xfrm>
          <a:prstGeom prst="ellipse">
            <a:avLst/>
          </a:prstGeom>
          <a:solidFill>
            <a:srgbClr val="1C7293">
              <a:alpha val="35000"/>
            </a:srgbClr>
          </a:solidFill>
          <a:ln/>
        </p:spPr>
      </p:sp>
      <p:sp>
        <p:nvSpPr>
          <p:cNvPr id="5" name="Text 3"/>
          <p:cNvSpPr/>
          <p:nvPr/>
        </p:nvSpPr>
        <p:spPr>
          <a:xfrm>
            <a:off x="822960" y="1965960"/>
            <a:ext cx="8229600" cy="457200"/>
          </a:xfrm>
          <a:prstGeom prst="rect">
            <a:avLst/>
          </a:prstGeom>
          <a:noFill/>
          <a:ln/>
        </p:spPr>
        <p:txBody>
          <a:bodyPr wrap="square" rtlCol="0" anchor="ctr"/>
          <a:lstStyle/>
          <a:p>
            <a:pPr marL="0" indent="0">
              <a:buNone/>
            </a:pPr>
            <a:r>
              <a:rPr lang="en-US" sz="1400" b="1" kern="0" spc="400" dirty="0">
                <a:solidFill>
                  <a:srgbClr val="2FC8B7"/>
                </a:solidFill>
                <a:latin typeface="Georgia" panose="02040502050405020303" pitchFamily="18" charset="0"/>
                <a:ea typeface="Calibri" pitchFamily="34" charset="-122"/>
                <a:cs typeface="Calibri" pitchFamily="34" charset="-120"/>
              </a:rPr>
              <a:t>SALES ANALYTICS</a:t>
            </a:r>
            <a:endParaRPr lang="en-US" sz="1400" dirty="0">
              <a:latin typeface="Georgia" panose="02040502050405020303" pitchFamily="18" charset="0"/>
            </a:endParaRPr>
          </a:p>
        </p:txBody>
      </p:sp>
      <p:sp>
        <p:nvSpPr>
          <p:cNvPr id="6" name="Text 4"/>
          <p:cNvSpPr/>
          <p:nvPr/>
        </p:nvSpPr>
        <p:spPr>
          <a:xfrm>
            <a:off x="777240" y="2331720"/>
            <a:ext cx="9601200" cy="1280160"/>
          </a:xfrm>
          <a:prstGeom prst="rect">
            <a:avLst/>
          </a:prstGeom>
          <a:noFill/>
          <a:ln/>
        </p:spPr>
        <p:txBody>
          <a:bodyPr wrap="square" rtlCol="0" anchor="ctr"/>
          <a:lstStyle/>
          <a:p>
            <a:pPr marL="0" indent="0">
              <a:buNone/>
            </a:pPr>
            <a:r>
              <a:rPr lang="en-US" sz="5400" b="1" dirty="0">
                <a:solidFill>
                  <a:srgbClr val="FFFFFF"/>
                </a:solidFill>
                <a:latin typeface="Georgia" panose="02040502050405020303" pitchFamily="18" charset="0"/>
                <a:ea typeface="Cambria" pitchFamily="34" charset="-122"/>
                <a:cs typeface="Cambria" pitchFamily="34" charset="-120"/>
              </a:rPr>
              <a:t>Adventure Works</a:t>
            </a:r>
            <a:endParaRPr lang="en-US" sz="5400" dirty="0">
              <a:latin typeface="Georgia" panose="02040502050405020303" pitchFamily="18" charset="0"/>
            </a:endParaRPr>
          </a:p>
        </p:txBody>
      </p:sp>
      <p:sp>
        <p:nvSpPr>
          <p:cNvPr id="7" name="Text 5"/>
          <p:cNvSpPr/>
          <p:nvPr/>
        </p:nvSpPr>
        <p:spPr>
          <a:xfrm>
            <a:off x="822960" y="3520440"/>
            <a:ext cx="8686800" cy="548640"/>
          </a:xfrm>
          <a:prstGeom prst="rect">
            <a:avLst/>
          </a:prstGeom>
          <a:noFill/>
          <a:ln/>
        </p:spPr>
        <p:txBody>
          <a:bodyPr wrap="square" rtlCol="0" anchor="ctr"/>
          <a:lstStyle/>
          <a:p>
            <a:pPr marL="0" indent="0">
              <a:buNone/>
            </a:pPr>
            <a:r>
              <a:rPr lang="en-US" sz="1800" dirty="0">
                <a:solidFill>
                  <a:srgbClr val="CADCFC"/>
                </a:solidFill>
                <a:latin typeface="Georgia" panose="02040502050405020303" pitchFamily="18" charset="0"/>
                <a:ea typeface="Calibri" pitchFamily="34" charset="-122"/>
                <a:cs typeface="Calibri" pitchFamily="34" charset="-120"/>
              </a:rPr>
              <a:t>End-to-End Sales Analytics using SQL, Excel, Tableau &amp; Power BI</a:t>
            </a:r>
            <a:endParaRPr lang="en-US" sz="1800" dirty="0">
              <a:latin typeface="Georgia" panose="02040502050405020303" pitchFamily="18" charset="0"/>
            </a:endParaRPr>
          </a:p>
        </p:txBody>
      </p:sp>
      <p:sp>
        <p:nvSpPr>
          <p:cNvPr id="8" name="Shape 6"/>
          <p:cNvSpPr/>
          <p:nvPr/>
        </p:nvSpPr>
        <p:spPr>
          <a:xfrm>
            <a:off x="822960" y="4160520"/>
            <a:ext cx="1280160" cy="0"/>
          </a:xfrm>
          <a:prstGeom prst="line">
            <a:avLst/>
          </a:prstGeom>
          <a:noFill/>
          <a:ln w="38100">
            <a:solidFill>
              <a:srgbClr val="2FC8B7"/>
            </a:solidFill>
            <a:prstDash val="solid"/>
          </a:ln>
        </p:spPr>
      </p:sp>
      <p:sp>
        <p:nvSpPr>
          <p:cNvPr id="9" name="Text 7"/>
          <p:cNvSpPr/>
          <p:nvPr/>
        </p:nvSpPr>
        <p:spPr>
          <a:xfrm>
            <a:off x="822960" y="5989320"/>
            <a:ext cx="7315200" cy="365760"/>
          </a:xfrm>
          <a:prstGeom prst="rect">
            <a:avLst/>
          </a:prstGeom>
          <a:noFill/>
          <a:ln/>
        </p:spPr>
        <p:txBody>
          <a:bodyPr wrap="square" rtlCol="0" anchor="ctr"/>
          <a:lstStyle/>
          <a:p>
            <a:r>
              <a:rPr lang="en-US" sz="1200" i="1" dirty="0">
                <a:solidFill>
                  <a:srgbClr val="9FB3C8"/>
                </a:solidFill>
                <a:latin typeface="Georgia" panose="02040502050405020303" pitchFamily="18" charset="0"/>
                <a:ea typeface="Calibri" pitchFamily="34" charset="-122"/>
                <a:cs typeface="Calibri" pitchFamily="34" charset="-120"/>
              </a:rPr>
              <a:t>Adventure Works Internet Sales : </a:t>
            </a:r>
            <a:r>
              <a:rPr lang="en-US" sz="1200" dirty="0">
                <a:solidFill>
                  <a:srgbClr val="CADCFC"/>
                </a:solidFill>
                <a:latin typeface="Georgia" panose="02040502050405020303" pitchFamily="18" charset="0"/>
                <a:ea typeface="Calibri" pitchFamily="34" charset="-122"/>
                <a:cs typeface="Calibri" pitchFamily="34" charset="-120"/>
              </a:rPr>
              <a:t> Aruna Jyothi Hegade</a:t>
            </a:r>
            <a:endParaRPr lang="en-US" sz="1200" dirty="0">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F4F7F9"/>
          </a:solidFill>
          <a:ln/>
        </p:spPr>
      </p:sp>
      <p:sp>
        <p:nvSpPr>
          <p:cNvPr id="3" name="Shape 1"/>
          <p:cNvSpPr/>
          <p:nvPr/>
        </p:nvSpPr>
        <p:spPr>
          <a:xfrm>
            <a:off x="0" y="0"/>
            <a:ext cx="3931920" cy="6858000"/>
          </a:xfrm>
          <a:prstGeom prst="rect">
            <a:avLst/>
          </a:prstGeom>
          <a:solidFill>
            <a:srgbClr val="065A82">
              <a:alpha val="8000"/>
            </a:srgbClr>
          </a:solidFill>
          <a:ln/>
        </p:spPr>
      </p:sp>
      <p:sp>
        <p:nvSpPr>
          <p:cNvPr id="4" name="Text 2"/>
          <p:cNvSpPr/>
          <p:nvPr/>
        </p:nvSpPr>
        <p:spPr>
          <a:xfrm>
            <a:off x="548640" y="457200"/>
            <a:ext cx="4033520" cy="640080"/>
          </a:xfrm>
          <a:prstGeom prst="rect">
            <a:avLst/>
          </a:prstGeom>
          <a:noFill/>
          <a:ln/>
        </p:spPr>
        <p:txBody>
          <a:bodyPr wrap="square" rtlCol="0" anchor="ctr"/>
          <a:lstStyle/>
          <a:p>
            <a:pPr marL="0" indent="0">
              <a:buNone/>
            </a:pPr>
            <a:r>
              <a:rPr lang="en-US" sz="3400" b="1" dirty="0">
                <a:solidFill>
                  <a:srgbClr val="21295C"/>
                </a:solidFill>
                <a:latin typeface="Georgia" panose="02040502050405020303" pitchFamily="18" charset="0"/>
                <a:ea typeface="Cambria" pitchFamily="34" charset="-122"/>
                <a:cs typeface="Cambria" pitchFamily="34" charset="-120"/>
              </a:rPr>
              <a:t>Project Overview</a:t>
            </a:r>
            <a:endParaRPr lang="en-US" sz="3400" dirty="0">
              <a:latin typeface="Georgia" panose="02040502050405020303" pitchFamily="18" charset="0"/>
            </a:endParaRPr>
          </a:p>
        </p:txBody>
      </p:sp>
      <p:sp>
        <p:nvSpPr>
          <p:cNvPr id="5" name="Shape 3"/>
          <p:cNvSpPr/>
          <p:nvPr/>
        </p:nvSpPr>
        <p:spPr>
          <a:xfrm>
            <a:off x="640080" y="1463040"/>
            <a:ext cx="822960" cy="822960"/>
          </a:xfrm>
          <a:prstGeom prst="ellipse">
            <a:avLst/>
          </a:prstGeom>
          <a:solidFill>
            <a:srgbClr val="21295C"/>
          </a:solidFill>
          <a:ln/>
        </p:spPr>
      </p:sp>
      <p:sp>
        <p:nvSpPr>
          <p:cNvPr id="6" name="Text 4"/>
          <p:cNvSpPr/>
          <p:nvPr/>
        </p:nvSpPr>
        <p:spPr>
          <a:xfrm>
            <a:off x="640080" y="1463040"/>
            <a:ext cx="822960" cy="82296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Calibri" pitchFamily="34" charset="-122"/>
                <a:cs typeface="Calibri" pitchFamily="34" charset="-120"/>
              </a:rPr>
              <a:t>AW</a:t>
            </a:r>
            <a:endParaRPr lang="en-US" sz="2000" dirty="0">
              <a:latin typeface="Georgia" panose="02040502050405020303" pitchFamily="18" charset="0"/>
            </a:endParaRPr>
          </a:p>
        </p:txBody>
      </p:sp>
      <p:sp>
        <p:nvSpPr>
          <p:cNvPr id="7" name="Text 5"/>
          <p:cNvSpPr/>
          <p:nvPr/>
        </p:nvSpPr>
        <p:spPr>
          <a:xfrm>
            <a:off x="365760" y="2514600"/>
            <a:ext cx="3200400" cy="548640"/>
          </a:xfrm>
          <a:prstGeom prst="rect">
            <a:avLst/>
          </a:prstGeom>
          <a:noFill/>
          <a:ln/>
        </p:spPr>
        <p:txBody>
          <a:bodyPr wrap="square" rtlCol="0" anchor="ctr"/>
          <a:lstStyle/>
          <a:p>
            <a:pPr marL="0" indent="0" algn="ctr">
              <a:buNone/>
            </a:pPr>
            <a:r>
              <a:rPr lang="en-US" sz="3000" b="1" dirty="0">
                <a:solidFill>
                  <a:srgbClr val="065A82"/>
                </a:solidFill>
                <a:latin typeface="Georgia" panose="02040502050405020303" pitchFamily="18" charset="0"/>
                <a:ea typeface="Cambria" pitchFamily="34" charset="-122"/>
                <a:cs typeface="Cambria" pitchFamily="34" charset="-120"/>
              </a:rPr>
              <a:t>2010–2014</a:t>
            </a:r>
            <a:endParaRPr lang="en-US" sz="3000" dirty="0">
              <a:latin typeface="Georgia" panose="02040502050405020303" pitchFamily="18" charset="0"/>
            </a:endParaRPr>
          </a:p>
        </p:txBody>
      </p:sp>
      <p:sp>
        <p:nvSpPr>
          <p:cNvPr id="8" name="Text 6"/>
          <p:cNvSpPr/>
          <p:nvPr/>
        </p:nvSpPr>
        <p:spPr>
          <a:xfrm>
            <a:off x="365760" y="3063240"/>
            <a:ext cx="3200400" cy="365760"/>
          </a:xfrm>
          <a:prstGeom prst="rect">
            <a:avLst/>
          </a:prstGeom>
          <a:noFill/>
          <a:ln/>
        </p:spPr>
        <p:txBody>
          <a:bodyPr wrap="square" rtlCol="0" anchor="ctr"/>
          <a:lstStyle/>
          <a:p>
            <a:pPr marL="0" indent="0" algn="ctr">
              <a:buNone/>
            </a:pPr>
            <a:r>
              <a:rPr lang="en-US" sz="1300" dirty="0">
                <a:solidFill>
                  <a:srgbClr val="5B6B79"/>
                </a:solidFill>
                <a:latin typeface="Georgia" panose="02040502050405020303" pitchFamily="18" charset="0"/>
                <a:ea typeface="Calibri" pitchFamily="34" charset="-122"/>
                <a:cs typeface="Calibri" pitchFamily="34" charset="-120"/>
              </a:rPr>
              <a:t>Internet Sales Dataset</a:t>
            </a:r>
            <a:endParaRPr lang="en-US" sz="1300" dirty="0">
              <a:latin typeface="Georgia" panose="02040502050405020303" pitchFamily="18" charset="0"/>
            </a:endParaRPr>
          </a:p>
        </p:txBody>
      </p:sp>
      <p:sp>
        <p:nvSpPr>
          <p:cNvPr id="9" name="Shape 7"/>
          <p:cNvSpPr/>
          <p:nvPr/>
        </p:nvSpPr>
        <p:spPr>
          <a:xfrm>
            <a:off x="640080" y="3749040"/>
            <a:ext cx="2651760" cy="0"/>
          </a:xfrm>
          <a:prstGeom prst="line">
            <a:avLst/>
          </a:prstGeom>
          <a:noFill/>
          <a:ln w="12700">
            <a:solidFill>
              <a:srgbClr val="1C7293">
                <a:alpha val="60000"/>
              </a:srgbClr>
            </a:solidFill>
            <a:prstDash val="solid"/>
          </a:ln>
        </p:spPr>
      </p:sp>
      <p:sp>
        <p:nvSpPr>
          <p:cNvPr id="10" name="Shape 8"/>
          <p:cNvSpPr/>
          <p:nvPr/>
        </p:nvSpPr>
        <p:spPr>
          <a:xfrm>
            <a:off x="502920" y="4023360"/>
            <a:ext cx="1508760" cy="502920"/>
          </a:xfrm>
          <a:prstGeom prst="roundRect">
            <a:avLst>
              <a:gd name="adj" fmla="val 14545"/>
            </a:avLst>
          </a:prstGeom>
          <a:solidFill>
            <a:srgbClr val="FFFFFF"/>
          </a:solidFill>
          <a:ln w="12700">
            <a:solidFill>
              <a:srgbClr val="1C7293"/>
            </a:solidFill>
            <a:prstDash val="solid"/>
          </a:ln>
        </p:spPr>
      </p:sp>
      <p:sp>
        <p:nvSpPr>
          <p:cNvPr id="11" name="Text 9"/>
          <p:cNvSpPr/>
          <p:nvPr/>
        </p:nvSpPr>
        <p:spPr>
          <a:xfrm>
            <a:off x="502920" y="4023360"/>
            <a:ext cx="1508760" cy="502920"/>
          </a:xfrm>
          <a:prstGeom prst="rect">
            <a:avLst/>
          </a:prstGeom>
          <a:noFill/>
          <a:ln/>
        </p:spPr>
        <p:txBody>
          <a:bodyPr wrap="square" rtlCol="0" anchor="ctr"/>
          <a:lstStyle/>
          <a:p>
            <a:pPr marL="0" indent="0" algn="ctr">
              <a:buNone/>
            </a:pPr>
            <a:r>
              <a:rPr lang="en-US" sz="1200" b="1" dirty="0">
                <a:solidFill>
                  <a:srgbClr val="065A82"/>
                </a:solidFill>
                <a:latin typeface="Georgia" panose="02040502050405020303" pitchFamily="18" charset="0"/>
                <a:ea typeface="Calibri" pitchFamily="34" charset="-122"/>
                <a:cs typeface="Calibri" pitchFamily="34" charset="-120"/>
              </a:rPr>
              <a:t>SQL</a:t>
            </a:r>
            <a:endParaRPr lang="en-US" sz="1200" dirty="0">
              <a:latin typeface="Georgia" panose="02040502050405020303" pitchFamily="18" charset="0"/>
            </a:endParaRPr>
          </a:p>
        </p:txBody>
      </p:sp>
      <p:sp>
        <p:nvSpPr>
          <p:cNvPr id="12" name="Shape 10"/>
          <p:cNvSpPr/>
          <p:nvPr/>
        </p:nvSpPr>
        <p:spPr>
          <a:xfrm>
            <a:off x="2194560" y="4023360"/>
            <a:ext cx="1508760" cy="502920"/>
          </a:xfrm>
          <a:prstGeom prst="roundRect">
            <a:avLst>
              <a:gd name="adj" fmla="val 14545"/>
            </a:avLst>
          </a:prstGeom>
          <a:solidFill>
            <a:srgbClr val="FFFFFF"/>
          </a:solidFill>
          <a:ln w="12700">
            <a:solidFill>
              <a:srgbClr val="1C7293"/>
            </a:solidFill>
            <a:prstDash val="solid"/>
          </a:ln>
        </p:spPr>
      </p:sp>
      <p:sp>
        <p:nvSpPr>
          <p:cNvPr id="13" name="Text 11"/>
          <p:cNvSpPr/>
          <p:nvPr/>
        </p:nvSpPr>
        <p:spPr>
          <a:xfrm>
            <a:off x="2194560" y="4023360"/>
            <a:ext cx="1508760" cy="502920"/>
          </a:xfrm>
          <a:prstGeom prst="rect">
            <a:avLst/>
          </a:prstGeom>
          <a:noFill/>
          <a:ln/>
        </p:spPr>
        <p:txBody>
          <a:bodyPr wrap="square" rtlCol="0" anchor="ctr"/>
          <a:lstStyle/>
          <a:p>
            <a:pPr marL="0" indent="0" algn="ctr">
              <a:buNone/>
            </a:pPr>
            <a:r>
              <a:rPr lang="en-US" sz="1200" b="1" dirty="0">
                <a:solidFill>
                  <a:srgbClr val="065A82"/>
                </a:solidFill>
                <a:latin typeface="Georgia" panose="02040502050405020303" pitchFamily="18" charset="0"/>
                <a:ea typeface="Calibri" pitchFamily="34" charset="-122"/>
                <a:cs typeface="Calibri" pitchFamily="34" charset="-120"/>
              </a:rPr>
              <a:t>Excel</a:t>
            </a:r>
            <a:endParaRPr lang="en-US" sz="1200" dirty="0">
              <a:latin typeface="Georgia" panose="02040502050405020303" pitchFamily="18" charset="0"/>
            </a:endParaRPr>
          </a:p>
        </p:txBody>
      </p:sp>
      <p:sp>
        <p:nvSpPr>
          <p:cNvPr id="14" name="Shape 12"/>
          <p:cNvSpPr/>
          <p:nvPr/>
        </p:nvSpPr>
        <p:spPr>
          <a:xfrm>
            <a:off x="502920" y="4709160"/>
            <a:ext cx="1508760" cy="502920"/>
          </a:xfrm>
          <a:prstGeom prst="roundRect">
            <a:avLst>
              <a:gd name="adj" fmla="val 14545"/>
            </a:avLst>
          </a:prstGeom>
          <a:solidFill>
            <a:srgbClr val="FFFFFF"/>
          </a:solidFill>
          <a:ln w="12700">
            <a:solidFill>
              <a:srgbClr val="1C7293"/>
            </a:solidFill>
            <a:prstDash val="solid"/>
          </a:ln>
        </p:spPr>
      </p:sp>
      <p:sp>
        <p:nvSpPr>
          <p:cNvPr id="15" name="Text 13"/>
          <p:cNvSpPr/>
          <p:nvPr/>
        </p:nvSpPr>
        <p:spPr>
          <a:xfrm>
            <a:off x="502920" y="4709160"/>
            <a:ext cx="1508760" cy="502920"/>
          </a:xfrm>
          <a:prstGeom prst="rect">
            <a:avLst/>
          </a:prstGeom>
          <a:noFill/>
          <a:ln/>
        </p:spPr>
        <p:txBody>
          <a:bodyPr wrap="square" rtlCol="0" anchor="ctr"/>
          <a:lstStyle/>
          <a:p>
            <a:pPr marL="0" indent="0" algn="ctr">
              <a:buNone/>
            </a:pPr>
            <a:r>
              <a:rPr lang="en-US" sz="1200" b="1" dirty="0">
                <a:solidFill>
                  <a:srgbClr val="065A82"/>
                </a:solidFill>
                <a:latin typeface="Georgia" panose="02040502050405020303" pitchFamily="18" charset="0"/>
                <a:ea typeface="Calibri" pitchFamily="34" charset="-122"/>
                <a:cs typeface="Calibri" pitchFamily="34" charset="-120"/>
              </a:rPr>
              <a:t>Tableau</a:t>
            </a:r>
            <a:endParaRPr lang="en-US" sz="1200" dirty="0">
              <a:latin typeface="Georgia" panose="02040502050405020303" pitchFamily="18" charset="0"/>
            </a:endParaRPr>
          </a:p>
        </p:txBody>
      </p:sp>
      <p:sp>
        <p:nvSpPr>
          <p:cNvPr id="16" name="Shape 14"/>
          <p:cNvSpPr/>
          <p:nvPr/>
        </p:nvSpPr>
        <p:spPr>
          <a:xfrm>
            <a:off x="2194560" y="4709160"/>
            <a:ext cx="1508760" cy="502920"/>
          </a:xfrm>
          <a:prstGeom prst="roundRect">
            <a:avLst>
              <a:gd name="adj" fmla="val 14545"/>
            </a:avLst>
          </a:prstGeom>
          <a:solidFill>
            <a:srgbClr val="FFFFFF"/>
          </a:solidFill>
          <a:ln w="12700">
            <a:solidFill>
              <a:srgbClr val="1C7293"/>
            </a:solidFill>
            <a:prstDash val="solid"/>
          </a:ln>
        </p:spPr>
      </p:sp>
      <p:sp>
        <p:nvSpPr>
          <p:cNvPr id="17" name="Text 15"/>
          <p:cNvSpPr/>
          <p:nvPr/>
        </p:nvSpPr>
        <p:spPr>
          <a:xfrm>
            <a:off x="2194560" y="4709160"/>
            <a:ext cx="1508760" cy="502920"/>
          </a:xfrm>
          <a:prstGeom prst="rect">
            <a:avLst/>
          </a:prstGeom>
          <a:noFill/>
          <a:ln/>
        </p:spPr>
        <p:txBody>
          <a:bodyPr wrap="square" rtlCol="0" anchor="ctr"/>
          <a:lstStyle/>
          <a:p>
            <a:pPr marL="0" indent="0" algn="ctr">
              <a:buNone/>
            </a:pPr>
            <a:r>
              <a:rPr lang="en-US" sz="1200" b="1" dirty="0">
                <a:solidFill>
                  <a:srgbClr val="065A82"/>
                </a:solidFill>
                <a:latin typeface="Georgia" panose="02040502050405020303" pitchFamily="18" charset="0"/>
                <a:ea typeface="Calibri" pitchFamily="34" charset="-122"/>
                <a:cs typeface="Calibri" pitchFamily="34" charset="-120"/>
              </a:rPr>
              <a:t>Power BI</a:t>
            </a:r>
            <a:endParaRPr lang="en-US" sz="1200" dirty="0">
              <a:latin typeface="Georgia" panose="02040502050405020303" pitchFamily="18" charset="0"/>
            </a:endParaRPr>
          </a:p>
        </p:txBody>
      </p:sp>
      <p:sp>
        <p:nvSpPr>
          <p:cNvPr id="18" name="Text 16"/>
          <p:cNvSpPr/>
          <p:nvPr/>
        </p:nvSpPr>
        <p:spPr>
          <a:xfrm>
            <a:off x="4434840" y="1417320"/>
            <a:ext cx="7223760" cy="1097280"/>
          </a:xfrm>
          <a:prstGeom prst="rect">
            <a:avLst/>
          </a:prstGeom>
          <a:noFill/>
          <a:ln/>
        </p:spPr>
        <p:txBody>
          <a:bodyPr wrap="square" rtlCol="0" anchor="ctr"/>
          <a:lstStyle/>
          <a:p>
            <a:pPr marL="0" indent="0">
              <a:lnSpc>
                <a:spcPct val="125000"/>
              </a:lnSpc>
              <a:buNone/>
            </a:pPr>
            <a:r>
              <a:rPr lang="en-US" sz="1600" dirty="0">
                <a:solidFill>
                  <a:srgbClr val="1B2430"/>
                </a:solidFill>
                <a:latin typeface="Georgia" panose="02040502050405020303" pitchFamily="18" charset="0"/>
                <a:ea typeface="Calibri" pitchFamily="34" charset="-122"/>
                <a:cs typeface="Calibri" pitchFamily="34" charset="-120"/>
              </a:rPr>
              <a:t>The Adventure Works Sales Analytics project was developed to analyze sales performance using SQL, Excel, Tableau, and Power BI.</a:t>
            </a:r>
            <a:endParaRPr lang="en-US" sz="1600" dirty="0">
              <a:latin typeface="Georgia" panose="02040502050405020303" pitchFamily="18" charset="0"/>
            </a:endParaRPr>
          </a:p>
        </p:txBody>
      </p:sp>
      <p:sp>
        <p:nvSpPr>
          <p:cNvPr id="19" name="Text 17"/>
          <p:cNvSpPr/>
          <p:nvPr/>
        </p:nvSpPr>
        <p:spPr>
          <a:xfrm>
            <a:off x="4434840" y="2514600"/>
            <a:ext cx="7223760" cy="1097280"/>
          </a:xfrm>
          <a:prstGeom prst="rect">
            <a:avLst/>
          </a:prstGeom>
          <a:noFill/>
          <a:ln/>
        </p:spPr>
        <p:txBody>
          <a:bodyPr wrap="square" rtlCol="0" anchor="ctr"/>
          <a:lstStyle/>
          <a:p>
            <a:pPr marL="0" indent="0">
              <a:lnSpc>
                <a:spcPct val="125000"/>
              </a:lnSpc>
              <a:buNone/>
            </a:pPr>
            <a:r>
              <a:rPr lang="en-US" sz="1600" dirty="0">
                <a:solidFill>
                  <a:srgbClr val="1B2430"/>
                </a:solidFill>
                <a:latin typeface="Georgia" panose="02040502050405020303" pitchFamily="18" charset="0"/>
                <a:ea typeface="Calibri" pitchFamily="34" charset="-122"/>
                <a:cs typeface="Calibri" pitchFamily="34" charset="-120"/>
              </a:rPr>
              <a:t>Each module was implemented independently, covering the complete analytics workflow from data preparation and transformation to business analysis and dashboard creation.</a:t>
            </a:r>
            <a:endParaRPr lang="en-US" sz="1600" dirty="0">
              <a:latin typeface="Georgia" panose="02040502050405020303" pitchFamily="18" charset="0"/>
            </a:endParaRPr>
          </a:p>
        </p:txBody>
      </p:sp>
      <p:sp>
        <p:nvSpPr>
          <p:cNvPr id="20" name="Text 18"/>
          <p:cNvSpPr/>
          <p:nvPr/>
        </p:nvSpPr>
        <p:spPr>
          <a:xfrm>
            <a:off x="4434840" y="3611880"/>
            <a:ext cx="7223760" cy="1097280"/>
          </a:xfrm>
          <a:prstGeom prst="rect">
            <a:avLst/>
          </a:prstGeom>
          <a:noFill/>
          <a:ln/>
        </p:spPr>
        <p:txBody>
          <a:bodyPr wrap="square" rtlCol="0" anchor="ctr"/>
          <a:lstStyle/>
          <a:p>
            <a:pPr marL="0" indent="0">
              <a:lnSpc>
                <a:spcPct val="125000"/>
              </a:lnSpc>
              <a:buNone/>
            </a:pPr>
            <a:r>
              <a:rPr lang="en-US" sz="1600" dirty="0">
                <a:solidFill>
                  <a:srgbClr val="1B2430"/>
                </a:solidFill>
                <a:latin typeface="Georgia" panose="02040502050405020303" pitchFamily="18" charset="0"/>
                <a:ea typeface="Calibri" pitchFamily="34" charset="-122"/>
                <a:cs typeface="Calibri" pitchFamily="34" charset="-120"/>
              </a:rPr>
              <a:t>The project demonstrates how different analytical tools can generate meaningful business insights and support data-driven decision-making.</a:t>
            </a:r>
            <a:endParaRPr lang="en-US" sz="1600" dirty="0">
              <a:latin typeface="Georgia" panose="02040502050405020303" pitchFamily="18" charset="0"/>
            </a:endParaRPr>
          </a:p>
        </p:txBody>
      </p:sp>
      <p:sp>
        <p:nvSpPr>
          <p:cNvPr id="21" name="Shape 19"/>
          <p:cNvSpPr/>
          <p:nvPr/>
        </p:nvSpPr>
        <p:spPr>
          <a:xfrm>
            <a:off x="4434840" y="5074920"/>
            <a:ext cx="7223760" cy="868680"/>
          </a:xfrm>
          <a:prstGeom prst="roundRect">
            <a:avLst>
              <a:gd name="adj" fmla="val 8421"/>
            </a:avLst>
          </a:prstGeom>
          <a:solidFill>
            <a:srgbClr val="21295C"/>
          </a:solidFill>
          <a:ln/>
        </p:spPr>
      </p:sp>
      <p:sp>
        <p:nvSpPr>
          <p:cNvPr id="22" name="Text 20"/>
          <p:cNvSpPr/>
          <p:nvPr/>
        </p:nvSpPr>
        <p:spPr>
          <a:xfrm>
            <a:off x="4663440" y="5074920"/>
            <a:ext cx="6766560" cy="868680"/>
          </a:xfrm>
          <a:prstGeom prst="rect">
            <a:avLst/>
          </a:prstGeom>
          <a:noFill/>
          <a:ln/>
        </p:spPr>
        <p:txBody>
          <a:bodyPr wrap="square" rtlCol="0" anchor="ctr"/>
          <a:lstStyle/>
          <a:p>
            <a:pPr marL="0" indent="0">
              <a:buNone/>
            </a:pPr>
            <a:r>
              <a:rPr lang="en-US" sz="1500" b="1" dirty="0">
                <a:solidFill>
                  <a:srgbClr val="2FC8B7"/>
                </a:solidFill>
                <a:latin typeface="Georgia" panose="02040502050405020303" pitchFamily="18" charset="0"/>
                <a:ea typeface="Calibri" pitchFamily="34" charset="-122"/>
                <a:cs typeface="Calibri" pitchFamily="34" charset="-120"/>
              </a:rPr>
              <a:t>Dataset:  </a:t>
            </a:r>
            <a:r>
              <a:rPr lang="en-US" sz="1500" dirty="0">
                <a:solidFill>
                  <a:srgbClr val="FFFFFF"/>
                </a:solidFill>
                <a:latin typeface="Georgia" panose="02040502050405020303" pitchFamily="18" charset="0"/>
                <a:ea typeface="Calibri" pitchFamily="34" charset="-122"/>
                <a:cs typeface="Calibri" pitchFamily="34" charset="-120"/>
              </a:rPr>
              <a:t>Adventure Works Internet Sales (2010–2014)</a:t>
            </a:r>
            <a:endParaRPr lang="en-US" sz="1500" dirty="0">
              <a:latin typeface="Georgia" panose="02040502050405020303" pitchFamily="18" charset="0"/>
            </a:endParaRPr>
          </a:p>
        </p:txBody>
      </p:sp>
      <p:sp>
        <p:nvSpPr>
          <p:cNvPr id="23" name="Text 2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2</a:t>
            </a:r>
            <a:endParaRPr lang="en-US" sz="1000" dirty="0">
              <a:latin typeface="Georgia" panose="02040502050405020303" pitchFamily="18" charset="0"/>
            </a:endParaRPr>
          </a:p>
        </p:txBody>
      </p:sp>
      <p:sp>
        <p:nvSpPr>
          <p:cNvPr id="24" name="Text 2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21295C"/>
                </a:solidFill>
                <a:latin typeface="Georgia" panose="02040502050405020303" pitchFamily="18" charset="0"/>
                <a:ea typeface="Cambria" pitchFamily="34" charset="-122"/>
                <a:cs typeface="Cambria" pitchFamily="34" charset="-120"/>
              </a:rPr>
              <a:t>Project Objectives</a:t>
            </a:r>
            <a:endParaRPr lang="en-US" sz="3400" dirty="0">
              <a:latin typeface="Georgia" panose="02040502050405020303" pitchFamily="18" charset="0"/>
            </a:endParaRPr>
          </a:p>
        </p:txBody>
      </p:sp>
      <p:sp>
        <p:nvSpPr>
          <p:cNvPr id="3" name="Text 1"/>
          <p:cNvSpPr/>
          <p:nvPr/>
        </p:nvSpPr>
        <p:spPr>
          <a:xfrm>
            <a:off x="548640" y="1005840"/>
            <a:ext cx="7315200" cy="365760"/>
          </a:xfrm>
          <a:prstGeom prst="rect">
            <a:avLst/>
          </a:prstGeom>
          <a:noFill/>
          <a:ln/>
        </p:spPr>
        <p:txBody>
          <a:bodyPr wrap="square" rtlCol="0" anchor="ctr"/>
          <a:lstStyle/>
          <a:p>
            <a:pPr marL="0" indent="0">
              <a:buNone/>
            </a:pPr>
            <a:r>
              <a:rPr lang="en-US" sz="1400" dirty="0">
                <a:solidFill>
                  <a:srgbClr val="5B6B79"/>
                </a:solidFill>
                <a:latin typeface="Georgia" panose="02040502050405020303" pitchFamily="18" charset="0"/>
                <a:ea typeface="Calibri" pitchFamily="34" charset="-122"/>
                <a:cs typeface="Calibri" pitchFamily="34" charset="-120"/>
              </a:rPr>
              <a:t>What the project set out to achieve</a:t>
            </a:r>
            <a:endParaRPr lang="en-US" sz="1400" dirty="0">
              <a:latin typeface="Georgia" panose="02040502050405020303" pitchFamily="18" charset="0"/>
            </a:endParaRPr>
          </a:p>
        </p:txBody>
      </p:sp>
      <p:sp>
        <p:nvSpPr>
          <p:cNvPr id="4" name="Shape 2"/>
          <p:cNvSpPr/>
          <p:nvPr/>
        </p:nvSpPr>
        <p:spPr>
          <a:xfrm>
            <a:off x="548640" y="1600200"/>
            <a:ext cx="3657600" cy="2148840"/>
          </a:xfrm>
          <a:prstGeom prst="roundRect">
            <a:avLst>
              <a:gd name="adj" fmla="val 4255"/>
            </a:avLst>
          </a:prstGeom>
          <a:solidFill>
            <a:srgbClr val="F4F7F9"/>
          </a:solidFill>
          <a:ln/>
          <a:effectLst>
            <a:outerShdw blurRad="76200" dist="25400" dir="5400000" algn="bl" rotWithShape="0">
              <a:srgbClr val="1B2430">
                <a:alpha val="12000"/>
              </a:srgbClr>
            </a:outerShdw>
          </a:effectLst>
        </p:spPr>
      </p:sp>
      <p:sp>
        <p:nvSpPr>
          <p:cNvPr id="5" name="Shape 3"/>
          <p:cNvSpPr/>
          <p:nvPr/>
        </p:nvSpPr>
        <p:spPr>
          <a:xfrm>
            <a:off x="822960" y="1874520"/>
            <a:ext cx="502920" cy="502920"/>
          </a:xfrm>
          <a:prstGeom prst="ellipse">
            <a:avLst/>
          </a:prstGeom>
          <a:solidFill>
            <a:srgbClr val="1C7293"/>
          </a:solidFill>
          <a:ln/>
        </p:spPr>
      </p:sp>
      <p:sp>
        <p:nvSpPr>
          <p:cNvPr id="6" name="Text 4"/>
          <p:cNvSpPr/>
          <p:nvPr/>
        </p:nvSpPr>
        <p:spPr>
          <a:xfrm>
            <a:off x="82296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1</a:t>
            </a:r>
            <a:endParaRPr lang="en-US" sz="1800" dirty="0">
              <a:latin typeface="Georgia" panose="02040502050405020303" pitchFamily="18" charset="0"/>
            </a:endParaRPr>
          </a:p>
        </p:txBody>
      </p:sp>
      <p:sp>
        <p:nvSpPr>
          <p:cNvPr id="7" name="Text 5"/>
          <p:cNvSpPr/>
          <p:nvPr/>
        </p:nvSpPr>
        <p:spPr>
          <a:xfrm>
            <a:off x="1508760" y="1856232"/>
            <a:ext cx="2468880" cy="365760"/>
          </a:xfrm>
          <a:prstGeom prst="rect">
            <a:avLst/>
          </a:prstGeom>
          <a:noFill/>
          <a:ln/>
        </p:spPr>
        <p:txBody>
          <a:bodyPr wrap="square" rtlCol="0" anchor="ctr"/>
          <a:lstStyle/>
          <a:p>
            <a:pPr marL="0" indent="0">
              <a:buNone/>
            </a:pPr>
            <a:r>
              <a:rPr lang="en-US" sz="1600" b="1" dirty="0">
                <a:solidFill>
                  <a:srgbClr val="065A82"/>
                </a:solidFill>
                <a:latin typeface="Georgia" panose="02040502050405020303" pitchFamily="18" charset="0"/>
                <a:ea typeface="Cambria" pitchFamily="34" charset="-122"/>
                <a:cs typeface="Cambria" pitchFamily="34" charset="-120"/>
              </a:rPr>
              <a:t>Analyze</a:t>
            </a:r>
            <a:endParaRPr lang="en-US" sz="1600" dirty="0">
              <a:latin typeface="Georgia" panose="02040502050405020303" pitchFamily="18" charset="0"/>
            </a:endParaRPr>
          </a:p>
        </p:txBody>
      </p:sp>
      <p:sp>
        <p:nvSpPr>
          <p:cNvPr id="8" name="Text 6"/>
          <p:cNvSpPr/>
          <p:nvPr/>
        </p:nvSpPr>
        <p:spPr>
          <a:xfrm>
            <a:off x="822960" y="2514600"/>
            <a:ext cx="3108960" cy="1051560"/>
          </a:xfrm>
          <a:prstGeom prst="rect">
            <a:avLst/>
          </a:prstGeom>
          <a:noFill/>
          <a:ln/>
        </p:spPr>
        <p:txBody>
          <a:bodyPr wrap="square" rtlCol="0" anchor="ctr"/>
          <a:lstStyle/>
          <a:p>
            <a:pPr marL="0" indent="0">
              <a:lnSpc>
                <a:spcPct val="120000"/>
              </a:lnSpc>
              <a:buNone/>
            </a:pPr>
            <a:r>
              <a:rPr lang="en-US" sz="1250" dirty="0">
                <a:solidFill>
                  <a:srgbClr val="1B2430"/>
                </a:solidFill>
                <a:latin typeface="Georgia" panose="02040502050405020303" pitchFamily="18" charset="0"/>
                <a:ea typeface="Calibri" pitchFamily="34" charset="-122"/>
                <a:cs typeface="Calibri" pitchFamily="34" charset="-120"/>
              </a:rPr>
              <a:t>Analyze the Adventure Works sales dataset.</a:t>
            </a:r>
            <a:endParaRPr lang="en-US" sz="1250" dirty="0">
              <a:latin typeface="Georgia" panose="02040502050405020303" pitchFamily="18" charset="0"/>
            </a:endParaRPr>
          </a:p>
        </p:txBody>
      </p:sp>
      <p:sp>
        <p:nvSpPr>
          <p:cNvPr id="9" name="Shape 7"/>
          <p:cNvSpPr/>
          <p:nvPr/>
        </p:nvSpPr>
        <p:spPr>
          <a:xfrm>
            <a:off x="4343400" y="1600200"/>
            <a:ext cx="3657600" cy="2148840"/>
          </a:xfrm>
          <a:prstGeom prst="roundRect">
            <a:avLst>
              <a:gd name="adj" fmla="val 4255"/>
            </a:avLst>
          </a:prstGeom>
          <a:solidFill>
            <a:srgbClr val="F4F7F9"/>
          </a:solidFill>
          <a:ln/>
          <a:effectLst>
            <a:outerShdw blurRad="76200" dist="25400" dir="5400000" algn="bl" rotWithShape="0">
              <a:srgbClr val="1B2430">
                <a:alpha val="12000"/>
              </a:srgbClr>
            </a:outerShdw>
          </a:effectLst>
        </p:spPr>
      </p:sp>
      <p:sp>
        <p:nvSpPr>
          <p:cNvPr id="10" name="Shape 8"/>
          <p:cNvSpPr/>
          <p:nvPr/>
        </p:nvSpPr>
        <p:spPr>
          <a:xfrm>
            <a:off x="4617720" y="1874520"/>
            <a:ext cx="502920" cy="502920"/>
          </a:xfrm>
          <a:prstGeom prst="ellipse">
            <a:avLst/>
          </a:prstGeom>
          <a:solidFill>
            <a:srgbClr val="1C7293"/>
          </a:solidFill>
          <a:ln/>
        </p:spPr>
      </p:sp>
      <p:sp>
        <p:nvSpPr>
          <p:cNvPr id="11" name="Text 9"/>
          <p:cNvSpPr/>
          <p:nvPr/>
        </p:nvSpPr>
        <p:spPr>
          <a:xfrm>
            <a:off x="461772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2</a:t>
            </a:r>
            <a:endParaRPr lang="en-US" sz="1800" dirty="0">
              <a:latin typeface="Georgia" panose="02040502050405020303" pitchFamily="18" charset="0"/>
            </a:endParaRPr>
          </a:p>
        </p:txBody>
      </p:sp>
      <p:sp>
        <p:nvSpPr>
          <p:cNvPr id="12" name="Text 10"/>
          <p:cNvSpPr/>
          <p:nvPr/>
        </p:nvSpPr>
        <p:spPr>
          <a:xfrm>
            <a:off x="5303520" y="1856232"/>
            <a:ext cx="2468880" cy="365760"/>
          </a:xfrm>
          <a:prstGeom prst="rect">
            <a:avLst/>
          </a:prstGeom>
          <a:noFill/>
          <a:ln/>
        </p:spPr>
        <p:txBody>
          <a:bodyPr wrap="square" rtlCol="0" anchor="ctr"/>
          <a:lstStyle/>
          <a:p>
            <a:pPr marL="0" indent="0">
              <a:buNone/>
            </a:pPr>
            <a:r>
              <a:rPr lang="en-US" sz="1600" b="1" dirty="0">
                <a:solidFill>
                  <a:srgbClr val="065A82"/>
                </a:solidFill>
                <a:latin typeface="Georgia" panose="02040502050405020303" pitchFamily="18" charset="0"/>
                <a:ea typeface="Cambria" pitchFamily="34" charset="-122"/>
                <a:cs typeface="Cambria" pitchFamily="34" charset="-120"/>
              </a:rPr>
              <a:t>Prepare</a:t>
            </a:r>
            <a:endParaRPr lang="en-US" sz="1600" dirty="0">
              <a:latin typeface="Georgia" panose="02040502050405020303" pitchFamily="18" charset="0"/>
            </a:endParaRPr>
          </a:p>
        </p:txBody>
      </p:sp>
      <p:sp>
        <p:nvSpPr>
          <p:cNvPr id="13" name="Text 11"/>
          <p:cNvSpPr/>
          <p:nvPr/>
        </p:nvSpPr>
        <p:spPr>
          <a:xfrm>
            <a:off x="4617720" y="2514600"/>
            <a:ext cx="3108960" cy="1051560"/>
          </a:xfrm>
          <a:prstGeom prst="rect">
            <a:avLst/>
          </a:prstGeom>
          <a:noFill/>
          <a:ln/>
        </p:spPr>
        <p:txBody>
          <a:bodyPr wrap="square" rtlCol="0" anchor="ctr"/>
          <a:lstStyle/>
          <a:p>
            <a:pPr marL="0" indent="0">
              <a:lnSpc>
                <a:spcPct val="120000"/>
              </a:lnSpc>
              <a:buNone/>
            </a:pPr>
            <a:r>
              <a:rPr lang="en-US" sz="1250" dirty="0">
                <a:solidFill>
                  <a:srgbClr val="1B2430"/>
                </a:solidFill>
                <a:latin typeface="Georgia" panose="02040502050405020303" pitchFamily="18" charset="0"/>
                <a:ea typeface="Calibri" pitchFamily="34" charset="-122"/>
                <a:cs typeface="Calibri" pitchFamily="34" charset="-120"/>
              </a:rPr>
              <a:t>Prepare and transform data using each tool.</a:t>
            </a:r>
            <a:endParaRPr lang="en-US" sz="1250" dirty="0">
              <a:latin typeface="Georgia" panose="02040502050405020303" pitchFamily="18" charset="0"/>
            </a:endParaRPr>
          </a:p>
        </p:txBody>
      </p:sp>
      <p:sp>
        <p:nvSpPr>
          <p:cNvPr id="14" name="Shape 12"/>
          <p:cNvSpPr/>
          <p:nvPr/>
        </p:nvSpPr>
        <p:spPr>
          <a:xfrm>
            <a:off x="8138160" y="1600200"/>
            <a:ext cx="3657600" cy="2148840"/>
          </a:xfrm>
          <a:prstGeom prst="roundRect">
            <a:avLst>
              <a:gd name="adj" fmla="val 4255"/>
            </a:avLst>
          </a:prstGeom>
          <a:solidFill>
            <a:srgbClr val="F4F7F9"/>
          </a:solidFill>
          <a:ln/>
          <a:effectLst>
            <a:outerShdw blurRad="76200" dist="25400" dir="5400000" algn="bl" rotWithShape="0">
              <a:srgbClr val="1B2430">
                <a:alpha val="12000"/>
              </a:srgbClr>
            </a:outerShdw>
          </a:effectLst>
        </p:spPr>
      </p:sp>
      <p:sp>
        <p:nvSpPr>
          <p:cNvPr id="15" name="Shape 13"/>
          <p:cNvSpPr/>
          <p:nvPr/>
        </p:nvSpPr>
        <p:spPr>
          <a:xfrm>
            <a:off x="8412480" y="1874520"/>
            <a:ext cx="502920" cy="502920"/>
          </a:xfrm>
          <a:prstGeom prst="ellipse">
            <a:avLst/>
          </a:prstGeom>
          <a:solidFill>
            <a:srgbClr val="1C7293"/>
          </a:solidFill>
          <a:ln/>
        </p:spPr>
      </p:sp>
      <p:sp>
        <p:nvSpPr>
          <p:cNvPr id="16" name="Text 14"/>
          <p:cNvSpPr/>
          <p:nvPr/>
        </p:nvSpPr>
        <p:spPr>
          <a:xfrm>
            <a:off x="841248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3</a:t>
            </a:r>
            <a:endParaRPr lang="en-US" sz="1800" dirty="0">
              <a:latin typeface="Georgia" panose="02040502050405020303" pitchFamily="18" charset="0"/>
            </a:endParaRPr>
          </a:p>
        </p:txBody>
      </p:sp>
      <p:sp>
        <p:nvSpPr>
          <p:cNvPr id="17" name="Text 15"/>
          <p:cNvSpPr/>
          <p:nvPr/>
        </p:nvSpPr>
        <p:spPr>
          <a:xfrm>
            <a:off x="9098280" y="1856232"/>
            <a:ext cx="2468880" cy="365760"/>
          </a:xfrm>
          <a:prstGeom prst="rect">
            <a:avLst/>
          </a:prstGeom>
          <a:noFill/>
          <a:ln/>
        </p:spPr>
        <p:txBody>
          <a:bodyPr wrap="square" rtlCol="0" anchor="ctr"/>
          <a:lstStyle/>
          <a:p>
            <a:pPr marL="0" indent="0">
              <a:buNone/>
            </a:pPr>
            <a:r>
              <a:rPr lang="en-US" sz="1600" b="1" dirty="0">
                <a:solidFill>
                  <a:srgbClr val="065A82"/>
                </a:solidFill>
                <a:latin typeface="Georgia" panose="02040502050405020303" pitchFamily="18" charset="0"/>
                <a:ea typeface="Cambria" pitchFamily="34" charset="-122"/>
                <a:cs typeface="Cambria" pitchFamily="34" charset="-120"/>
              </a:rPr>
              <a:t>Calculate</a:t>
            </a:r>
            <a:endParaRPr lang="en-US" sz="1600" dirty="0">
              <a:latin typeface="Georgia" panose="02040502050405020303" pitchFamily="18" charset="0"/>
            </a:endParaRPr>
          </a:p>
        </p:txBody>
      </p:sp>
      <p:sp>
        <p:nvSpPr>
          <p:cNvPr id="18" name="Text 16"/>
          <p:cNvSpPr/>
          <p:nvPr/>
        </p:nvSpPr>
        <p:spPr>
          <a:xfrm>
            <a:off x="8412480" y="2514600"/>
            <a:ext cx="3108960" cy="1051560"/>
          </a:xfrm>
          <a:prstGeom prst="rect">
            <a:avLst/>
          </a:prstGeom>
          <a:noFill/>
          <a:ln/>
        </p:spPr>
        <p:txBody>
          <a:bodyPr wrap="square" rtlCol="0" anchor="ctr"/>
          <a:lstStyle/>
          <a:p>
            <a:pPr marL="0" indent="0">
              <a:lnSpc>
                <a:spcPct val="120000"/>
              </a:lnSpc>
              <a:buNone/>
            </a:pPr>
            <a:r>
              <a:rPr lang="en-US" sz="1250" dirty="0">
                <a:solidFill>
                  <a:srgbClr val="1B2430"/>
                </a:solidFill>
                <a:latin typeface="Georgia" panose="02040502050405020303" pitchFamily="18" charset="0"/>
                <a:ea typeface="Calibri" pitchFamily="34" charset="-122"/>
                <a:cs typeface="Calibri" pitchFamily="34" charset="-120"/>
              </a:rPr>
              <a:t>Calculate key business metrics — Sales Amount, Production Cost, Profit, and Profit %.</a:t>
            </a:r>
            <a:endParaRPr lang="en-US" sz="1250" dirty="0">
              <a:latin typeface="Georgia" panose="02040502050405020303" pitchFamily="18" charset="0"/>
            </a:endParaRPr>
          </a:p>
        </p:txBody>
      </p:sp>
      <p:sp>
        <p:nvSpPr>
          <p:cNvPr id="19" name="Shape 17"/>
          <p:cNvSpPr/>
          <p:nvPr/>
        </p:nvSpPr>
        <p:spPr>
          <a:xfrm>
            <a:off x="548640" y="3977640"/>
            <a:ext cx="3657600" cy="2148840"/>
          </a:xfrm>
          <a:prstGeom prst="roundRect">
            <a:avLst>
              <a:gd name="adj" fmla="val 4255"/>
            </a:avLst>
          </a:prstGeom>
          <a:solidFill>
            <a:srgbClr val="F4F7F9"/>
          </a:solidFill>
          <a:ln/>
          <a:effectLst>
            <a:outerShdw blurRad="76200" dist="25400" dir="5400000" algn="bl" rotWithShape="0">
              <a:srgbClr val="1B2430">
                <a:alpha val="12000"/>
              </a:srgbClr>
            </a:outerShdw>
          </a:effectLst>
        </p:spPr>
      </p:sp>
      <p:sp>
        <p:nvSpPr>
          <p:cNvPr id="20" name="Shape 18"/>
          <p:cNvSpPr/>
          <p:nvPr/>
        </p:nvSpPr>
        <p:spPr>
          <a:xfrm>
            <a:off x="822960" y="4251960"/>
            <a:ext cx="502920" cy="502920"/>
          </a:xfrm>
          <a:prstGeom prst="ellipse">
            <a:avLst/>
          </a:prstGeom>
          <a:solidFill>
            <a:srgbClr val="1C7293"/>
          </a:solidFill>
          <a:ln/>
        </p:spPr>
      </p:sp>
      <p:sp>
        <p:nvSpPr>
          <p:cNvPr id="21" name="Text 19"/>
          <p:cNvSpPr/>
          <p:nvPr/>
        </p:nvSpPr>
        <p:spPr>
          <a:xfrm>
            <a:off x="82296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4</a:t>
            </a:r>
            <a:endParaRPr lang="en-US" sz="1800" dirty="0">
              <a:latin typeface="Georgia" panose="02040502050405020303" pitchFamily="18" charset="0"/>
            </a:endParaRPr>
          </a:p>
        </p:txBody>
      </p:sp>
      <p:sp>
        <p:nvSpPr>
          <p:cNvPr id="22" name="Text 20"/>
          <p:cNvSpPr/>
          <p:nvPr/>
        </p:nvSpPr>
        <p:spPr>
          <a:xfrm>
            <a:off x="1508760" y="4233672"/>
            <a:ext cx="2468880" cy="365760"/>
          </a:xfrm>
          <a:prstGeom prst="rect">
            <a:avLst/>
          </a:prstGeom>
          <a:noFill/>
          <a:ln/>
        </p:spPr>
        <p:txBody>
          <a:bodyPr wrap="square" rtlCol="0" anchor="ctr"/>
          <a:lstStyle/>
          <a:p>
            <a:pPr marL="0" indent="0">
              <a:buNone/>
            </a:pPr>
            <a:r>
              <a:rPr lang="en-US" sz="1600" b="1" dirty="0">
                <a:solidFill>
                  <a:srgbClr val="065A82"/>
                </a:solidFill>
                <a:latin typeface="Georgia" panose="02040502050405020303" pitchFamily="18" charset="0"/>
                <a:ea typeface="Cambria" pitchFamily="34" charset="-122"/>
                <a:cs typeface="Cambria" pitchFamily="34" charset="-120"/>
              </a:rPr>
              <a:t>Compare</a:t>
            </a:r>
            <a:endParaRPr lang="en-US" sz="1600" dirty="0">
              <a:latin typeface="Georgia" panose="02040502050405020303" pitchFamily="18" charset="0"/>
            </a:endParaRPr>
          </a:p>
        </p:txBody>
      </p:sp>
      <p:sp>
        <p:nvSpPr>
          <p:cNvPr id="23" name="Text 21"/>
          <p:cNvSpPr/>
          <p:nvPr/>
        </p:nvSpPr>
        <p:spPr>
          <a:xfrm>
            <a:off x="822960" y="4892040"/>
            <a:ext cx="3108960" cy="1051560"/>
          </a:xfrm>
          <a:prstGeom prst="rect">
            <a:avLst/>
          </a:prstGeom>
          <a:noFill/>
          <a:ln/>
        </p:spPr>
        <p:txBody>
          <a:bodyPr wrap="square" rtlCol="0" anchor="ctr"/>
          <a:lstStyle/>
          <a:p>
            <a:pPr marL="0" indent="0">
              <a:lnSpc>
                <a:spcPct val="120000"/>
              </a:lnSpc>
              <a:buNone/>
            </a:pPr>
            <a:r>
              <a:rPr lang="en-US" sz="1250" dirty="0">
                <a:solidFill>
                  <a:srgbClr val="1B2430"/>
                </a:solidFill>
                <a:latin typeface="Georgia" panose="02040502050405020303" pitchFamily="18" charset="0"/>
                <a:ea typeface="Calibri" pitchFamily="34" charset="-122"/>
                <a:cs typeface="Calibri" pitchFamily="34" charset="-120"/>
              </a:rPr>
              <a:t>Analyze sales performance across Products, Customers, Regions, and Time.</a:t>
            </a:r>
            <a:endParaRPr lang="en-US" sz="1250" dirty="0">
              <a:latin typeface="Georgia" panose="02040502050405020303" pitchFamily="18" charset="0"/>
            </a:endParaRPr>
          </a:p>
        </p:txBody>
      </p:sp>
      <p:sp>
        <p:nvSpPr>
          <p:cNvPr id="24" name="Shape 22"/>
          <p:cNvSpPr/>
          <p:nvPr/>
        </p:nvSpPr>
        <p:spPr>
          <a:xfrm>
            <a:off x="4343400" y="3977640"/>
            <a:ext cx="3657600" cy="2148840"/>
          </a:xfrm>
          <a:prstGeom prst="roundRect">
            <a:avLst>
              <a:gd name="adj" fmla="val 4255"/>
            </a:avLst>
          </a:prstGeom>
          <a:solidFill>
            <a:srgbClr val="F4F7F9"/>
          </a:solidFill>
          <a:ln/>
          <a:effectLst>
            <a:outerShdw blurRad="76200" dist="25400" dir="5400000" algn="bl" rotWithShape="0">
              <a:srgbClr val="1B2430">
                <a:alpha val="12000"/>
              </a:srgbClr>
            </a:outerShdw>
          </a:effectLst>
        </p:spPr>
      </p:sp>
      <p:sp>
        <p:nvSpPr>
          <p:cNvPr id="25" name="Shape 23"/>
          <p:cNvSpPr/>
          <p:nvPr/>
        </p:nvSpPr>
        <p:spPr>
          <a:xfrm>
            <a:off x="4617720" y="4251960"/>
            <a:ext cx="502920" cy="502920"/>
          </a:xfrm>
          <a:prstGeom prst="ellipse">
            <a:avLst/>
          </a:prstGeom>
          <a:solidFill>
            <a:srgbClr val="1C7293"/>
          </a:solidFill>
          <a:ln/>
        </p:spPr>
      </p:sp>
      <p:sp>
        <p:nvSpPr>
          <p:cNvPr id="26" name="Text 24"/>
          <p:cNvSpPr/>
          <p:nvPr/>
        </p:nvSpPr>
        <p:spPr>
          <a:xfrm>
            <a:off x="461772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5</a:t>
            </a:r>
            <a:endParaRPr lang="en-US" sz="1800" dirty="0">
              <a:latin typeface="Georgia" panose="02040502050405020303" pitchFamily="18" charset="0"/>
            </a:endParaRPr>
          </a:p>
        </p:txBody>
      </p:sp>
      <p:sp>
        <p:nvSpPr>
          <p:cNvPr id="27" name="Text 25"/>
          <p:cNvSpPr/>
          <p:nvPr/>
        </p:nvSpPr>
        <p:spPr>
          <a:xfrm>
            <a:off x="5303520" y="4233672"/>
            <a:ext cx="2468880" cy="365760"/>
          </a:xfrm>
          <a:prstGeom prst="rect">
            <a:avLst/>
          </a:prstGeom>
          <a:noFill/>
          <a:ln/>
        </p:spPr>
        <p:txBody>
          <a:bodyPr wrap="square" rtlCol="0" anchor="ctr"/>
          <a:lstStyle/>
          <a:p>
            <a:pPr marL="0" indent="0">
              <a:buNone/>
            </a:pPr>
            <a:r>
              <a:rPr lang="en-US" sz="1600" b="1" dirty="0">
                <a:solidFill>
                  <a:srgbClr val="065A82"/>
                </a:solidFill>
                <a:latin typeface="Georgia" panose="02040502050405020303" pitchFamily="18" charset="0"/>
                <a:ea typeface="Cambria" pitchFamily="34" charset="-122"/>
                <a:cs typeface="Cambria" pitchFamily="34" charset="-120"/>
              </a:rPr>
              <a:t>Build</a:t>
            </a:r>
            <a:endParaRPr lang="en-US" sz="1600" dirty="0">
              <a:latin typeface="Georgia" panose="02040502050405020303" pitchFamily="18" charset="0"/>
            </a:endParaRPr>
          </a:p>
        </p:txBody>
      </p:sp>
      <p:sp>
        <p:nvSpPr>
          <p:cNvPr id="28" name="Text 26"/>
          <p:cNvSpPr/>
          <p:nvPr/>
        </p:nvSpPr>
        <p:spPr>
          <a:xfrm>
            <a:off x="4617720" y="4892040"/>
            <a:ext cx="3108960" cy="1051560"/>
          </a:xfrm>
          <a:prstGeom prst="rect">
            <a:avLst/>
          </a:prstGeom>
          <a:noFill/>
          <a:ln/>
        </p:spPr>
        <p:txBody>
          <a:bodyPr wrap="square" rtlCol="0" anchor="ctr"/>
          <a:lstStyle/>
          <a:p>
            <a:pPr marL="0" indent="0">
              <a:lnSpc>
                <a:spcPct val="120000"/>
              </a:lnSpc>
              <a:buNone/>
            </a:pPr>
            <a:r>
              <a:rPr lang="en-US" sz="1250" dirty="0">
                <a:solidFill>
                  <a:srgbClr val="1B2430"/>
                </a:solidFill>
                <a:latin typeface="Georgia" panose="02040502050405020303" pitchFamily="18" charset="0"/>
                <a:ea typeface="Calibri" pitchFamily="34" charset="-122"/>
                <a:cs typeface="Calibri" pitchFamily="34" charset="-120"/>
              </a:rPr>
              <a:t>Develop interactive dashboards and reports.</a:t>
            </a:r>
            <a:endParaRPr lang="en-US" sz="1250" dirty="0">
              <a:latin typeface="Georgia" panose="02040502050405020303" pitchFamily="18" charset="0"/>
            </a:endParaRPr>
          </a:p>
        </p:txBody>
      </p:sp>
      <p:sp>
        <p:nvSpPr>
          <p:cNvPr id="29" name="Shape 27"/>
          <p:cNvSpPr/>
          <p:nvPr/>
        </p:nvSpPr>
        <p:spPr>
          <a:xfrm>
            <a:off x="8138160" y="3977640"/>
            <a:ext cx="3657600" cy="2148840"/>
          </a:xfrm>
          <a:prstGeom prst="roundRect">
            <a:avLst>
              <a:gd name="adj" fmla="val 4255"/>
            </a:avLst>
          </a:prstGeom>
          <a:solidFill>
            <a:srgbClr val="F4F7F9"/>
          </a:solidFill>
          <a:ln/>
          <a:effectLst>
            <a:outerShdw blurRad="76200" dist="25400" dir="5400000" algn="bl" rotWithShape="0">
              <a:srgbClr val="1B2430">
                <a:alpha val="12000"/>
              </a:srgbClr>
            </a:outerShdw>
          </a:effectLst>
        </p:spPr>
      </p:sp>
      <p:sp>
        <p:nvSpPr>
          <p:cNvPr id="30" name="Shape 28"/>
          <p:cNvSpPr/>
          <p:nvPr/>
        </p:nvSpPr>
        <p:spPr>
          <a:xfrm>
            <a:off x="8412480" y="4251960"/>
            <a:ext cx="502920" cy="502920"/>
          </a:xfrm>
          <a:prstGeom prst="ellipse">
            <a:avLst/>
          </a:prstGeom>
          <a:solidFill>
            <a:srgbClr val="1C7293"/>
          </a:solidFill>
          <a:ln/>
        </p:spPr>
      </p:sp>
      <p:sp>
        <p:nvSpPr>
          <p:cNvPr id="31" name="Text 29"/>
          <p:cNvSpPr/>
          <p:nvPr/>
        </p:nvSpPr>
        <p:spPr>
          <a:xfrm>
            <a:off x="841248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6</a:t>
            </a:r>
            <a:endParaRPr lang="en-US" sz="1800" dirty="0">
              <a:latin typeface="Georgia" panose="02040502050405020303" pitchFamily="18" charset="0"/>
            </a:endParaRPr>
          </a:p>
        </p:txBody>
      </p:sp>
      <p:sp>
        <p:nvSpPr>
          <p:cNvPr id="32" name="Text 30"/>
          <p:cNvSpPr/>
          <p:nvPr/>
        </p:nvSpPr>
        <p:spPr>
          <a:xfrm>
            <a:off x="9098280" y="4233672"/>
            <a:ext cx="2468880" cy="365760"/>
          </a:xfrm>
          <a:prstGeom prst="rect">
            <a:avLst/>
          </a:prstGeom>
          <a:noFill/>
          <a:ln/>
        </p:spPr>
        <p:txBody>
          <a:bodyPr wrap="square" rtlCol="0" anchor="ctr"/>
          <a:lstStyle/>
          <a:p>
            <a:pPr marL="0" indent="0">
              <a:buNone/>
            </a:pPr>
            <a:r>
              <a:rPr lang="en-US" sz="1600" b="1" dirty="0">
                <a:solidFill>
                  <a:srgbClr val="065A82"/>
                </a:solidFill>
                <a:latin typeface="Georgia" panose="02040502050405020303" pitchFamily="18" charset="0"/>
                <a:ea typeface="Cambria" pitchFamily="34" charset="-122"/>
                <a:cs typeface="Cambria" pitchFamily="34" charset="-120"/>
              </a:rPr>
              <a:t>Deliver</a:t>
            </a:r>
            <a:endParaRPr lang="en-US" sz="1600" dirty="0">
              <a:latin typeface="Georgia" panose="02040502050405020303" pitchFamily="18" charset="0"/>
            </a:endParaRPr>
          </a:p>
        </p:txBody>
      </p:sp>
      <p:sp>
        <p:nvSpPr>
          <p:cNvPr id="33" name="Text 31"/>
          <p:cNvSpPr/>
          <p:nvPr/>
        </p:nvSpPr>
        <p:spPr>
          <a:xfrm>
            <a:off x="8412480" y="4892040"/>
            <a:ext cx="3108960" cy="1051560"/>
          </a:xfrm>
          <a:prstGeom prst="rect">
            <a:avLst/>
          </a:prstGeom>
          <a:noFill/>
          <a:ln/>
        </p:spPr>
        <p:txBody>
          <a:bodyPr wrap="square" rtlCol="0" anchor="ctr"/>
          <a:lstStyle/>
          <a:p>
            <a:pPr marL="0" indent="0">
              <a:lnSpc>
                <a:spcPct val="120000"/>
              </a:lnSpc>
              <a:buNone/>
            </a:pPr>
            <a:r>
              <a:rPr lang="en-US" sz="1250" dirty="0">
                <a:solidFill>
                  <a:srgbClr val="1B2430"/>
                </a:solidFill>
                <a:latin typeface="Georgia" panose="02040502050405020303" pitchFamily="18" charset="0"/>
                <a:ea typeface="Calibri" pitchFamily="34" charset="-122"/>
                <a:cs typeface="Calibri" pitchFamily="34" charset="-120"/>
              </a:rPr>
              <a:t>Generate business insights to support decision-making.</a:t>
            </a:r>
            <a:endParaRPr lang="en-US" sz="1250" dirty="0">
              <a:latin typeface="Georgia" panose="02040502050405020303" pitchFamily="18" charset="0"/>
            </a:endParaRPr>
          </a:p>
        </p:txBody>
      </p:sp>
      <p:sp>
        <p:nvSpPr>
          <p:cNvPr id="34" name="Text 3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3</a:t>
            </a:r>
            <a:endParaRPr lang="en-US" sz="1000" dirty="0">
              <a:latin typeface="Georgia" panose="02040502050405020303" pitchFamily="18" charset="0"/>
            </a:endParaRPr>
          </a:p>
        </p:txBody>
      </p:sp>
      <p:sp>
        <p:nvSpPr>
          <p:cNvPr id="35" name="Text 33"/>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FFFFFF"/>
                </a:solidFill>
                <a:latin typeface="Georgia" panose="02040502050405020303" pitchFamily="18" charset="0"/>
                <a:ea typeface="Cambria" pitchFamily="34" charset="-122"/>
                <a:cs typeface="Cambria" pitchFamily="34" charset="-120"/>
              </a:rPr>
              <a:t>Common Workflow</a:t>
            </a:r>
            <a:endParaRPr lang="en-US" sz="3400" dirty="0">
              <a:latin typeface="Georgia" panose="02040502050405020303" pitchFamily="18" charset="0"/>
            </a:endParaRPr>
          </a:p>
        </p:txBody>
      </p:sp>
      <p:sp>
        <p:nvSpPr>
          <p:cNvPr id="3" name="Text 1"/>
          <p:cNvSpPr/>
          <p:nvPr/>
        </p:nvSpPr>
        <p:spPr>
          <a:xfrm>
            <a:off x="548640" y="1051560"/>
            <a:ext cx="8229600" cy="365760"/>
          </a:xfrm>
          <a:prstGeom prst="rect">
            <a:avLst/>
          </a:prstGeom>
          <a:noFill/>
          <a:ln/>
        </p:spPr>
        <p:txBody>
          <a:bodyPr wrap="square" rtlCol="0" anchor="ctr"/>
          <a:lstStyle/>
          <a:p>
            <a:pPr marL="0" indent="0">
              <a:buNone/>
            </a:pPr>
            <a:r>
              <a:rPr lang="en-US" sz="1400" dirty="0">
                <a:solidFill>
                  <a:srgbClr val="9FB3C8"/>
                </a:solidFill>
                <a:latin typeface="Georgia" panose="02040502050405020303" pitchFamily="18" charset="0"/>
                <a:ea typeface="Calibri" pitchFamily="34" charset="-122"/>
                <a:cs typeface="Calibri" pitchFamily="34" charset="-120"/>
              </a:rPr>
              <a:t>The same six-step process applied across all four tools</a:t>
            </a:r>
            <a:endParaRPr lang="en-US" sz="1400" dirty="0">
              <a:latin typeface="Georgia" panose="02040502050405020303" pitchFamily="18" charset="0"/>
            </a:endParaRPr>
          </a:p>
        </p:txBody>
      </p:sp>
      <p:sp>
        <p:nvSpPr>
          <p:cNvPr id="4" name="Shape 2"/>
          <p:cNvSpPr/>
          <p:nvPr/>
        </p:nvSpPr>
        <p:spPr>
          <a:xfrm>
            <a:off x="1348740" y="4000500"/>
            <a:ext cx="9464040" cy="0"/>
          </a:xfrm>
          <a:prstGeom prst="line">
            <a:avLst/>
          </a:prstGeom>
          <a:noFill/>
          <a:ln w="25400">
            <a:solidFill>
              <a:srgbClr val="1C7293"/>
            </a:solidFill>
            <a:prstDash val="dash"/>
          </a:ln>
        </p:spPr>
      </p:sp>
      <p:sp>
        <p:nvSpPr>
          <p:cNvPr id="5" name="Shape 3"/>
          <p:cNvSpPr/>
          <p:nvPr/>
        </p:nvSpPr>
        <p:spPr>
          <a:xfrm>
            <a:off x="548640" y="3200400"/>
            <a:ext cx="1600200" cy="1600200"/>
          </a:xfrm>
          <a:prstGeom prst="ellipse">
            <a:avLst/>
          </a:prstGeom>
          <a:solidFill>
            <a:srgbClr val="065A82"/>
          </a:solidFill>
          <a:ln w="25400">
            <a:solidFill>
              <a:srgbClr val="FFFFFF"/>
            </a:solidFill>
            <a:prstDash val="solid"/>
          </a:ln>
        </p:spPr>
      </p:sp>
      <p:sp>
        <p:nvSpPr>
          <p:cNvPr id="6" name="Text 4"/>
          <p:cNvSpPr/>
          <p:nvPr/>
        </p:nvSpPr>
        <p:spPr>
          <a:xfrm>
            <a:off x="621792" y="3337560"/>
            <a:ext cx="1453896" cy="132588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Data Import</a:t>
            </a:r>
            <a:endParaRPr lang="en-US" sz="1200" dirty="0">
              <a:latin typeface="Georgia" panose="02040502050405020303" pitchFamily="18" charset="0"/>
            </a:endParaRPr>
          </a:p>
        </p:txBody>
      </p:sp>
      <p:sp>
        <p:nvSpPr>
          <p:cNvPr id="7" name="Text 5"/>
          <p:cNvSpPr/>
          <p:nvPr/>
        </p:nvSpPr>
        <p:spPr>
          <a:xfrm>
            <a:off x="1645920" y="2880360"/>
            <a:ext cx="457200" cy="457200"/>
          </a:xfrm>
          <a:prstGeom prst="rect">
            <a:avLst/>
          </a:prstGeom>
          <a:noFill/>
          <a:ln/>
        </p:spPr>
        <p:txBody>
          <a:bodyPr wrap="square" rtlCol="0" anchor="ctr"/>
          <a:lstStyle/>
          <a:p>
            <a:pPr marL="0" indent="0" algn="ctr">
              <a:buNone/>
            </a:pPr>
            <a:r>
              <a:rPr lang="en-US" sz="1400" b="1" dirty="0">
                <a:solidFill>
                  <a:srgbClr val="2FC8B7"/>
                </a:solidFill>
                <a:latin typeface="Georgia" panose="02040502050405020303" pitchFamily="18" charset="0"/>
                <a:ea typeface="Calibri" pitchFamily="34" charset="-122"/>
                <a:cs typeface="Calibri" pitchFamily="34" charset="-120"/>
              </a:rPr>
              <a:t>1</a:t>
            </a:r>
            <a:endParaRPr lang="en-US" sz="1400" dirty="0">
              <a:latin typeface="Georgia" panose="02040502050405020303" pitchFamily="18" charset="0"/>
            </a:endParaRPr>
          </a:p>
        </p:txBody>
      </p:sp>
      <p:sp>
        <p:nvSpPr>
          <p:cNvPr id="8" name="Shape 6"/>
          <p:cNvSpPr/>
          <p:nvPr/>
        </p:nvSpPr>
        <p:spPr>
          <a:xfrm>
            <a:off x="2441448" y="3200400"/>
            <a:ext cx="1600200" cy="1600200"/>
          </a:xfrm>
          <a:prstGeom prst="ellipse">
            <a:avLst/>
          </a:prstGeom>
          <a:solidFill>
            <a:srgbClr val="1C7293"/>
          </a:solidFill>
          <a:ln w="25400">
            <a:solidFill>
              <a:srgbClr val="FFFFFF"/>
            </a:solidFill>
            <a:prstDash val="solid"/>
          </a:ln>
        </p:spPr>
      </p:sp>
      <p:sp>
        <p:nvSpPr>
          <p:cNvPr id="9" name="Text 7"/>
          <p:cNvSpPr/>
          <p:nvPr/>
        </p:nvSpPr>
        <p:spPr>
          <a:xfrm>
            <a:off x="2514600" y="3337560"/>
            <a:ext cx="1453896" cy="132588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Data Preparation</a:t>
            </a:r>
            <a:endParaRPr lang="en-US" sz="1200" dirty="0">
              <a:latin typeface="Georgia" panose="02040502050405020303" pitchFamily="18" charset="0"/>
            </a:endParaRPr>
          </a:p>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&amp; Transformation</a:t>
            </a:r>
            <a:endParaRPr lang="en-US" sz="1200" dirty="0">
              <a:latin typeface="Georgia" panose="02040502050405020303" pitchFamily="18" charset="0"/>
            </a:endParaRPr>
          </a:p>
        </p:txBody>
      </p:sp>
      <p:sp>
        <p:nvSpPr>
          <p:cNvPr id="10" name="Text 8"/>
          <p:cNvSpPr/>
          <p:nvPr/>
        </p:nvSpPr>
        <p:spPr>
          <a:xfrm>
            <a:off x="3538728" y="2880360"/>
            <a:ext cx="457200" cy="457200"/>
          </a:xfrm>
          <a:prstGeom prst="rect">
            <a:avLst/>
          </a:prstGeom>
          <a:noFill/>
          <a:ln/>
        </p:spPr>
        <p:txBody>
          <a:bodyPr wrap="square" rtlCol="0" anchor="ctr"/>
          <a:lstStyle/>
          <a:p>
            <a:pPr marL="0" indent="0" algn="ctr">
              <a:buNone/>
            </a:pPr>
            <a:r>
              <a:rPr lang="en-US" sz="1400" b="1" dirty="0">
                <a:solidFill>
                  <a:srgbClr val="2FC8B7"/>
                </a:solidFill>
                <a:latin typeface="Georgia" panose="02040502050405020303" pitchFamily="18" charset="0"/>
                <a:ea typeface="Calibri" pitchFamily="34" charset="-122"/>
                <a:cs typeface="Calibri" pitchFamily="34" charset="-120"/>
              </a:rPr>
              <a:t>2</a:t>
            </a:r>
            <a:endParaRPr lang="en-US" sz="1400" dirty="0">
              <a:latin typeface="Georgia" panose="02040502050405020303" pitchFamily="18" charset="0"/>
            </a:endParaRPr>
          </a:p>
        </p:txBody>
      </p:sp>
      <p:sp>
        <p:nvSpPr>
          <p:cNvPr id="11" name="Shape 9"/>
          <p:cNvSpPr/>
          <p:nvPr/>
        </p:nvSpPr>
        <p:spPr>
          <a:xfrm>
            <a:off x="4334256" y="3200400"/>
            <a:ext cx="1600200" cy="1600200"/>
          </a:xfrm>
          <a:prstGeom prst="ellipse">
            <a:avLst/>
          </a:prstGeom>
          <a:solidFill>
            <a:srgbClr val="065A82"/>
          </a:solidFill>
          <a:ln w="25400">
            <a:solidFill>
              <a:srgbClr val="FFFFFF"/>
            </a:solidFill>
            <a:prstDash val="solid"/>
          </a:ln>
        </p:spPr>
      </p:sp>
      <p:sp>
        <p:nvSpPr>
          <p:cNvPr id="12" name="Text 10"/>
          <p:cNvSpPr/>
          <p:nvPr/>
        </p:nvSpPr>
        <p:spPr>
          <a:xfrm>
            <a:off x="4407408" y="3337560"/>
            <a:ext cx="1453896" cy="132588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Business</a:t>
            </a:r>
            <a:endParaRPr lang="en-US" sz="1200" dirty="0">
              <a:latin typeface="Georgia" panose="02040502050405020303" pitchFamily="18" charset="0"/>
            </a:endParaRPr>
          </a:p>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Calculations</a:t>
            </a:r>
            <a:endParaRPr lang="en-US" sz="1200" dirty="0">
              <a:latin typeface="Georgia" panose="02040502050405020303" pitchFamily="18" charset="0"/>
            </a:endParaRPr>
          </a:p>
        </p:txBody>
      </p:sp>
      <p:sp>
        <p:nvSpPr>
          <p:cNvPr id="13" name="Text 11"/>
          <p:cNvSpPr/>
          <p:nvPr/>
        </p:nvSpPr>
        <p:spPr>
          <a:xfrm>
            <a:off x="5431536" y="2880360"/>
            <a:ext cx="457200" cy="457200"/>
          </a:xfrm>
          <a:prstGeom prst="rect">
            <a:avLst/>
          </a:prstGeom>
          <a:noFill/>
          <a:ln/>
        </p:spPr>
        <p:txBody>
          <a:bodyPr wrap="square" rtlCol="0" anchor="ctr"/>
          <a:lstStyle/>
          <a:p>
            <a:pPr marL="0" indent="0" algn="ctr">
              <a:buNone/>
            </a:pPr>
            <a:r>
              <a:rPr lang="en-US" sz="1400" b="1" dirty="0">
                <a:solidFill>
                  <a:srgbClr val="2FC8B7"/>
                </a:solidFill>
                <a:latin typeface="Georgia" panose="02040502050405020303" pitchFamily="18" charset="0"/>
                <a:ea typeface="Calibri" pitchFamily="34" charset="-122"/>
                <a:cs typeface="Calibri" pitchFamily="34" charset="-120"/>
              </a:rPr>
              <a:t>3</a:t>
            </a:r>
            <a:endParaRPr lang="en-US" sz="1400" dirty="0">
              <a:latin typeface="Georgia" panose="02040502050405020303" pitchFamily="18" charset="0"/>
            </a:endParaRPr>
          </a:p>
        </p:txBody>
      </p:sp>
      <p:sp>
        <p:nvSpPr>
          <p:cNvPr id="14" name="Shape 12"/>
          <p:cNvSpPr/>
          <p:nvPr/>
        </p:nvSpPr>
        <p:spPr>
          <a:xfrm>
            <a:off x="6227064" y="3200400"/>
            <a:ext cx="1600200" cy="1600200"/>
          </a:xfrm>
          <a:prstGeom prst="ellipse">
            <a:avLst/>
          </a:prstGeom>
          <a:solidFill>
            <a:srgbClr val="1C7293"/>
          </a:solidFill>
          <a:ln w="25400">
            <a:solidFill>
              <a:srgbClr val="FFFFFF"/>
            </a:solidFill>
            <a:prstDash val="solid"/>
          </a:ln>
        </p:spPr>
      </p:sp>
      <p:sp>
        <p:nvSpPr>
          <p:cNvPr id="15" name="Text 13"/>
          <p:cNvSpPr/>
          <p:nvPr/>
        </p:nvSpPr>
        <p:spPr>
          <a:xfrm>
            <a:off x="6300216" y="3337560"/>
            <a:ext cx="1453896" cy="132588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Sales &amp;</a:t>
            </a:r>
            <a:endParaRPr lang="en-US" sz="1200" dirty="0">
              <a:latin typeface="Georgia" panose="02040502050405020303" pitchFamily="18" charset="0"/>
            </a:endParaRPr>
          </a:p>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Performance Analysis</a:t>
            </a:r>
            <a:endParaRPr lang="en-US" sz="1200" dirty="0">
              <a:latin typeface="Georgia" panose="02040502050405020303" pitchFamily="18" charset="0"/>
            </a:endParaRPr>
          </a:p>
        </p:txBody>
      </p:sp>
      <p:sp>
        <p:nvSpPr>
          <p:cNvPr id="16" name="Text 14"/>
          <p:cNvSpPr/>
          <p:nvPr/>
        </p:nvSpPr>
        <p:spPr>
          <a:xfrm>
            <a:off x="7324344" y="2880360"/>
            <a:ext cx="457200" cy="457200"/>
          </a:xfrm>
          <a:prstGeom prst="rect">
            <a:avLst/>
          </a:prstGeom>
          <a:noFill/>
          <a:ln/>
        </p:spPr>
        <p:txBody>
          <a:bodyPr wrap="square" rtlCol="0" anchor="ctr"/>
          <a:lstStyle/>
          <a:p>
            <a:pPr marL="0" indent="0" algn="ctr">
              <a:buNone/>
            </a:pPr>
            <a:r>
              <a:rPr lang="en-US" sz="1400" b="1" dirty="0">
                <a:solidFill>
                  <a:srgbClr val="2FC8B7"/>
                </a:solidFill>
                <a:latin typeface="Georgia" panose="02040502050405020303" pitchFamily="18" charset="0"/>
                <a:ea typeface="Calibri" pitchFamily="34" charset="-122"/>
                <a:cs typeface="Calibri" pitchFamily="34" charset="-120"/>
              </a:rPr>
              <a:t>4</a:t>
            </a:r>
            <a:endParaRPr lang="en-US" sz="1400" dirty="0">
              <a:latin typeface="Georgia" panose="02040502050405020303" pitchFamily="18" charset="0"/>
            </a:endParaRPr>
          </a:p>
        </p:txBody>
      </p:sp>
      <p:sp>
        <p:nvSpPr>
          <p:cNvPr id="17" name="Shape 15"/>
          <p:cNvSpPr/>
          <p:nvPr/>
        </p:nvSpPr>
        <p:spPr>
          <a:xfrm>
            <a:off x="8119872" y="3200400"/>
            <a:ext cx="1600200" cy="1600200"/>
          </a:xfrm>
          <a:prstGeom prst="ellipse">
            <a:avLst/>
          </a:prstGeom>
          <a:solidFill>
            <a:srgbClr val="065A82"/>
          </a:solidFill>
          <a:ln w="25400">
            <a:solidFill>
              <a:srgbClr val="FFFFFF"/>
            </a:solidFill>
            <a:prstDash val="solid"/>
          </a:ln>
        </p:spPr>
      </p:sp>
      <p:sp>
        <p:nvSpPr>
          <p:cNvPr id="18" name="Text 16"/>
          <p:cNvSpPr/>
          <p:nvPr/>
        </p:nvSpPr>
        <p:spPr>
          <a:xfrm>
            <a:off x="8193024" y="3337560"/>
            <a:ext cx="1453896" cy="132588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Dashboard / Report</a:t>
            </a:r>
            <a:endParaRPr lang="en-US" sz="1200" dirty="0">
              <a:latin typeface="Georgia" panose="02040502050405020303" pitchFamily="18" charset="0"/>
            </a:endParaRPr>
          </a:p>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Development</a:t>
            </a:r>
            <a:endParaRPr lang="en-US" sz="1200" dirty="0">
              <a:latin typeface="Georgia" panose="02040502050405020303" pitchFamily="18" charset="0"/>
            </a:endParaRPr>
          </a:p>
        </p:txBody>
      </p:sp>
      <p:sp>
        <p:nvSpPr>
          <p:cNvPr id="19" name="Text 17"/>
          <p:cNvSpPr/>
          <p:nvPr/>
        </p:nvSpPr>
        <p:spPr>
          <a:xfrm>
            <a:off x="9217152" y="2880360"/>
            <a:ext cx="457200" cy="457200"/>
          </a:xfrm>
          <a:prstGeom prst="rect">
            <a:avLst/>
          </a:prstGeom>
          <a:noFill/>
          <a:ln/>
        </p:spPr>
        <p:txBody>
          <a:bodyPr wrap="square" rtlCol="0" anchor="ctr"/>
          <a:lstStyle/>
          <a:p>
            <a:pPr marL="0" indent="0" algn="ctr">
              <a:buNone/>
            </a:pPr>
            <a:r>
              <a:rPr lang="en-US" sz="1400" b="1" dirty="0">
                <a:solidFill>
                  <a:srgbClr val="2FC8B7"/>
                </a:solidFill>
                <a:latin typeface="Georgia" panose="02040502050405020303" pitchFamily="18" charset="0"/>
                <a:ea typeface="Calibri" pitchFamily="34" charset="-122"/>
                <a:cs typeface="Calibri" pitchFamily="34" charset="-120"/>
              </a:rPr>
              <a:t>5</a:t>
            </a:r>
            <a:endParaRPr lang="en-US" sz="1400" dirty="0">
              <a:latin typeface="Georgia" panose="02040502050405020303" pitchFamily="18" charset="0"/>
            </a:endParaRPr>
          </a:p>
        </p:txBody>
      </p:sp>
      <p:sp>
        <p:nvSpPr>
          <p:cNvPr id="20" name="Shape 18"/>
          <p:cNvSpPr/>
          <p:nvPr/>
        </p:nvSpPr>
        <p:spPr>
          <a:xfrm>
            <a:off x="10012680" y="3200400"/>
            <a:ext cx="1600200" cy="1600200"/>
          </a:xfrm>
          <a:prstGeom prst="ellipse">
            <a:avLst/>
          </a:prstGeom>
          <a:solidFill>
            <a:srgbClr val="1C7293"/>
          </a:solidFill>
          <a:ln w="25400">
            <a:solidFill>
              <a:srgbClr val="FFFFFF"/>
            </a:solidFill>
            <a:prstDash val="solid"/>
          </a:ln>
        </p:spPr>
      </p:sp>
      <p:sp>
        <p:nvSpPr>
          <p:cNvPr id="21" name="Text 19"/>
          <p:cNvSpPr/>
          <p:nvPr/>
        </p:nvSpPr>
        <p:spPr>
          <a:xfrm>
            <a:off x="10085832" y="3337560"/>
            <a:ext cx="1453896" cy="132588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Business</a:t>
            </a:r>
            <a:endParaRPr lang="en-US" sz="1200" dirty="0">
              <a:latin typeface="Georgia" panose="02040502050405020303" pitchFamily="18" charset="0"/>
            </a:endParaRPr>
          </a:p>
          <a:p>
            <a:pPr marL="0" indent="0" algn="ctr">
              <a:lnSpc>
                <a:spcPct val="105000"/>
              </a:lnSpc>
              <a:buNone/>
            </a:pPr>
            <a:r>
              <a:rPr lang="en-US" sz="1200" b="1" dirty="0">
                <a:solidFill>
                  <a:srgbClr val="FFFFFF"/>
                </a:solidFill>
                <a:latin typeface="Georgia" panose="02040502050405020303" pitchFamily="18" charset="0"/>
                <a:ea typeface="Calibri" pitchFamily="34" charset="-122"/>
                <a:cs typeface="Calibri" pitchFamily="34" charset="-120"/>
              </a:rPr>
              <a:t>Insights</a:t>
            </a:r>
            <a:endParaRPr lang="en-US" sz="1200" dirty="0">
              <a:latin typeface="Georgia" panose="02040502050405020303" pitchFamily="18" charset="0"/>
            </a:endParaRPr>
          </a:p>
        </p:txBody>
      </p:sp>
      <p:sp>
        <p:nvSpPr>
          <p:cNvPr id="22" name="Text 20"/>
          <p:cNvSpPr/>
          <p:nvPr/>
        </p:nvSpPr>
        <p:spPr>
          <a:xfrm>
            <a:off x="11109960" y="2880360"/>
            <a:ext cx="457200" cy="457200"/>
          </a:xfrm>
          <a:prstGeom prst="rect">
            <a:avLst/>
          </a:prstGeom>
          <a:noFill/>
          <a:ln/>
        </p:spPr>
        <p:txBody>
          <a:bodyPr wrap="square" rtlCol="0" anchor="ctr"/>
          <a:lstStyle/>
          <a:p>
            <a:pPr marL="0" indent="0" algn="ctr">
              <a:buNone/>
            </a:pPr>
            <a:r>
              <a:rPr lang="en-US" sz="1400" b="1" dirty="0">
                <a:solidFill>
                  <a:srgbClr val="2FC8B7"/>
                </a:solidFill>
                <a:latin typeface="Georgia" panose="02040502050405020303" pitchFamily="18" charset="0"/>
                <a:ea typeface="Calibri" pitchFamily="34" charset="-122"/>
                <a:cs typeface="Calibri" pitchFamily="34" charset="-120"/>
              </a:rPr>
              <a:t>6</a:t>
            </a:r>
            <a:endParaRPr lang="en-US" sz="1400" dirty="0">
              <a:latin typeface="Georgia" panose="02040502050405020303" pitchFamily="18" charset="0"/>
            </a:endParaRPr>
          </a:p>
        </p:txBody>
      </p:sp>
      <p:sp>
        <p:nvSpPr>
          <p:cNvPr id="23" name="Text 2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9FB3C8"/>
                </a:solidFill>
                <a:latin typeface="Georgia" panose="02040502050405020303" pitchFamily="18" charset="0"/>
                <a:ea typeface="Calibri" pitchFamily="34" charset="-122"/>
                <a:cs typeface="Calibri" pitchFamily="34" charset="-120"/>
              </a:rPr>
              <a:t>4</a:t>
            </a:r>
            <a:endParaRPr lang="en-US" sz="1000" dirty="0">
              <a:latin typeface="Georgia" panose="02040502050405020303" pitchFamily="18" charset="0"/>
            </a:endParaRPr>
          </a:p>
        </p:txBody>
      </p:sp>
      <p:sp>
        <p:nvSpPr>
          <p:cNvPr id="24" name="Text 2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6C87A8"/>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Georgia" panose="02040502050405020303" pitchFamily="18" charset="0"/>
                <a:ea typeface="Calibri" pitchFamily="34" charset="-122"/>
                <a:cs typeface="Calibri" pitchFamily="34" charset="-120"/>
              </a:rPr>
              <a:t>TOOL IMPLEMENTATION</a:t>
            </a:r>
            <a:endParaRPr lang="en-US" sz="1300" dirty="0">
              <a:latin typeface="Georgia" panose="02040502050405020303" pitchFamily="18" charset="0"/>
            </a:endParaRPr>
          </a:p>
        </p:txBody>
      </p:sp>
      <p:sp>
        <p:nvSpPr>
          <p:cNvPr id="3" name="Text 1"/>
          <p:cNvSpPr/>
          <p:nvPr/>
        </p:nvSpPr>
        <p:spPr>
          <a:xfrm>
            <a:off x="548640" y="731520"/>
            <a:ext cx="7315200" cy="640080"/>
          </a:xfrm>
          <a:prstGeom prst="rect">
            <a:avLst/>
          </a:prstGeom>
          <a:noFill/>
          <a:ln/>
        </p:spPr>
        <p:txBody>
          <a:bodyPr wrap="square" rtlCol="0" anchor="ctr"/>
          <a:lstStyle/>
          <a:p>
            <a:pPr marL="0" indent="0">
              <a:buNone/>
            </a:pPr>
            <a:r>
              <a:rPr lang="en-US" sz="3200" b="1" dirty="0">
                <a:solidFill>
                  <a:srgbClr val="21295C"/>
                </a:solidFill>
                <a:latin typeface="Georgia" panose="02040502050405020303" pitchFamily="18" charset="0"/>
                <a:ea typeface="Cambria" pitchFamily="34" charset="-122"/>
                <a:cs typeface="Cambria" pitchFamily="34" charset="-120"/>
              </a:rPr>
              <a:t>SQL &amp; Excel</a:t>
            </a:r>
            <a:endParaRPr lang="en-US" sz="3200" dirty="0">
              <a:latin typeface="Georgia" panose="02040502050405020303" pitchFamily="18" charset="0"/>
            </a:endParaRPr>
          </a:p>
        </p:txBody>
      </p:sp>
      <p:sp>
        <p:nvSpPr>
          <p:cNvPr id="4" name="Shape 2"/>
          <p:cNvSpPr/>
          <p:nvPr/>
        </p:nvSpPr>
        <p:spPr>
          <a:xfrm>
            <a:off x="548640" y="1691640"/>
            <a:ext cx="5349240" cy="4663440"/>
          </a:xfrm>
          <a:prstGeom prst="roundRect">
            <a:avLst>
              <a:gd name="adj" fmla="val 1961"/>
            </a:avLst>
          </a:prstGeom>
          <a:solidFill>
            <a:srgbClr val="21295C"/>
          </a:solidFill>
          <a:ln/>
        </p:spPr>
      </p:sp>
      <p:sp>
        <p:nvSpPr>
          <p:cNvPr id="5" name="Shape 3"/>
          <p:cNvSpPr/>
          <p:nvPr/>
        </p:nvSpPr>
        <p:spPr>
          <a:xfrm>
            <a:off x="868680" y="2011680"/>
            <a:ext cx="640080" cy="640080"/>
          </a:xfrm>
          <a:prstGeom prst="ellipse">
            <a:avLst/>
          </a:prstGeom>
          <a:solidFill>
            <a:srgbClr val="1C7293"/>
          </a:solidFill>
          <a:ln/>
        </p:spPr>
      </p:sp>
      <p:sp>
        <p:nvSpPr>
          <p:cNvPr id="6" name="Text 4"/>
          <p:cNvSpPr/>
          <p:nvPr/>
        </p:nvSpPr>
        <p:spPr>
          <a:xfrm>
            <a:off x="868680" y="2011680"/>
            <a:ext cx="640080" cy="640080"/>
          </a:xfrm>
          <a:prstGeom prst="rect">
            <a:avLst/>
          </a:prstGeom>
          <a:noFill/>
          <a:ln/>
        </p:spPr>
        <p:txBody>
          <a:bodyPr wrap="square" rtlCol="0" anchor="ctr"/>
          <a:lstStyle/>
          <a:p>
            <a:pPr marL="0" indent="0" algn="ctr">
              <a:buNone/>
            </a:pPr>
            <a:r>
              <a:rPr lang="en-US" sz="1500" b="1" dirty="0">
                <a:solidFill>
                  <a:srgbClr val="FFFFFF"/>
                </a:solidFill>
                <a:latin typeface="Georgia" panose="02040502050405020303" pitchFamily="18" charset="0"/>
                <a:ea typeface="Calibri" pitchFamily="34" charset="-122"/>
                <a:cs typeface="Calibri" pitchFamily="34" charset="-120"/>
              </a:rPr>
              <a:t>SQL</a:t>
            </a:r>
            <a:endParaRPr lang="en-US" sz="1500" dirty="0">
              <a:latin typeface="Georgia" panose="02040502050405020303" pitchFamily="18" charset="0"/>
            </a:endParaRPr>
          </a:p>
        </p:txBody>
      </p:sp>
      <p:sp>
        <p:nvSpPr>
          <p:cNvPr id="7" name="Text 5"/>
          <p:cNvSpPr/>
          <p:nvPr/>
        </p:nvSpPr>
        <p:spPr>
          <a:xfrm>
            <a:off x="1691640" y="2057400"/>
            <a:ext cx="3657600" cy="548640"/>
          </a:xfrm>
          <a:prstGeom prst="rect">
            <a:avLst/>
          </a:prstGeom>
          <a:noFill/>
          <a:ln/>
        </p:spPr>
        <p:txBody>
          <a:bodyPr wrap="square" rtlCol="0" anchor="ctr"/>
          <a:lstStyle/>
          <a:p>
            <a:pPr marL="0" indent="0">
              <a:buNone/>
            </a:pPr>
            <a:r>
              <a:rPr lang="en-US" sz="2200" b="1" dirty="0">
                <a:solidFill>
                  <a:srgbClr val="FFFFFF"/>
                </a:solidFill>
                <a:latin typeface="Georgia" panose="02040502050405020303" pitchFamily="18" charset="0"/>
                <a:ea typeface="Cambria" pitchFamily="34" charset="-122"/>
                <a:cs typeface="Cambria" pitchFamily="34" charset="-120"/>
              </a:rPr>
              <a:t>SQL</a:t>
            </a:r>
            <a:endParaRPr lang="en-US" sz="2200" dirty="0">
              <a:latin typeface="Georgia" panose="02040502050405020303" pitchFamily="18" charset="0"/>
            </a:endParaRPr>
          </a:p>
        </p:txBody>
      </p:sp>
      <p:sp>
        <p:nvSpPr>
          <p:cNvPr id="8" name="Shape 6"/>
          <p:cNvSpPr/>
          <p:nvPr/>
        </p:nvSpPr>
        <p:spPr>
          <a:xfrm>
            <a:off x="868680" y="2889504"/>
            <a:ext cx="91440" cy="91440"/>
          </a:xfrm>
          <a:prstGeom prst="ellipse">
            <a:avLst/>
          </a:prstGeom>
          <a:solidFill>
            <a:srgbClr val="2FC8B7"/>
          </a:solidFill>
          <a:ln/>
        </p:spPr>
      </p:sp>
      <p:sp>
        <p:nvSpPr>
          <p:cNvPr id="9" name="Text 7"/>
          <p:cNvSpPr/>
          <p:nvPr/>
        </p:nvSpPr>
        <p:spPr>
          <a:xfrm>
            <a:off x="1097280" y="27249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Imported Adventure Works dataset</a:t>
            </a:r>
            <a:endParaRPr lang="en-US" sz="1300" dirty="0">
              <a:latin typeface="Georgia" panose="02040502050405020303" pitchFamily="18" charset="0"/>
            </a:endParaRPr>
          </a:p>
        </p:txBody>
      </p:sp>
      <p:sp>
        <p:nvSpPr>
          <p:cNvPr id="10" name="Shape 8"/>
          <p:cNvSpPr/>
          <p:nvPr/>
        </p:nvSpPr>
        <p:spPr>
          <a:xfrm>
            <a:off x="868680" y="3575304"/>
            <a:ext cx="91440" cy="91440"/>
          </a:xfrm>
          <a:prstGeom prst="ellipse">
            <a:avLst/>
          </a:prstGeom>
          <a:solidFill>
            <a:srgbClr val="2FC8B7"/>
          </a:solidFill>
          <a:ln/>
        </p:spPr>
      </p:sp>
      <p:sp>
        <p:nvSpPr>
          <p:cNvPr id="11" name="Text 9"/>
          <p:cNvSpPr/>
          <p:nvPr/>
        </p:nvSpPr>
        <p:spPr>
          <a:xfrm>
            <a:off x="1097280" y="34107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Combined sales data using UNION</a:t>
            </a:r>
            <a:endParaRPr lang="en-US" sz="1300" dirty="0">
              <a:latin typeface="Georgia" panose="02040502050405020303" pitchFamily="18" charset="0"/>
            </a:endParaRPr>
          </a:p>
        </p:txBody>
      </p:sp>
      <p:sp>
        <p:nvSpPr>
          <p:cNvPr id="12" name="Shape 10"/>
          <p:cNvSpPr/>
          <p:nvPr/>
        </p:nvSpPr>
        <p:spPr>
          <a:xfrm>
            <a:off x="868680" y="4261104"/>
            <a:ext cx="91440" cy="91440"/>
          </a:xfrm>
          <a:prstGeom prst="ellipse">
            <a:avLst/>
          </a:prstGeom>
          <a:solidFill>
            <a:srgbClr val="2FC8B7"/>
          </a:solidFill>
          <a:ln/>
        </p:spPr>
      </p:sp>
      <p:sp>
        <p:nvSpPr>
          <p:cNvPr id="13" name="Text 11"/>
          <p:cNvSpPr/>
          <p:nvPr/>
        </p:nvSpPr>
        <p:spPr>
          <a:xfrm>
            <a:off x="1097280" y="40965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Performed JOIN operations to retrieve Product and Customer information</a:t>
            </a:r>
            <a:endParaRPr lang="en-US" sz="1300" dirty="0">
              <a:latin typeface="Georgia" panose="02040502050405020303" pitchFamily="18" charset="0"/>
            </a:endParaRPr>
          </a:p>
        </p:txBody>
      </p:sp>
      <p:sp>
        <p:nvSpPr>
          <p:cNvPr id="14" name="Shape 12"/>
          <p:cNvSpPr/>
          <p:nvPr/>
        </p:nvSpPr>
        <p:spPr>
          <a:xfrm>
            <a:off x="868680" y="4946904"/>
            <a:ext cx="91440" cy="91440"/>
          </a:xfrm>
          <a:prstGeom prst="ellipse">
            <a:avLst/>
          </a:prstGeom>
          <a:solidFill>
            <a:srgbClr val="2FC8B7"/>
          </a:solidFill>
          <a:ln/>
        </p:spPr>
      </p:sp>
      <p:sp>
        <p:nvSpPr>
          <p:cNvPr id="15" name="Text 13"/>
          <p:cNvSpPr/>
          <p:nvPr/>
        </p:nvSpPr>
        <p:spPr>
          <a:xfrm>
            <a:off x="1097280" y="47823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Created Date, Sales Amount, Production Cost and Profit calculations</a:t>
            </a:r>
            <a:endParaRPr lang="en-US" sz="1300" dirty="0">
              <a:latin typeface="Georgia" panose="02040502050405020303" pitchFamily="18" charset="0"/>
            </a:endParaRPr>
          </a:p>
        </p:txBody>
      </p:sp>
      <p:sp>
        <p:nvSpPr>
          <p:cNvPr id="16" name="Shape 14"/>
          <p:cNvSpPr/>
          <p:nvPr/>
        </p:nvSpPr>
        <p:spPr>
          <a:xfrm>
            <a:off x="868680" y="5632704"/>
            <a:ext cx="91440" cy="91440"/>
          </a:xfrm>
          <a:prstGeom prst="ellipse">
            <a:avLst/>
          </a:prstGeom>
          <a:solidFill>
            <a:srgbClr val="2FC8B7"/>
          </a:solidFill>
          <a:ln/>
        </p:spPr>
      </p:sp>
      <p:sp>
        <p:nvSpPr>
          <p:cNvPr id="17" name="Text 15"/>
          <p:cNvSpPr/>
          <p:nvPr/>
        </p:nvSpPr>
        <p:spPr>
          <a:xfrm>
            <a:off x="1097280" y="54681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Generated sales reports and business insights using SQL queries</a:t>
            </a:r>
            <a:endParaRPr lang="en-US" sz="1300" dirty="0">
              <a:latin typeface="Georgia" panose="02040502050405020303" pitchFamily="18" charset="0"/>
            </a:endParaRPr>
          </a:p>
        </p:txBody>
      </p:sp>
      <p:sp>
        <p:nvSpPr>
          <p:cNvPr id="18" name="Shape 16"/>
          <p:cNvSpPr/>
          <p:nvPr/>
        </p:nvSpPr>
        <p:spPr>
          <a:xfrm>
            <a:off x="6217920" y="1691640"/>
            <a:ext cx="5349240" cy="4663440"/>
          </a:xfrm>
          <a:prstGeom prst="roundRect">
            <a:avLst>
              <a:gd name="adj" fmla="val 1961"/>
            </a:avLst>
          </a:prstGeom>
          <a:solidFill>
            <a:srgbClr val="F4F7F9"/>
          </a:solidFill>
          <a:ln w="12700">
            <a:solidFill>
              <a:srgbClr val="065A82"/>
            </a:solidFill>
            <a:prstDash val="solid"/>
          </a:ln>
        </p:spPr>
      </p:sp>
      <p:sp>
        <p:nvSpPr>
          <p:cNvPr id="19" name="Shape 17"/>
          <p:cNvSpPr/>
          <p:nvPr/>
        </p:nvSpPr>
        <p:spPr>
          <a:xfrm>
            <a:off x="6537960" y="2011680"/>
            <a:ext cx="640080" cy="640080"/>
          </a:xfrm>
          <a:prstGeom prst="ellipse">
            <a:avLst/>
          </a:prstGeom>
          <a:solidFill>
            <a:srgbClr val="065A82"/>
          </a:solidFill>
          <a:ln/>
        </p:spPr>
      </p:sp>
      <p:sp>
        <p:nvSpPr>
          <p:cNvPr id="20" name="Text 18"/>
          <p:cNvSpPr/>
          <p:nvPr/>
        </p:nvSpPr>
        <p:spPr>
          <a:xfrm>
            <a:off x="6537960" y="2011680"/>
            <a:ext cx="640080" cy="640080"/>
          </a:xfrm>
          <a:prstGeom prst="rect">
            <a:avLst/>
          </a:prstGeom>
          <a:noFill/>
          <a:ln/>
        </p:spPr>
        <p:txBody>
          <a:bodyPr wrap="square" rtlCol="0" anchor="ctr"/>
          <a:lstStyle/>
          <a:p>
            <a:pPr marL="0" indent="0" algn="ctr">
              <a:buNone/>
            </a:pPr>
            <a:r>
              <a:rPr lang="en-US" sz="1600" b="1" dirty="0">
                <a:solidFill>
                  <a:srgbClr val="FFFFFF"/>
                </a:solidFill>
                <a:latin typeface="Georgia" panose="02040502050405020303" pitchFamily="18" charset="0"/>
                <a:ea typeface="Calibri" pitchFamily="34" charset="-122"/>
                <a:cs typeface="Calibri" pitchFamily="34" charset="-120"/>
              </a:rPr>
              <a:t>XL</a:t>
            </a:r>
            <a:endParaRPr lang="en-US" sz="1600" dirty="0">
              <a:latin typeface="Georgia" panose="02040502050405020303" pitchFamily="18" charset="0"/>
            </a:endParaRPr>
          </a:p>
        </p:txBody>
      </p:sp>
      <p:sp>
        <p:nvSpPr>
          <p:cNvPr id="21" name="Text 19"/>
          <p:cNvSpPr/>
          <p:nvPr/>
        </p:nvSpPr>
        <p:spPr>
          <a:xfrm>
            <a:off x="7360920" y="2057400"/>
            <a:ext cx="3657600" cy="548640"/>
          </a:xfrm>
          <a:prstGeom prst="rect">
            <a:avLst/>
          </a:prstGeom>
          <a:noFill/>
          <a:ln/>
        </p:spPr>
        <p:txBody>
          <a:bodyPr wrap="square" rtlCol="0" anchor="ctr"/>
          <a:lstStyle/>
          <a:p>
            <a:pPr marL="0" indent="0">
              <a:buNone/>
            </a:pPr>
            <a:r>
              <a:rPr lang="en-US" sz="2200" b="1" dirty="0">
                <a:solidFill>
                  <a:srgbClr val="21295C"/>
                </a:solidFill>
                <a:latin typeface="Georgia" panose="02040502050405020303" pitchFamily="18" charset="0"/>
                <a:ea typeface="Cambria" pitchFamily="34" charset="-122"/>
                <a:cs typeface="Cambria" pitchFamily="34" charset="-120"/>
              </a:rPr>
              <a:t>Excel</a:t>
            </a:r>
            <a:endParaRPr lang="en-US" sz="2200" dirty="0">
              <a:latin typeface="Georgia" panose="02040502050405020303" pitchFamily="18" charset="0"/>
            </a:endParaRPr>
          </a:p>
        </p:txBody>
      </p:sp>
      <p:sp>
        <p:nvSpPr>
          <p:cNvPr id="22" name="Shape 20"/>
          <p:cNvSpPr/>
          <p:nvPr/>
        </p:nvSpPr>
        <p:spPr>
          <a:xfrm>
            <a:off x="6537960" y="2889504"/>
            <a:ext cx="91440" cy="91440"/>
          </a:xfrm>
          <a:prstGeom prst="ellipse">
            <a:avLst/>
          </a:prstGeom>
          <a:solidFill>
            <a:srgbClr val="1C7293"/>
          </a:solidFill>
          <a:ln/>
        </p:spPr>
      </p:sp>
      <p:sp>
        <p:nvSpPr>
          <p:cNvPr id="23" name="Text 21"/>
          <p:cNvSpPr/>
          <p:nvPr/>
        </p:nvSpPr>
        <p:spPr>
          <a:xfrm>
            <a:off x="6766560" y="27249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Imported Adventure Works dataset into Excel</a:t>
            </a:r>
            <a:endParaRPr lang="en-US" sz="1300" dirty="0">
              <a:latin typeface="Georgia" panose="02040502050405020303" pitchFamily="18" charset="0"/>
            </a:endParaRPr>
          </a:p>
        </p:txBody>
      </p:sp>
      <p:sp>
        <p:nvSpPr>
          <p:cNvPr id="24" name="Shape 22"/>
          <p:cNvSpPr/>
          <p:nvPr/>
        </p:nvSpPr>
        <p:spPr>
          <a:xfrm>
            <a:off x="6537960" y="3575304"/>
            <a:ext cx="91440" cy="91440"/>
          </a:xfrm>
          <a:prstGeom prst="ellipse">
            <a:avLst/>
          </a:prstGeom>
          <a:solidFill>
            <a:srgbClr val="1C7293"/>
          </a:solidFill>
          <a:ln/>
        </p:spPr>
      </p:sp>
      <p:sp>
        <p:nvSpPr>
          <p:cNvPr id="25" name="Text 23"/>
          <p:cNvSpPr/>
          <p:nvPr/>
        </p:nvSpPr>
        <p:spPr>
          <a:xfrm>
            <a:off x="6766560" y="34107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Cleaned and transformed data using Power Query</a:t>
            </a:r>
            <a:endParaRPr lang="en-US" sz="1300" dirty="0">
              <a:latin typeface="Georgia" panose="02040502050405020303" pitchFamily="18" charset="0"/>
            </a:endParaRPr>
          </a:p>
        </p:txBody>
      </p:sp>
      <p:sp>
        <p:nvSpPr>
          <p:cNvPr id="26" name="Shape 24"/>
          <p:cNvSpPr/>
          <p:nvPr/>
        </p:nvSpPr>
        <p:spPr>
          <a:xfrm>
            <a:off x="6537960" y="4261104"/>
            <a:ext cx="91440" cy="91440"/>
          </a:xfrm>
          <a:prstGeom prst="ellipse">
            <a:avLst/>
          </a:prstGeom>
          <a:solidFill>
            <a:srgbClr val="1C7293"/>
          </a:solidFill>
          <a:ln/>
        </p:spPr>
      </p:sp>
      <p:sp>
        <p:nvSpPr>
          <p:cNvPr id="27" name="Text 25"/>
          <p:cNvSpPr/>
          <p:nvPr/>
        </p:nvSpPr>
        <p:spPr>
          <a:xfrm>
            <a:off x="6766560" y="40965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Created calculated fields and business metrics</a:t>
            </a:r>
            <a:endParaRPr lang="en-US" sz="1300" dirty="0">
              <a:latin typeface="Georgia" panose="02040502050405020303" pitchFamily="18" charset="0"/>
            </a:endParaRPr>
          </a:p>
        </p:txBody>
      </p:sp>
      <p:sp>
        <p:nvSpPr>
          <p:cNvPr id="28" name="Shape 26"/>
          <p:cNvSpPr/>
          <p:nvPr/>
        </p:nvSpPr>
        <p:spPr>
          <a:xfrm>
            <a:off x="6537960" y="4946904"/>
            <a:ext cx="91440" cy="91440"/>
          </a:xfrm>
          <a:prstGeom prst="ellipse">
            <a:avLst/>
          </a:prstGeom>
          <a:solidFill>
            <a:srgbClr val="1C7293"/>
          </a:solidFill>
          <a:ln/>
        </p:spPr>
      </p:sp>
      <p:sp>
        <p:nvSpPr>
          <p:cNvPr id="29" name="Text 27"/>
          <p:cNvSpPr/>
          <p:nvPr/>
        </p:nvSpPr>
        <p:spPr>
          <a:xfrm>
            <a:off x="6766560" y="47823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Built Pivot Tables, KPI Dashboard and interactive charts</a:t>
            </a:r>
            <a:endParaRPr lang="en-US" sz="1300" dirty="0">
              <a:latin typeface="Georgia" panose="02040502050405020303" pitchFamily="18" charset="0"/>
            </a:endParaRPr>
          </a:p>
        </p:txBody>
      </p:sp>
      <p:sp>
        <p:nvSpPr>
          <p:cNvPr id="30" name="Shape 28"/>
          <p:cNvSpPr/>
          <p:nvPr/>
        </p:nvSpPr>
        <p:spPr>
          <a:xfrm>
            <a:off x="6537960" y="5632704"/>
            <a:ext cx="91440" cy="91440"/>
          </a:xfrm>
          <a:prstGeom prst="ellipse">
            <a:avLst/>
          </a:prstGeom>
          <a:solidFill>
            <a:srgbClr val="1C7293"/>
          </a:solidFill>
          <a:ln/>
        </p:spPr>
      </p:sp>
      <p:sp>
        <p:nvSpPr>
          <p:cNvPr id="31" name="Text 29"/>
          <p:cNvSpPr/>
          <p:nvPr/>
        </p:nvSpPr>
        <p:spPr>
          <a:xfrm>
            <a:off x="6766560" y="54681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Analyzed Sales, Products, Customers and Regions</a:t>
            </a:r>
            <a:endParaRPr lang="en-US" sz="1300" dirty="0">
              <a:latin typeface="Georgia" panose="02040502050405020303" pitchFamily="18" charset="0"/>
            </a:endParaRPr>
          </a:p>
        </p:txBody>
      </p:sp>
      <p:sp>
        <p:nvSpPr>
          <p:cNvPr id="32" name="Text 3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5</a:t>
            </a:r>
            <a:endParaRPr lang="en-US" sz="1000" dirty="0">
              <a:latin typeface="Georgia" panose="02040502050405020303" pitchFamily="18" charset="0"/>
            </a:endParaRPr>
          </a:p>
        </p:txBody>
      </p:sp>
      <p:sp>
        <p:nvSpPr>
          <p:cNvPr id="33" name="Text 31"/>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Georgia" panose="02040502050405020303" pitchFamily="18" charset="0"/>
                <a:ea typeface="Calibri" pitchFamily="34" charset="-122"/>
                <a:cs typeface="Calibri" pitchFamily="34" charset="-120"/>
              </a:rPr>
              <a:t>TOOL IMPLEMENTATION</a:t>
            </a:r>
            <a:endParaRPr lang="en-US" sz="1300" dirty="0">
              <a:latin typeface="Georgia" panose="02040502050405020303" pitchFamily="18" charset="0"/>
            </a:endParaRPr>
          </a:p>
        </p:txBody>
      </p:sp>
      <p:sp>
        <p:nvSpPr>
          <p:cNvPr id="3" name="Text 1"/>
          <p:cNvSpPr/>
          <p:nvPr/>
        </p:nvSpPr>
        <p:spPr>
          <a:xfrm>
            <a:off x="548640" y="731520"/>
            <a:ext cx="7315200" cy="640080"/>
          </a:xfrm>
          <a:prstGeom prst="rect">
            <a:avLst/>
          </a:prstGeom>
          <a:noFill/>
          <a:ln/>
        </p:spPr>
        <p:txBody>
          <a:bodyPr wrap="square" rtlCol="0" anchor="ctr"/>
          <a:lstStyle/>
          <a:p>
            <a:pPr marL="0" indent="0">
              <a:buNone/>
            </a:pPr>
            <a:r>
              <a:rPr lang="en-US" sz="3200" b="1" dirty="0">
                <a:solidFill>
                  <a:srgbClr val="21295C"/>
                </a:solidFill>
                <a:latin typeface="Georgia" panose="02040502050405020303" pitchFamily="18" charset="0"/>
                <a:ea typeface="Cambria" pitchFamily="34" charset="-122"/>
                <a:cs typeface="Cambria" pitchFamily="34" charset="-120"/>
              </a:rPr>
              <a:t>Tableau &amp; Power BI</a:t>
            </a:r>
            <a:endParaRPr lang="en-US" sz="3200" dirty="0">
              <a:latin typeface="Georgia" panose="02040502050405020303" pitchFamily="18" charset="0"/>
            </a:endParaRPr>
          </a:p>
        </p:txBody>
      </p:sp>
      <p:sp>
        <p:nvSpPr>
          <p:cNvPr id="4" name="Shape 2"/>
          <p:cNvSpPr/>
          <p:nvPr/>
        </p:nvSpPr>
        <p:spPr>
          <a:xfrm>
            <a:off x="548640" y="1691640"/>
            <a:ext cx="5349240" cy="4663440"/>
          </a:xfrm>
          <a:prstGeom prst="roundRect">
            <a:avLst>
              <a:gd name="adj" fmla="val 1961"/>
            </a:avLst>
          </a:prstGeom>
          <a:solidFill>
            <a:srgbClr val="F4F7F9"/>
          </a:solidFill>
          <a:ln w="12700">
            <a:solidFill>
              <a:srgbClr val="065A82"/>
            </a:solidFill>
            <a:prstDash val="solid"/>
          </a:ln>
        </p:spPr>
      </p:sp>
      <p:sp>
        <p:nvSpPr>
          <p:cNvPr id="5" name="Shape 3"/>
          <p:cNvSpPr/>
          <p:nvPr/>
        </p:nvSpPr>
        <p:spPr>
          <a:xfrm>
            <a:off x="868680" y="2011680"/>
            <a:ext cx="640080" cy="640080"/>
          </a:xfrm>
          <a:prstGeom prst="ellipse">
            <a:avLst/>
          </a:prstGeom>
          <a:solidFill>
            <a:srgbClr val="065A82"/>
          </a:solidFill>
          <a:ln/>
        </p:spPr>
      </p:sp>
      <p:sp>
        <p:nvSpPr>
          <p:cNvPr id="6" name="Text 4"/>
          <p:cNvSpPr/>
          <p:nvPr/>
        </p:nvSpPr>
        <p:spPr>
          <a:xfrm>
            <a:off x="868680" y="2011680"/>
            <a:ext cx="640080" cy="640080"/>
          </a:xfrm>
          <a:prstGeom prst="rect">
            <a:avLst/>
          </a:prstGeom>
          <a:noFill/>
          <a:ln/>
        </p:spPr>
        <p:txBody>
          <a:bodyPr wrap="square" rtlCol="0" anchor="ctr"/>
          <a:lstStyle/>
          <a:p>
            <a:pPr marL="0" indent="0" algn="ctr">
              <a:buNone/>
            </a:pPr>
            <a:r>
              <a:rPr lang="en-US" sz="1600" b="1" dirty="0">
                <a:solidFill>
                  <a:srgbClr val="FFFFFF"/>
                </a:solidFill>
                <a:latin typeface="Georgia" panose="02040502050405020303" pitchFamily="18" charset="0"/>
                <a:ea typeface="Calibri" pitchFamily="34" charset="-122"/>
                <a:cs typeface="Calibri" pitchFamily="34" charset="-120"/>
              </a:rPr>
              <a:t>TB</a:t>
            </a:r>
            <a:endParaRPr lang="en-US" sz="1600" dirty="0">
              <a:latin typeface="Georgia" panose="02040502050405020303" pitchFamily="18" charset="0"/>
            </a:endParaRPr>
          </a:p>
        </p:txBody>
      </p:sp>
      <p:sp>
        <p:nvSpPr>
          <p:cNvPr id="7" name="Text 5"/>
          <p:cNvSpPr/>
          <p:nvPr/>
        </p:nvSpPr>
        <p:spPr>
          <a:xfrm>
            <a:off x="1691640" y="2057400"/>
            <a:ext cx="3657600" cy="548640"/>
          </a:xfrm>
          <a:prstGeom prst="rect">
            <a:avLst/>
          </a:prstGeom>
          <a:noFill/>
          <a:ln/>
        </p:spPr>
        <p:txBody>
          <a:bodyPr wrap="square" rtlCol="0" anchor="ctr"/>
          <a:lstStyle/>
          <a:p>
            <a:pPr marL="0" indent="0">
              <a:buNone/>
            </a:pPr>
            <a:r>
              <a:rPr lang="en-US" sz="2200" b="1" dirty="0">
                <a:solidFill>
                  <a:srgbClr val="21295C"/>
                </a:solidFill>
                <a:latin typeface="Georgia" panose="02040502050405020303" pitchFamily="18" charset="0"/>
                <a:ea typeface="Cambria" pitchFamily="34" charset="-122"/>
                <a:cs typeface="Cambria" pitchFamily="34" charset="-120"/>
              </a:rPr>
              <a:t>Tableau</a:t>
            </a:r>
            <a:endParaRPr lang="en-US" sz="2200" dirty="0">
              <a:latin typeface="Georgia" panose="02040502050405020303" pitchFamily="18" charset="0"/>
            </a:endParaRPr>
          </a:p>
        </p:txBody>
      </p:sp>
      <p:sp>
        <p:nvSpPr>
          <p:cNvPr id="8" name="Shape 6"/>
          <p:cNvSpPr/>
          <p:nvPr/>
        </p:nvSpPr>
        <p:spPr>
          <a:xfrm>
            <a:off x="868680" y="2889504"/>
            <a:ext cx="91440" cy="91440"/>
          </a:xfrm>
          <a:prstGeom prst="ellipse">
            <a:avLst/>
          </a:prstGeom>
          <a:solidFill>
            <a:srgbClr val="1C7293"/>
          </a:solidFill>
          <a:ln/>
        </p:spPr>
      </p:sp>
      <p:sp>
        <p:nvSpPr>
          <p:cNvPr id="9" name="Text 7"/>
          <p:cNvSpPr/>
          <p:nvPr/>
        </p:nvSpPr>
        <p:spPr>
          <a:xfrm>
            <a:off x="1097280" y="27249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Connected Adventure Works dataset in Tableau</a:t>
            </a:r>
            <a:endParaRPr lang="en-US" sz="1300" dirty="0">
              <a:latin typeface="Georgia" panose="02040502050405020303" pitchFamily="18" charset="0"/>
            </a:endParaRPr>
          </a:p>
        </p:txBody>
      </p:sp>
      <p:sp>
        <p:nvSpPr>
          <p:cNvPr id="10" name="Shape 8"/>
          <p:cNvSpPr/>
          <p:nvPr/>
        </p:nvSpPr>
        <p:spPr>
          <a:xfrm>
            <a:off x="868680" y="3575304"/>
            <a:ext cx="91440" cy="91440"/>
          </a:xfrm>
          <a:prstGeom prst="ellipse">
            <a:avLst/>
          </a:prstGeom>
          <a:solidFill>
            <a:srgbClr val="1C7293"/>
          </a:solidFill>
          <a:ln/>
        </p:spPr>
      </p:sp>
      <p:sp>
        <p:nvSpPr>
          <p:cNvPr id="11" name="Text 9"/>
          <p:cNvSpPr/>
          <p:nvPr/>
        </p:nvSpPr>
        <p:spPr>
          <a:xfrm>
            <a:off x="1097280" y="34107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Prepared data and created calculated fields</a:t>
            </a:r>
            <a:endParaRPr lang="en-US" sz="1300" dirty="0">
              <a:latin typeface="Georgia" panose="02040502050405020303" pitchFamily="18" charset="0"/>
            </a:endParaRPr>
          </a:p>
        </p:txBody>
      </p:sp>
      <p:sp>
        <p:nvSpPr>
          <p:cNvPr id="12" name="Shape 10"/>
          <p:cNvSpPr/>
          <p:nvPr/>
        </p:nvSpPr>
        <p:spPr>
          <a:xfrm>
            <a:off x="868680" y="4261104"/>
            <a:ext cx="91440" cy="91440"/>
          </a:xfrm>
          <a:prstGeom prst="ellipse">
            <a:avLst/>
          </a:prstGeom>
          <a:solidFill>
            <a:srgbClr val="1C7293"/>
          </a:solidFill>
          <a:ln/>
        </p:spPr>
      </p:sp>
      <p:sp>
        <p:nvSpPr>
          <p:cNvPr id="13" name="Text 11"/>
          <p:cNvSpPr/>
          <p:nvPr/>
        </p:nvSpPr>
        <p:spPr>
          <a:xfrm>
            <a:off x="1097280" y="40965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Developed interactive dashboards with filters and parameters</a:t>
            </a:r>
            <a:endParaRPr lang="en-US" sz="1300" dirty="0">
              <a:latin typeface="Georgia" panose="02040502050405020303" pitchFamily="18" charset="0"/>
            </a:endParaRPr>
          </a:p>
        </p:txBody>
      </p:sp>
      <p:sp>
        <p:nvSpPr>
          <p:cNvPr id="14" name="Shape 12"/>
          <p:cNvSpPr/>
          <p:nvPr/>
        </p:nvSpPr>
        <p:spPr>
          <a:xfrm>
            <a:off x="868680" y="4946904"/>
            <a:ext cx="91440" cy="91440"/>
          </a:xfrm>
          <a:prstGeom prst="ellipse">
            <a:avLst/>
          </a:prstGeom>
          <a:solidFill>
            <a:srgbClr val="1C7293"/>
          </a:solidFill>
          <a:ln/>
        </p:spPr>
      </p:sp>
      <p:sp>
        <p:nvSpPr>
          <p:cNvPr id="15" name="Text 13"/>
          <p:cNvSpPr/>
          <p:nvPr/>
        </p:nvSpPr>
        <p:spPr>
          <a:xfrm>
            <a:off x="1097280" y="47823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Created visualizations for Sales, Products, Customers and Regions</a:t>
            </a:r>
            <a:endParaRPr lang="en-US" sz="1300" dirty="0">
              <a:latin typeface="Georgia" panose="02040502050405020303" pitchFamily="18" charset="0"/>
            </a:endParaRPr>
          </a:p>
        </p:txBody>
      </p:sp>
      <p:sp>
        <p:nvSpPr>
          <p:cNvPr id="16" name="Shape 14"/>
          <p:cNvSpPr/>
          <p:nvPr/>
        </p:nvSpPr>
        <p:spPr>
          <a:xfrm>
            <a:off x="868680" y="5632704"/>
            <a:ext cx="91440" cy="91440"/>
          </a:xfrm>
          <a:prstGeom prst="ellipse">
            <a:avLst/>
          </a:prstGeom>
          <a:solidFill>
            <a:srgbClr val="1C7293"/>
          </a:solidFill>
          <a:ln/>
        </p:spPr>
      </p:sp>
      <p:sp>
        <p:nvSpPr>
          <p:cNvPr id="17" name="Text 15"/>
          <p:cNvSpPr/>
          <p:nvPr/>
        </p:nvSpPr>
        <p:spPr>
          <a:xfrm>
            <a:off x="1097280" y="5468112"/>
            <a:ext cx="4480560" cy="594360"/>
          </a:xfrm>
          <a:prstGeom prst="rect">
            <a:avLst/>
          </a:prstGeom>
          <a:noFill/>
          <a:ln/>
        </p:spPr>
        <p:txBody>
          <a:bodyPr wrap="square" rtlCol="0" anchor="ctr"/>
          <a:lstStyle/>
          <a:p>
            <a:pPr marL="0" indent="0">
              <a:lnSpc>
                <a:spcPct val="115000"/>
              </a:lnSpc>
              <a:buNone/>
            </a:pPr>
            <a:r>
              <a:rPr lang="en-US" sz="1300" dirty="0">
                <a:solidFill>
                  <a:srgbClr val="1B2430"/>
                </a:solidFill>
                <a:latin typeface="Georgia" panose="02040502050405020303" pitchFamily="18" charset="0"/>
                <a:ea typeface="Calibri" pitchFamily="34" charset="-122"/>
                <a:cs typeface="Calibri" pitchFamily="34" charset="-120"/>
              </a:rPr>
              <a:t>Generated business insights through dashboards</a:t>
            </a:r>
            <a:endParaRPr lang="en-US" sz="1300" dirty="0">
              <a:latin typeface="Georgia" panose="02040502050405020303" pitchFamily="18" charset="0"/>
            </a:endParaRPr>
          </a:p>
        </p:txBody>
      </p:sp>
      <p:sp>
        <p:nvSpPr>
          <p:cNvPr id="18" name="Shape 16"/>
          <p:cNvSpPr/>
          <p:nvPr/>
        </p:nvSpPr>
        <p:spPr>
          <a:xfrm>
            <a:off x="6217920" y="1691640"/>
            <a:ext cx="5349240" cy="4663440"/>
          </a:xfrm>
          <a:prstGeom prst="roundRect">
            <a:avLst>
              <a:gd name="adj" fmla="val 1961"/>
            </a:avLst>
          </a:prstGeom>
          <a:solidFill>
            <a:srgbClr val="21295C"/>
          </a:solidFill>
          <a:ln/>
        </p:spPr>
      </p:sp>
      <p:sp>
        <p:nvSpPr>
          <p:cNvPr id="19" name="Shape 17"/>
          <p:cNvSpPr/>
          <p:nvPr/>
        </p:nvSpPr>
        <p:spPr>
          <a:xfrm>
            <a:off x="6537960" y="2011680"/>
            <a:ext cx="640080" cy="640080"/>
          </a:xfrm>
          <a:prstGeom prst="ellipse">
            <a:avLst/>
          </a:prstGeom>
          <a:solidFill>
            <a:srgbClr val="1C7293"/>
          </a:solidFill>
          <a:ln/>
        </p:spPr>
      </p:sp>
      <p:sp>
        <p:nvSpPr>
          <p:cNvPr id="20" name="Text 18"/>
          <p:cNvSpPr/>
          <p:nvPr/>
        </p:nvSpPr>
        <p:spPr>
          <a:xfrm>
            <a:off x="6537960" y="2011680"/>
            <a:ext cx="640080" cy="640080"/>
          </a:xfrm>
          <a:prstGeom prst="rect">
            <a:avLst/>
          </a:prstGeom>
          <a:noFill/>
          <a:ln/>
        </p:spPr>
        <p:txBody>
          <a:bodyPr wrap="square" rtlCol="0" anchor="ctr"/>
          <a:lstStyle/>
          <a:p>
            <a:pPr marL="0" indent="0" algn="ctr">
              <a:buNone/>
            </a:pPr>
            <a:r>
              <a:rPr lang="en-US" sz="1300" b="1" dirty="0">
                <a:solidFill>
                  <a:srgbClr val="FFFFFF"/>
                </a:solidFill>
                <a:latin typeface="Georgia" panose="02040502050405020303" pitchFamily="18" charset="0"/>
                <a:ea typeface="Calibri" pitchFamily="34" charset="-122"/>
                <a:cs typeface="Calibri" pitchFamily="34" charset="-120"/>
              </a:rPr>
              <a:t>PBI</a:t>
            </a:r>
            <a:endParaRPr lang="en-US" sz="1300" dirty="0">
              <a:latin typeface="Georgia" panose="02040502050405020303" pitchFamily="18" charset="0"/>
            </a:endParaRPr>
          </a:p>
        </p:txBody>
      </p:sp>
      <p:sp>
        <p:nvSpPr>
          <p:cNvPr id="21" name="Text 19"/>
          <p:cNvSpPr/>
          <p:nvPr/>
        </p:nvSpPr>
        <p:spPr>
          <a:xfrm>
            <a:off x="7360920" y="2057400"/>
            <a:ext cx="3657600" cy="548640"/>
          </a:xfrm>
          <a:prstGeom prst="rect">
            <a:avLst/>
          </a:prstGeom>
          <a:noFill/>
          <a:ln/>
        </p:spPr>
        <p:txBody>
          <a:bodyPr wrap="square" rtlCol="0" anchor="ctr"/>
          <a:lstStyle/>
          <a:p>
            <a:pPr marL="0" indent="0">
              <a:buNone/>
            </a:pPr>
            <a:r>
              <a:rPr lang="en-US" sz="2200" b="1" dirty="0">
                <a:solidFill>
                  <a:srgbClr val="FFFFFF"/>
                </a:solidFill>
                <a:latin typeface="Georgia" panose="02040502050405020303" pitchFamily="18" charset="0"/>
                <a:ea typeface="Cambria" pitchFamily="34" charset="-122"/>
                <a:cs typeface="Cambria" pitchFamily="34" charset="-120"/>
              </a:rPr>
              <a:t>Power BI</a:t>
            </a:r>
            <a:endParaRPr lang="en-US" sz="2200" dirty="0">
              <a:latin typeface="Georgia" panose="02040502050405020303" pitchFamily="18" charset="0"/>
            </a:endParaRPr>
          </a:p>
        </p:txBody>
      </p:sp>
      <p:sp>
        <p:nvSpPr>
          <p:cNvPr id="22" name="Shape 20"/>
          <p:cNvSpPr/>
          <p:nvPr/>
        </p:nvSpPr>
        <p:spPr>
          <a:xfrm>
            <a:off x="6537960" y="2889504"/>
            <a:ext cx="91440" cy="91440"/>
          </a:xfrm>
          <a:prstGeom prst="ellipse">
            <a:avLst/>
          </a:prstGeom>
          <a:solidFill>
            <a:srgbClr val="2FC8B7"/>
          </a:solidFill>
          <a:ln/>
        </p:spPr>
      </p:sp>
      <p:sp>
        <p:nvSpPr>
          <p:cNvPr id="23" name="Text 21"/>
          <p:cNvSpPr/>
          <p:nvPr/>
        </p:nvSpPr>
        <p:spPr>
          <a:xfrm>
            <a:off x="6766560" y="27249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Imported Adventure Works dataset into Power BI</a:t>
            </a:r>
            <a:endParaRPr lang="en-US" sz="1300" dirty="0">
              <a:latin typeface="Georgia" panose="02040502050405020303" pitchFamily="18" charset="0"/>
            </a:endParaRPr>
          </a:p>
        </p:txBody>
      </p:sp>
      <p:sp>
        <p:nvSpPr>
          <p:cNvPr id="24" name="Shape 22"/>
          <p:cNvSpPr/>
          <p:nvPr/>
        </p:nvSpPr>
        <p:spPr>
          <a:xfrm>
            <a:off x="6537960" y="3575304"/>
            <a:ext cx="91440" cy="91440"/>
          </a:xfrm>
          <a:prstGeom prst="ellipse">
            <a:avLst/>
          </a:prstGeom>
          <a:solidFill>
            <a:srgbClr val="2FC8B7"/>
          </a:solidFill>
          <a:ln/>
        </p:spPr>
      </p:sp>
      <p:sp>
        <p:nvSpPr>
          <p:cNvPr id="25" name="Text 23"/>
          <p:cNvSpPr/>
          <p:nvPr/>
        </p:nvSpPr>
        <p:spPr>
          <a:xfrm>
            <a:off x="6766560" y="34107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Transformed data using Power Query</a:t>
            </a:r>
            <a:endParaRPr lang="en-US" sz="1300" dirty="0">
              <a:latin typeface="Georgia" panose="02040502050405020303" pitchFamily="18" charset="0"/>
            </a:endParaRPr>
          </a:p>
        </p:txBody>
      </p:sp>
      <p:sp>
        <p:nvSpPr>
          <p:cNvPr id="26" name="Shape 24"/>
          <p:cNvSpPr/>
          <p:nvPr/>
        </p:nvSpPr>
        <p:spPr>
          <a:xfrm>
            <a:off x="6537960" y="4261104"/>
            <a:ext cx="91440" cy="91440"/>
          </a:xfrm>
          <a:prstGeom prst="ellipse">
            <a:avLst/>
          </a:prstGeom>
          <a:solidFill>
            <a:srgbClr val="2FC8B7"/>
          </a:solidFill>
          <a:ln/>
        </p:spPr>
      </p:sp>
      <p:sp>
        <p:nvSpPr>
          <p:cNvPr id="27" name="Text 25"/>
          <p:cNvSpPr/>
          <p:nvPr/>
        </p:nvSpPr>
        <p:spPr>
          <a:xfrm>
            <a:off x="6766560" y="40965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Created data model and DAX measures</a:t>
            </a:r>
            <a:endParaRPr lang="en-US" sz="1300" dirty="0">
              <a:latin typeface="Georgia" panose="02040502050405020303" pitchFamily="18" charset="0"/>
            </a:endParaRPr>
          </a:p>
        </p:txBody>
      </p:sp>
      <p:sp>
        <p:nvSpPr>
          <p:cNvPr id="28" name="Shape 26"/>
          <p:cNvSpPr/>
          <p:nvPr/>
        </p:nvSpPr>
        <p:spPr>
          <a:xfrm>
            <a:off x="6537960" y="4946904"/>
            <a:ext cx="91440" cy="91440"/>
          </a:xfrm>
          <a:prstGeom prst="ellipse">
            <a:avLst/>
          </a:prstGeom>
          <a:solidFill>
            <a:srgbClr val="2FC8B7"/>
          </a:solidFill>
          <a:ln/>
        </p:spPr>
      </p:sp>
      <p:sp>
        <p:nvSpPr>
          <p:cNvPr id="29" name="Text 27"/>
          <p:cNvSpPr/>
          <p:nvPr/>
        </p:nvSpPr>
        <p:spPr>
          <a:xfrm>
            <a:off x="6766560" y="47823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Built interactive dashboards with KPI Cards, Slicers and Charts</a:t>
            </a:r>
            <a:endParaRPr lang="en-US" sz="1300" dirty="0">
              <a:latin typeface="Georgia" panose="02040502050405020303" pitchFamily="18" charset="0"/>
            </a:endParaRPr>
          </a:p>
        </p:txBody>
      </p:sp>
      <p:sp>
        <p:nvSpPr>
          <p:cNvPr id="30" name="Shape 28"/>
          <p:cNvSpPr/>
          <p:nvPr/>
        </p:nvSpPr>
        <p:spPr>
          <a:xfrm>
            <a:off x="6537960" y="5632704"/>
            <a:ext cx="91440" cy="91440"/>
          </a:xfrm>
          <a:prstGeom prst="ellipse">
            <a:avLst/>
          </a:prstGeom>
          <a:solidFill>
            <a:srgbClr val="2FC8B7"/>
          </a:solidFill>
          <a:ln/>
        </p:spPr>
      </p:sp>
      <p:sp>
        <p:nvSpPr>
          <p:cNvPr id="31" name="Text 29"/>
          <p:cNvSpPr/>
          <p:nvPr/>
        </p:nvSpPr>
        <p:spPr>
          <a:xfrm>
            <a:off x="6766560" y="5468112"/>
            <a:ext cx="4480560" cy="594360"/>
          </a:xfrm>
          <a:prstGeom prst="rect">
            <a:avLst/>
          </a:prstGeom>
          <a:noFill/>
          <a:ln/>
        </p:spPr>
        <p:txBody>
          <a:bodyPr wrap="square" rtlCol="0" anchor="ctr"/>
          <a:lstStyle/>
          <a:p>
            <a:pPr marL="0" indent="0">
              <a:lnSpc>
                <a:spcPct val="115000"/>
              </a:lnSpc>
              <a:buNone/>
            </a:pPr>
            <a:r>
              <a:rPr lang="en-US" sz="1300" dirty="0">
                <a:solidFill>
                  <a:srgbClr val="E4EAF0"/>
                </a:solidFill>
                <a:latin typeface="Georgia" panose="02040502050405020303" pitchFamily="18" charset="0"/>
                <a:ea typeface="Calibri" pitchFamily="34" charset="-122"/>
                <a:cs typeface="Calibri" pitchFamily="34" charset="-120"/>
              </a:rPr>
              <a:t>Analyzed Sales, Profit, Products, Customers and Regional performance</a:t>
            </a:r>
            <a:endParaRPr lang="en-US" sz="1300" dirty="0">
              <a:latin typeface="Georgia" panose="02040502050405020303" pitchFamily="18" charset="0"/>
            </a:endParaRPr>
          </a:p>
        </p:txBody>
      </p:sp>
      <p:sp>
        <p:nvSpPr>
          <p:cNvPr id="32" name="Text 3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6</a:t>
            </a:r>
            <a:endParaRPr lang="en-US" sz="1000" dirty="0">
              <a:latin typeface="Georgia" panose="02040502050405020303" pitchFamily="18" charset="0"/>
            </a:endParaRPr>
          </a:p>
        </p:txBody>
      </p:sp>
      <p:sp>
        <p:nvSpPr>
          <p:cNvPr id="33" name="Text 31"/>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C4BF303-F485-02FF-F6CC-A8B54C6EF5A3}"/>
            </a:ext>
          </a:extLst>
        </p:cNvPr>
        <p:cNvGrpSpPr/>
        <p:nvPr/>
      </p:nvGrpSpPr>
      <p:grpSpPr>
        <a:xfrm>
          <a:off x="0" y="0"/>
          <a:ext cx="0" cy="0"/>
          <a:chOff x="0" y="0"/>
          <a:chExt cx="0" cy="0"/>
        </a:xfrm>
      </p:grpSpPr>
      <p:sp>
        <p:nvSpPr>
          <p:cNvPr id="63" name="Text 0">
            <a:extLst>
              <a:ext uri="{FF2B5EF4-FFF2-40B4-BE49-F238E27FC236}">
                <a16:creationId xmlns:a16="http://schemas.microsoft.com/office/drawing/2014/main" id="{DC0AB135-9E32-B884-FAE8-9116BD035FB5}"/>
              </a:ext>
            </a:extLst>
          </p:cNvPr>
          <p:cNvSpPr/>
          <p:nvPr/>
        </p:nvSpPr>
        <p:spPr>
          <a:xfrm>
            <a:off x="548640" y="411480"/>
            <a:ext cx="1106424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Combined Dashboards (Excel, SQL, Tableau &amp; Power BI)</a:t>
            </a:r>
            <a:endParaRPr lang="en-US" sz="3200" dirty="0"/>
          </a:p>
        </p:txBody>
      </p:sp>
      <p:sp>
        <p:nvSpPr>
          <p:cNvPr id="65" name="Text 1">
            <a:extLst>
              <a:ext uri="{FF2B5EF4-FFF2-40B4-BE49-F238E27FC236}">
                <a16:creationId xmlns:a16="http://schemas.microsoft.com/office/drawing/2014/main" id="{7FADBC64-96B3-B9BB-B4E4-398EAAEDC006}"/>
              </a:ext>
            </a:extLst>
          </p:cNvPr>
          <p:cNvSpPr/>
          <p:nvPr/>
        </p:nvSpPr>
        <p:spPr>
          <a:xfrm>
            <a:off x="548640" y="960120"/>
            <a:ext cx="10972800" cy="320040"/>
          </a:xfrm>
          <a:prstGeom prst="rect">
            <a:avLst/>
          </a:prstGeom>
          <a:noFill/>
          <a:ln/>
        </p:spPr>
        <p:txBody>
          <a:bodyPr wrap="square" rtlCol="0" anchor="ctr"/>
          <a:lstStyle/>
          <a:p>
            <a:pPr marL="0" indent="0">
              <a:buNone/>
            </a:pPr>
            <a:r>
              <a:rPr lang="en-US" sz="1250" i="1" dirty="0">
                <a:solidFill>
                  <a:srgbClr val="5A6B87"/>
                </a:solidFill>
                <a:latin typeface="Calibri" pitchFamily="34" charset="0"/>
                <a:ea typeface="Calibri" pitchFamily="34" charset="-122"/>
                <a:cs typeface="Calibri" pitchFamily="34" charset="-120"/>
              </a:rPr>
              <a:t>The same certified data model powers four parallel views of business performance</a:t>
            </a:r>
            <a:endParaRPr lang="en-US" sz="1250" dirty="0"/>
          </a:p>
        </p:txBody>
      </p:sp>
      <p:sp>
        <p:nvSpPr>
          <p:cNvPr id="67" name="Shape 2">
            <a:extLst>
              <a:ext uri="{FF2B5EF4-FFF2-40B4-BE49-F238E27FC236}">
                <a16:creationId xmlns:a16="http://schemas.microsoft.com/office/drawing/2014/main" id="{96878CD8-A29B-D278-F51B-1307834A59B4}"/>
              </a:ext>
            </a:extLst>
          </p:cNvPr>
          <p:cNvSpPr/>
          <p:nvPr/>
        </p:nvSpPr>
        <p:spPr>
          <a:xfrm>
            <a:off x="548640" y="1463040"/>
            <a:ext cx="5394960" cy="2331720"/>
          </a:xfrm>
          <a:prstGeom prst="rect">
            <a:avLst/>
          </a:prstGeom>
          <a:solidFill>
            <a:srgbClr val="F5F7FC"/>
          </a:solidFill>
          <a:ln w="12700">
            <a:solidFill>
              <a:srgbClr val="CADCFC"/>
            </a:solidFill>
            <a:prstDash val="solid"/>
          </a:ln>
        </p:spPr>
        <p:txBody>
          <a:bodyPr/>
          <a:lstStyle/>
          <a:p>
            <a:endParaRPr lang="en-US"/>
          </a:p>
        </p:txBody>
      </p:sp>
      <p:sp>
        <p:nvSpPr>
          <p:cNvPr id="69" name="Text 3">
            <a:extLst>
              <a:ext uri="{FF2B5EF4-FFF2-40B4-BE49-F238E27FC236}">
                <a16:creationId xmlns:a16="http://schemas.microsoft.com/office/drawing/2014/main" id="{981BD292-17DF-3D94-3427-9832949D2F84}"/>
              </a:ext>
            </a:extLst>
          </p:cNvPr>
          <p:cNvSpPr/>
          <p:nvPr/>
        </p:nvSpPr>
        <p:spPr>
          <a:xfrm>
            <a:off x="777240" y="1600200"/>
            <a:ext cx="49377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KPI Dashboard &amp; Slicers</a:t>
            </a:r>
            <a:endParaRPr lang="en-US" sz="1300" dirty="0"/>
          </a:p>
        </p:txBody>
      </p:sp>
      <p:sp>
        <p:nvSpPr>
          <p:cNvPr id="71" name="Shape 4">
            <a:extLst>
              <a:ext uri="{FF2B5EF4-FFF2-40B4-BE49-F238E27FC236}">
                <a16:creationId xmlns:a16="http://schemas.microsoft.com/office/drawing/2014/main" id="{E917D85C-CFD5-CEC7-C68D-14F6078765AE}"/>
              </a:ext>
            </a:extLst>
          </p:cNvPr>
          <p:cNvSpPr/>
          <p:nvPr/>
        </p:nvSpPr>
        <p:spPr>
          <a:xfrm>
            <a:off x="777240" y="2057400"/>
            <a:ext cx="1554480" cy="1463040"/>
          </a:xfrm>
          <a:prstGeom prst="rect">
            <a:avLst/>
          </a:prstGeom>
          <a:solidFill>
            <a:srgbClr val="1E2761"/>
          </a:solidFill>
          <a:ln/>
        </p:spPr>
        <p:txBody>
          <a:bodyPr/>
          <a:lstStyle/>
          <a:p>
            <a:endParaRPr lang="en-US"/>
          </a:p>
        </p:txBody>
      </p:sp>
      <p:sp>
        <p:nvSpPr>
          <p:cNvPr id="73" name="Text 5">
            <a:extLst>
              <a:ext uri="{FF2B5EF4-FFF2-40B4-BE49-F238E27FC236}">
                <a16:creationId xmlns:a16="http://schemas.microsoft.com/office/drawing/2014/main" id="{AE1D08B8-AA2A-45A8-9070-51F7F6403F9C}"/>
              </a:ext>
            </a:extLst>
          </p:cNvPr>
          <p:cNvSpPr/>
          <p:nvPr/>
        </p:nvSpPr>
        <p:spPr>
          <a:xfrm>
            <a:off x="777240" y="2194560"/>
            <a:ext cx="1554480" cy="548640"/>
          </a:xfrm>
          <a:prstGeom prst="rect">
            <a:avLst/>
          </a:prstGeom>
          <a:noFill/>
          <a:ln/>
        </p:spPr>
        <p:txBody>
          <a:bodyPr wrap="square" rtlCol="0" anchor="ctr"/>
          <a:lstStyle/>
          <a:p>
            <a:pPr marL="0" indent="0" algn="ctr">
              <a:buNone/>
            </a:pPr>
            <a:r>
              <a:rPr lang="en-US" sz="1600" b="1" dirty="0">
                <a:solidFill>
                  <a:srgbClr val="FFB400"/>
                </a:solidFill>
                <a:latin typeface="Cambria" pitchFamily="34" charset="0"/>
                <a:ea typeface="Cambria" pitchFamily="34" charset="-122"/>
                <a:cs typeface="Cambria" pitchFamily="34" charset="-120"/>
              </a:rPr>
              <a:t>60,398</a:t>
            </a:r>
            <a:endParaRPr lang="en-US" sz="1600" dirty="0"/>
          </a:p>
        </p:txBody>
      </p:sp>
      <p:sp>
        <p:nvSpPr>
          <p:cNvPr id="75" name="Text 6">
            <a:extLst>
              <a:ext uri="{FF2B5EF4-FFF2-40B4-BE49-F238E27FC236}">
                <a16:creationId xmlns:a16="http://schemas.microsoft.com/office/drawing/2014/main" id="{B2CEC415-4637-5D73-D95B-AE36AF41AFF0}"/>
              </a:ext>
            </a:extLst>
          </p:cNvPr>
          <p:cNvSpPr/>
          <p:nvPr/>
        </p:nvSpPr>
        <p:spPr>
          <a:xfrm>
            <a:off x="777240" y="2743200"/>
            <a:ext cx="1554480" cy="64008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Total Orders</a:t>
            </a:r>
            <a:endParaRPr lang="en-US" sz="1050" dirty="0"/>
          </a:p>
        </p:txBody>
      </p:sp>
      <p:sp>
        <p:nvSpPr>
          <p:cNvPr id="77" name="Shape 7">
            <a:extLst>
              <a:ext uri="{FF2B5EF4-FFF2-40B4-BE49-F238E27FC236}">
                <a16:creationId xmlns:a16="http://schemas.microsoft.com/office/drawing/2014/main" id="{8F8B3CEA-83D0-14CA-9FC5-0A796E7C8255}"/>
              </a:ext>
            </a:extLst>
          </p:cNvPr>
          <p:cNvSpPr/>
          <p:nvPr/>
        </p:nvSpPr>
        <p:spPr>
          <a:xfrm>
            <a:off x="2468880" y="2057400"/>
            <a:ext cx="1554480" cy="1463040"/>
          </a:xfrm>
          <a:prstGeom prst="rect">
            <a:avLst/>
          </a:prstGeom>
          <a:solidFill>
            <a:srgbClr val="1E2761"/>
          </a:solidFill>
          <a:ln/>
        </p:spPr>
        <p:txBody>
          <a:bodyPr/>
          <a:lstStyle/>
          <a:p>
            <a:endParaRPr lang="en-US"/>
          </a:p>
        </p:txBody>
      </p:sp>
      <p:sp>
        <p:nvSpPr>
          <p:cNvPr id="79" name="Text 8">
            <a:extLst>
              <a:ext uri="{FF2B5EF4-FFF2-40B4-BE49-F238E27FC236}">
                <a16:creationId xmlns:a16="http://schemas.microsoft.com/office/drawing/2014/main" id="{7F576CD5-1271-DE4C-DA99-BF7800DA52B4}"/>
              </a:ext>
            </a:extLst>
          </p:cNvPr>
          <p:cNvSpPr/>
          <p:nvPr/>
        </p:nvSpPr>
        <p:spPr>
          <a:xfrm>
            <a:off x="2468880" y="2194560"/>
            <a:ext cx="1554480" cy="548640"/>
          </a:xfrm>
          <a:prstGeom prst="rect">
            <a:avLst/>
          </a:prstGeom>
          <a:noFill/>
          <a:ln/>
        </p:spPr>
        <p:txBody>
          <a:bodyPr wrap="square" rtlCol="0" anchor="ctr"/>
          <a:lstStyle/>
          <a:p>
            <a:pPr marL="0" indent="0" algn="ctr">
              <a:buNone/>
            </a:pPr>
            <a:r>
              <a:rPr lang="en-US" sz="1600" b="1" dirty="0">
                <a:solidFill>
                  <a:srgbClr val="FFB400"/>
                </a:solidFill>
                <a:latin typeface="Cambria" pitchFamily="34" charset="0"/>
                <a:ea typeface="Cambria" pitchFamily="34" charset="-122"/>
                <a:cs typeface="Cambria" pitchFamily="34" charset="-120"/>
              </a:rPr>
              <a:t>$29.36M</a:t>
            </a:r>
            <a:endParaRPr lang="en-US" sz="1600" dirty="0"/>
          </a:p>
        </p:txBody>
      </p:sp>
      <p:sp>
        <p:nvSpPr>
          <p:cNvPr id="81" name="Text 9">
            <a:extLst>
              <a:ext uri="{FF2B5EF4-FFF2-40B4-BE49-F238E27FC236}">
                <a16:creationId xmlns:a16="http://schemas.microsoft.com/office/drawing/2014/main" id="{E41A57E5-CE77-AC55-28AF-D857404D6685}"/>
              </a:ext>
            </a:extLst>
          </p:cNvPr>
          <p:cNvSpPr/>
          <p:nvPr/>
        </p:nvSpPr>
        <p:spPr>
          <a:xfrm>
            <a:off x="2468880" y="2743200"/>
            <a:ext cx="1554480" cy="64008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Total Sales</a:t>
            </a:r>
            <a:endParaRPr lang="en-US" sz="1050" dirty="0"/>
          </a:p>
        </p:txBody>
      </p:sp>
      <p:sp>
        <p:nvSpPr>
          <p:cNvPr id="83" name="Shape 10">
            <a:extLst>
              <a:ext uri="{FF2B5EF4-FFF2-40B4-BE49-F238E27FC236}">
                <a16:creationId xmlns:a16="http://schemas.microsoft.com/office/drawing/2014/main" id="{628C036D-AA21-388E-38D2-705A8BBD313A}"/>
              </a:ext>
            </a:extLst>
          </p:cNvPr>
          <p:cNvSpPr/>
          <p:nvPr/>
        </p:nvSpPr>
        <p:spPr>
          <a:xfrm>
            <a:off x="4160520" y="2057400"/>
            <a:ext cx="1554480" cy="1463040"/>
          </a:xfrm>
          <a:prstGeom prst="rect">
            <a:avLst/>
          </a:prstGeom>
          <a:solidFill>
            <a:srgbClr val="1E2761"/>
          </a:solidFill>
          <a:ln/>
        </p:spPr>
        <p:txBody>
          <a:bodyPr/>
          <a:lstStyle/>
          <a:p>
            <a:endParaRPr lang="en-US"/>
          </a:p>
        </p:txBody>
      </p:sp>
      <p:sp>
        <p:nvSpPr>
          <p:cNvPr id="85" name="Text 11">
            <a:extLst>
              <a:ext uri="{FF2B5EF4-FFF2-40B4-BE49-F238E27FC236}">
                <a16:creationId xmlns:a16="http://schemas.microsoft.com/office/drawing/2014/main" id="{3D638262-B6E9-C7DC-7750-AF3E6CA370DA}"/>
              </a:ext>
            </a:extLst>
          </p:cNvPr>
          <p:cNvSpPr/>
          <p:nvPr/>
        </p:nvSpPr>
        <p:spPr>
          <a:xfrm>
            <a:off x="4160520" y="2194560"/>
            <a:ext cx="1554480" cy="548640"/>
          </a:xfrm>
          <a:prstGeom prst="rect">
            <a:avLst/>
          </a:prstGeom>
          <a:noFill/>
          <a:ln/>
        </p:spPr>
        <p:txBody>
          <a:bodyPr wrap="square" rtlCol="0" anchor="ctr"/>
          <a:lstStyle/>
          <a:p>
            <a:pPr marL="0" indent="0" algn="ctr">
              <a:buNone/>
            </a:pPr>
            <a:r>
              <a:rPr lang="en-US" sz="1600" b="1" dirty="0">
                <a:solidFill>
                  <a:srgbClr val="FFB400"/>
                </a:solidFill>
                <a:latin typeface="Cambria" pitchFamily="34" charset="0"/>
                <a:ea typeface="Cambria" pitchFamily="34" charset="-122"/>
                <a:cs typeface="Cambria" pitchFamily="34" charset="-120"/>
              </a:rPr>
              <a:t>$12.08M</a:t>
            </a:r>
            <a:endParaRPr lang="en-US" sz="1600" dirty="0"/>
          </a:p>
        </p:txBody>
      </p:sp>
      <p:sp>
        <p:nvSpPr>
          <p:cNvPr id="87" name="Text 12">
            <a:extLst>
              <a:ext uri="{FF2B5EF4-FFF2-40B4-BE49-F238E27FC236}">
                <a16:creationId xmlns:a16="http://schemas.microsoft.com/office/drawing/2014/main" id="{F85B5094-60E9-465E-F0F3-C941C20F5042}"/>
              </a:ext>
            </a:extLst>
          </p:cNvPr>
          <p:cNvSpPr/>
          <p:nvPr/>
        </p:nvSpPr>
        <p:spPr>
          <a:xfrm>
            <a:off x="4160520" y="2743200"/>
            <a:ext cx="1554480" cy="64008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Total Profit</a:t>
            </a:r>
            <a:endParaRPr lang="en-US" sz="1050" dirty="0"/>
          </a:p>
        </p:txBody>
      </p:sp>
      <p:sp>
        <p:nvSpPr>
          <p:cNvPr id="89" name="Shape 13">
            <a:extLst>
              <a:ext uri="{FF2B5EF4-FFF2-40B4-BE49-F238E27FC236}">
                <a16:creationId xmlns:a16="http://schemas.microsoft.com/office/drawing/2014/main" id="{8CDB42B6-A7B1-FB20-9C6E-09D83DC7D9AB}"/>
              </a:ext>
            </a:extLst>
          </p:cNvPr>
          <p:cNvSpPr/>
          <p:nvPr/>
        </p:nvSpPr>
        <p:spPr>
          <a:xfrm>
            <a:off x="6309360" y="1463040"/>
            <a:ext cx="5394960" cy="2331720"/>
          </a:xfrm>
          <a:prstGeom prst="rect">
            <a:avLst/>
          </a:prstGeom>
          <a:solidFill>
            <a:srgbClr val="F5F7FC"/>
          </a:solidFill>
          <a:ln w="12700">
            <a:solidFill>
              <a:srgbClr val="CADCFC"/>
            </a:solidFill>
            <a:prstDash val="solid"/>
          </a:ln>
        </p:spPr>
        <p:txBody>
          <a:bodyPr/>
          <a:lstStyle/>
          <a:p>
            <a:endParaRPr lang="en-US"/>
          </a:p>
        </p:txBody>
      </p:sp>
      <p:sp>
        <p:nvSpPr>
          <p:cNvPr id="91" name="Text 14">
            <a:extLst>
              <a:ext uri="{FF2B5EF4-FFF2-40B4-BE49-F238E27FC236}">
                <a16:creationId xmlns:a16="http://schemas.microsoft.com/office/drawing/2014/main" id="{5653AAD9-FAE3-33BC-BFEA-58BB0453B9F4}"/>
              </a:ext>
            </a:extLst>
          </p:cNvPr>
          <p:cNvSpPr/>
          <p:nvPr/>
        </p:nvSpPr>
        <p:spPr>
          <a:xfrm>
            <a:off x="6537960" y="1600200"/>
            <a:ext cx="49377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SQL  —  Data Transformation Layer</a:t>
            </a:r>
            <a:endParaRPr lang="en-US" sz="1300" dirty="0"/>
          </a:p>
        </p:txBody>
      </p:sp>
      <p:sp>
        <p:nvSpPr>
          <p:cNvPr id="93" name="Text 15">
            <a:extLst>
              <a:ext uri="{FF2B5EF4-FFF2-40B4-BE49-F238E27FC236}">
                <a16:creationId xmlns:a16="http://schemas.microsoft.com/office/drawing/2014/main" id="{064B024B-B6A8-629D-9BDF-81D9ACDFC1CE}"/>
              </a:ext>
            </a:extLst>
          </p:cNvPr>
          <p:cNvSpPr/>
          <p:nvPr/>
        </p:nvSpPr>
        <p:spPr>
          <a:xfrm>
            <a:off x="6537960" y="2011680"/>
            <a:ext cx="4937760" cy="1645920"/>
          </a:xfrm>
          <a:prstGeom prst="rect">
            <a:avLst/>
          </a:prstGeom>
          <a:noFill/>
          <a:ln/>
        </p:spPr>
        <p:txBody>
          <a:bodyPr wrap="square" rtlCol="0" anchor="t"/>
          <a:lstStyle/>
          <a:p>
            <a:pPr marL="342900" indent="-342900">
              <a:spcAft>
                <a:spcPts val="800"/>
              </a:spcAft>
              <a:buSzPct val="100000"/>
              <a:buChar char="•"/>
            </a:pPr>
            <a:r>
              <a:rPr lang="en-US" sz="1250" dirty="0">
                <a:solidFill>
                  <a:srgbClr val="1E2761"/>
                </a:solidFill>
                <a:latin typeface="Courier New" pitchFamily="34" charset="0"/>
                <a:ea typeface="Courier New" pitchFamily="34" charset="-122"/>
                <a:cs typeface="Courier New" pitchFamily="34" charset="-120"/>
              </a:rPr>
              <a:t>UNION ALL — merge two sales extracts</a:t>
            </a:r>
            <a:endParaRPr lang="en-US" sz="1250" dirty="0"/>
          </a:p>
          <a:p>
            <a:pPr marL="342900" indent="-342900">
              <a:spcAft>
                <a:spcPts val="800"/>
              </a:spcAft>
              <a:buSzPct val="100000"/>
              <a:buChar char="•"/>
            </a:pPr>
            <a:r>
              <a:rPr lang="en-US" sz="1250" dirty="0">
                <a:solidFill>
                  <a:srgbClr val="1E2761"/>
                </a:solidFill>
                <a:latin typeface="Courier New" pitchFamily="34" charset="0"/>
                <a:ea typeface="Courier New" pitchFamily="34" charset="-122"/>
                <a:cs typeface="Courier New" pitchFamily="34" charset="-120"/>
              </a:rPr>
              <a:t>LEFT JOIN — Product, Customer, Territory</a:t>
            </a:r>
            <a:endParaRPr lang="en-US" sz="1250" dirty="0"/>
          </a:p>
          <a:p>
            <a:pPr marL="342900" indent="-342900">
              <a:spcAft>
                <a:spcPts val="800"/>
              </a:spcAft>
              <a:buSzPct val="100000"/>
              <a:buChar char="•"/>
            </a:pPr>
            <a:r>
              <a:rPr lang="en-US" sz="1250" dirty="0">
                <a:solidFill>
                  <a:srgbClr val="1E2761"/>
                </a:solidFill>
                <a:latin typeface="Courier New" pitchFamily="34" charset="0"/>
                <a:ea typeface="Courier New" pitchFamily="34" charset="-122"/>
                <a:cs typeface="Courier New" pitchFamily="34" charset="-120"/>
              </a:rPr>
              <a:t>Date functions — Year / Quarter / FY logic</a:t>
            </a:r>
            <a:endParaRPr lang="en-US" sz="1250" dirty="0"/>
          </a:p>
          <a:p>
            <a:pPr marL="342900" indent="-342900">
              <a:spcAft>
                <a:spcPts val="800"/>
              </a:spcAft>
              <a:buSzPct val="100000"/>
              <a:buChar char="•"/>
            </a:pPr>
            <a:r>
              <a:rPr lang="en-US" sz="1250" dirty="0">
                <a:solidFill>
                  <a:srgbClr val="1E2761"/>
                </a:solidFill>
                <a:latin typeface="Courier New" pitchFamily="34" charset="0"/>
                <a:ea typeface="Courier New" pitchFamily="34" charset="-122"/>
                <a:cs typeface="Courier New" pitchFamily="34" charset="-120"/>
              </a:rPr>
              <a:t>Calculated fields — Sales, Cost, Profit</a:t>
            </a:r>
            <a:endParaRPr lang="en-US" sz="1250" dirty="0"/>
          </a:p>
        </p:txBody>
      </p:sp>
      <p:sp>
        <p:nvSpPr>
          <p:cNvPr id="97" name="Text 17">
            <a:extLst>
              <a:ext uri="{FF2B5EF4-FFF2-40B4-BE49-F238E27FC236}">
                <a16:creationId xmlns:a16="http://schemas.microsoft.com/office/drawing/2014/main" id="{931BF97E-EDBB-C8CD-1F4F-20F8129249BD}"/>
              </a:ext>
            </a:extLst>
          </p:cNvPr>
          <p:cNvSpPr/>
          <p:nvPr/>
        </p:nvSpPr>
        <p:spPr>
          <a:xfrm>
            <a:off x="777240" y="4178808"/>
            <a:ext cx="4937760" cy="27432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TABLEAU  —  Sales by Region ($M)</a:t>
            </a:r>
            <a:endParaRPr lang="en-US" sz="1300" dirty="0"/>
          </a:p>
        </p:txBody>
      </p:sp>
      <p:graphicFrame>
        <p:nvGraphicFramePr>
          <p:cNvPr id="99" name="Chart 0">
            <a:extLst>
              <a:ext uri="{FF2B5EF4-FFF2-40B4-BE49-F238E27FC236}">
                <a16:creationId xmlns:a16="http://schemas.microsoft.com/office/drawing/2014/main" id="{95171FA2-A63E-B264-586A-4AD076E330DE}"/>
              </a:ext>
            </a:extLst>
          </p:cNvPr>
          <p:cNvGraphicFramePr/>
          <p:nvPr>
            <p:extLst>
              <p:ext uri="{D42A27DB-BD31-4B8C-83A1-F6EECF244321}">
                <p14:modId xmlns:p14="http://schemas.microsoft.com/office/powerpoint/2010/main" val="4196850496"/>
              </p:ext>
            </p:extLst>
          </p:nvPr>
        </p:nvGraphicFramePr>
        <p:xfrm>
          <a:off x="685800" y="4480560"/>
          <a:ext cx="512064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07" name="Text 20">
            <a:extLst>
              <a:ext uri="{FF2B5EF4-FFF2-40B4-BE49-F238E27FC236}">
                <a16:creationId xmlns:a16="http://schemas.microsoft.com/office/drawing/2014/main" id="{195D1AC7-71F0-9451-7A02-49BE7212C00F}"/>
              </a:ext>
            </a:extLst>
          </p:cNvPr>
          <p:cNvSpPr/>
          <p:nvPr/>
        </p:nvSpPr>
        <p:spPr>
          <a:xfrm>
            <a:off x="457200" y="6537960"/>
            <a:ext cx="6400800" cy="274320"/>
          </a:xfrm>
          <a:prstGeom prst="rect">
            <a:avLst/>
          </a:prstGeom>
          <a:noFill/>
          <a:ln/>
        </p:spPr>
        <p:txBody>
          <a:bodyPr wrap="square" rtlCol="0" anchor="ctr"/>
          <a:lstStyle/>
          <a:p>
            <a:pPr marL="0" indent="0" algn="l">
              <a:buNone/>
            </a:pPr>
            <a:r>
              <a:rPr lang="en-US" sz="900" dirty="0">
                <a:solidFill>
                  <a:srgbClr val="5A6B87"/>
                </a:solidFill>
                <a:latin typeface="Calibri" pitchFamily="34" charset="0"/>
                <a:ea typeface="Calibri" pitchFamily="34" charset="-122"/>
                <a:cs typeface="Calibri" pitchFamily="34" charset="-120"/>
              </a:rPr>
              <a:t>AdventureWorks Sales Analytics Project</a:t>
            </a:r>
            <a:endParaRPr lang="en-US" sz="900" dirty="0"/>
          </a:p>
        </p:txBody>
      </p:sp>
      <p:sp>
        <p:nvSpPr>
          <p:cNvPr id="109" name="Text 21">
            <a:extLst>
              <a:ext uri="{FF2B5EF4-FFF2-40B4-BE49-F238E27FC236}">
                <a16:creationId xmlns:a16="http://schemas.microsoft.com/office/drawing/2014/main" id="{F9923B70-F006-ECBA-8CCE-5A9283F2FE29}"/>
              </a:ext>
            </a:extLst>
          </p:cNvPr>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7</a:t>
            </a:r>
            <a:endParaRPr lang="en-US" sz="900" dirty="0"/>
          </a:p>
        </p:txBody>
      </p:sp>
      <p:graphicFrame>
        <p:nvGraphicFramePr>
          <p:cNvPr id="3" name="Chart 2">
            <a:extLst>
              <a:ext uri="{FF2B5EF4-FFF2-40B4-BE49-F238E27FC236}">
                <a16:creationId xmlns:a16="http://schemas.microsoft.com/office/drawing/2014/main" id="{28BFC018-27CE-B7CE-5331-E5CC282DC793}"/>
              </a:ext>
            </a:extLst>
          </p:cNvPr>
          <p:cNvGraphicFramePr>
            <a:graphicFrameLocks/>
          </p:cNvGraphicFramePr>
          <p:nvPr>
            <p:extLst>
              <p:ext uri="{D42A27DB-BD31-4B8C-83A1-F6EECF244321}">
                <p14:modId xmlns:p14="http://schemas.microsoft.com/office/powerpoint/2010/main" val="3874528632"/>
              </p:ext>
            </p:extLst>
          </p:nvPr>
        </p:nvGraphicFramePr>
        <p:xfrm>
          <a:off x="548640" y="4023360"/>
          <a:ext cx="5394960" cy="22611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Chart 1">
            <a:extLst>
              <a:ext uri="{FF2B5EF4-FFF2-40B4-BE49-F238E27FC236}">
                <a16:creationId xmlns:a16="http://schemas.microsoft.com/office/drawing/2014/main" id="{A7117A4F-B7B9-73EF-7869-83C1D7613101}"/>
              </a:ext>
            </a:extLst>
          </p:cNvPr>
          <p:cNvGraphicFramePr>
            <a:graphicFrameLocks/>
          </p:cNvGraphicFramePr>
          <p:nvPr>
            <p:extLst>
              <p:ext uri="{D42A27DB-BD31-4B8C-83A1-F6EECF244321}">
                <p14:modId xmlns:p14="http://schemas.microsoft.com/office/powerpoint/2010/main" val="2292375460"/>
              </p:ext>
            </p:extLst>
          </p:nvPr>
        </p:nvGraphicFramePr>
        <p:xfrm>
          <a:off x="6309360" y="3943349"/>
          <a:ext cx="5422392" cy="236601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93584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Georgia" panose="02040502050405020303" pitchFamily="18" charset="0"/>
                <a:ea typeface="Calibri" pitchFamily="34" charset="-122"/>
                <a:cs typeface="Calibri" pitchFamily="34" charset="-120"/>
              </a:rPr>
              <a:t>DASHBOARD INSIGHTS</a:t>
            </a:r>
            <a:endParaRPr lang="en-US" sz="1300" dirty="0">
              <a:latin typeface="Georgia" panose="02040502050405020303" pitchFamily="18" charset="0"/>
            </a:endParaRPr>
          </a:p>
        </p:txBody>
      </p:sp>
      <p:sp>
        <p:nvSpPr>
          <p:cNvPr id="3" name="Text 1"/>
          <p:cNvSpPr/>
          <p:nvPr/>
        </p:nvSpPr>
        <p:spPr>
          <a:xfrm>
            <a:off x="548640" y="731520"/>
            <a:ext cx="9144000" cy="640080"/>
          </a:xfrm>
          <a:prstGeom prst="rect">
            <a:avLst/>
          </a:prstGeom>
          <a:noFill/>
          <a:ln/>
        </p:spPr>
        <p:txBody>
          <a:bodyPr wrap="square" rtlCol="0" anchor="ctr"/>
          <a:lstStyle/>
          <a:p>
            <a:pPr marL="0" indent="0">
              <a:buNone/>
            </a:pPr>
            <a:r>
              <a:rPr lang="en-US" sz="3000" b="1" dirty="0">
                <a:solidFill>
                  <a:srgbClr val="21295C"/>
                </a:solidFill>
                <a:latin typeface="Georgia" panose="02040502050405020303" pitchFamily="18" charset="0"/>
                <a:ea typeface="Cambria" pitchFamily="34" charset="-122"/>
                <a:cs typeface="Cambria" pitchFamily="34" charset="-120"/>
              </a:rPr>
              <a:t>Top Products &amp; Customer Mix</a:t>
            </a:r>
            <a:endParaRPr lang="en-US" sz="3000" dirty="0">
              <a:latin typeface="Georgia" panose="02040502050405020303" pitchFamily="18" charset="0"/>
            </a:endParaRPr>
          </a:p>
        </p:txBody>
      </p:sp>
      <p:graphicFrame>
        <p:nvGraphicFramePr>
          <p:cNvPr id="4" name="Chart 0"/>
          <p:cNvGraphicFramePr/>
          <p:nvPr>
            <p:extLst>
              <p:ext uri="{D42A27DB-BD31-4B8C-83A1-F6EECF244321}">
                <p14:modId xmlns:p14="http://schemas.microsoft.com/office/powerpoint/2010/main" val="3031258810"/>
              </p:ext>
            </p:extLst>
          </p:nvPr>
        </p:nvGraphicFramePr>
        <p:xfrm>
          <a:off x="548640" y="1600200"/>
          <a:ext cx="6492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4800600"/>
            <a:ext cx="6492240" cy="1508760"/>
          </a:xfrm>
          <a:prstGeom prst="roundRect">
            <a:avLst>
              <a:gd name="adj" fmla="val 4848"/>
            </a:avLst>
          </a:prstGeom>
          <a:solidFill>
            <a:srgbClr val="F4F7F9"/>
          </a:solidFill>
          <a:ln/>
        </p:spPr>
      </p:sp>
      <p:sp>
        <p:nvSpPr>
          <p:cNvPr id="6" name="Text 3"/>
          <p:cNvSpPr/>
          <p:nvPr/>
        </p:nvSpPr>
        <p:spPr>
          <a:xfrm>
            <a:off x="777240" y="4937760"/>
            <a:ext cx="6035040" cy="1188720"/>
          </a:xfrm>
          <a:prstGeom prst="rect">
            <a:avLst/>
          </a:prstGeom>
          <a:noFill/>
          <a:ln/>
        </p:spPr>
        <p:txBody>
          <a:bodyPr wrap="square" rtlCol="0" anchor="ctr"/>
          <a:lstStyle/>
          <a:p>
            <a:pPr marL="0" indent="0">
              <a:lnSpc>
                <a:spcPct val="115000"/>
              </a:lnSpc>
              <a:buNone/>
            </a:pPr>
            <a:r>
              <a:rPr lang="en-US" sz="1250" b="1" dirty="0">
                <a:solidFill>
                  <a:srgbClr val="065A82"/>
                </a:solidFill>
                <a:latin typeface="Georgia" panose="02040502050405020303" pitchFamily="18" charset="0"/>
                <a:ea typeface="Calibri" pitchFamily="34" charset="-122"/>
                <a:cs typeface="Calibri" pitchFamily="34" charset="-120"/>
              </a:rPr>
              <a:t>Mountain-200 Black (46)</a:t>
            </a:r>
            <a:r>
              <a:rPr lang="en-US" sz="1250" dirty="0">
                <a:solidFill>
                  <a:srgbClr val="1B2430"/>
                </a:solidFill>
                <a:latin typeface="Georgia" panose="02040502050405020303" pitchFamily="18" charset="0"/>
                <a:ea typeface="Calibri" pitchFamily="34" charset="-122"/>
                <a:cs typeface="Calibri" pitchFamily="34" charset="-120"/>
              </a:rPr>
              <a:t> is the highest-selling product (~$1.37M). The Mountain-200 series dominates the Top 10, showing strong customer demand.</a:t>
            </a:r>
            <a:endParaRPr lang="en-US" sz="1250" dirty="0">
              <a:latin typeface="Georgia" panose="02040502050405020303" pitchFamily="18" charset="0"/>
            </a:endParaRPr>
          </a:p>
        </p:txBody>
      </p:sp>
      <p:graphicFrame>
        <p:nvGraphicFramePr>
          <p:cNvPr id="7" name="Chart 1"/>
          <p:cNvGraphicFramePr/>
          <p:nvPr>
            <p:extLst>
              <p:ext uri="{D42A27DB-BD31-4B8C-83A1-F6EECF244321}">
                <p14:modId xmlns:p14="http://schemas.microsoft.com/office/powerpoint/2010/main" val="111480065"/>
              </p:ext>
            </p:extLst>
          </p:nvPr>
        </p:nvGraphicFramePr>
        <p:xfrm>
          <a:off x="7452360" y="1600200"/>
          <a:ext cx="416052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7452360" y="4800600"/>
            <a:ext cx="4160520" cy="1508760"/>
          </a:xfrm>
          <a:prstGeom prst="roundRect">
            <a:avLst>
              <a:gd name="adj" fmla="val 4848"/>
            </a:avLst>
          </a:prstGeom>
          <a:solidFill>
            <a:srgbClr val="21295C"/>
          </a:solidFill>
          <a:ln/>
        </p:spPr>
      </p:sp>
      <p:sp>
        <p:nvSpPr>
          <p:cNvPr id="9" name="Text 5"/>
          <p:cNvSpPr/>
          <p:nvPr/>
        </p:nvSpPr>
        <p:spPr>
          <a:xfrm>
            <a:off x="7680960" y="4937760"/>
            <a:ext cx="3703320" cy="1234440"/>
          </a:xfrm>
          <a:prstGeom prst="rect">
            <a:avLst/>
          </a:prstGeom>
          <a:noFill/>
          <a:ln/>
        </p:spPr>
        <p:txBody>
          <a:bodyPr wrap="square" rtlCol="0" anchor="ctr"/>
          <a:lstStyle/>
          <a:p>
            <a:pPr marL="0" indent="0">
              <a:lnSpc>
                <a:spcPct val="120000"/>
              </a:lnSpc>
              <a:buNone/>
            </a:pPr>
            <a:r>
              <a:rPr lang="en-US" sz="1200" dirty="0">
                <a:solidFill>
                  <a:srgbClr val="E4EAF0"/>
                </a:solidFill>
                <a:latin typeface="Georgia" panose="02040502050405020303" pitchFamily="18" charset="0"/>
                <a:ea typeface="Calibri" pitchFamily="34" charset="-122"/>
                <a:cs typeface="Calibri" pitchFamily="34" charset="-120"/>
              </a:rPr>
              <a:t>Sales are almost evenly split between female and male customers, showing balanced purchasing behavior across both segments.</a:t>
            </a:r>
            <a:endParaRPr lang="en-US" sz="1200" dirty="0">
              <a:latin typeface="Georgia" panose="02040502050405020303" pitchFamily="18" charset="0"/>
            </a:endParaRPr>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8</a:t>
            </a:r>
            <a:endParaRPr lang="en-US" sz="1000" dirty="0">
              <a:latin typeface="Georgia" panose="02040502050405020303" pitchFamily="18" charset="0"/>
            </a:endParaRPr>
          </a:p>
        </p:txBody>
      </p:sp>
      <p:sp>
        <p:nvSpPr>
          <p:cNvPr id="11" name="Text 7"/>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graphicFrame>
        <p:nvGraphicFramePr>
          <p:cNvPr id="12" name="Chart 11">
            <a:extLst>
              <a:ext uri="{FF2B5EF4-FFF2-40B4-BE49-F238E27FC236}">
                <a16:creationId xmlns:a16="http://schemas.microsoft.com/office/drawing/2014/main" id="{68790568-E3ED-0B53-0DC0-0660DEE1FDD4}"/>
              </a:ext>
            </a:extLst>
          </p:cNvPr>
          <p:cNvGraphicFramePr>
            <a:graphicFrameLocks/>
          </p:cNvGraphicFramePr>
          <p:nvPr>
            <p:extLst>
              <p:ext uri="{D42A27DB-BD31-4B8C-83A1-F6EECF244321}">
                <p14:modId xmlns:p14="http://schemas.microsoft.com/office/powerpoint/2010/main" val="1810300406"/>
              </p:ext>
            </p:extLst>
          </p:nvPr>
        </p:nvGraphicFramePr>
        <p:xfrm>
          <a:off x="579120" y="1600200"/>
          <a:ext cx="6380479" cy="30175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44EA467A-FAF1-B0C4-72D2-83A86E76CBCC}"/>
              </a:ext>
            </a:extLst>
          </p:cNvPr>
          <p:cNvGraphicFramePr>
            <a:graphicFrameLocks/>
          </p:cNvGraphicFramePr>
          <p:nvPr>
            <p:extLst>
              <p:ext uri="{D42A27DB-BD31-4B8C-83A1-F6EECF244321}">
                <p14:modId xmlns:p14="http://schemas.microsoft.com/office/powerpoint/2010/main" val="3088847024"/>
              </p:ext>
            </p:extLst>
          </p:nvPr>
        </p:nvGraphicFramePr>
        <p:xfrm>
          <a:off x="7452360" y="1652723"/>
          <a:ext cx="4160520" cy="2729593"/>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Georgia" panose="02040502050405020303" pitchFamily="18" charset="0"/>
                <a:ea typeface="Calibri" pitchFamily="34" charset="-122"/>
                <a:cs typeface="Calibri" pitchFamily="34" charset="-120"/>
              </a:rPr>
              <a:t>DASHBOARD INSIGHTS</a:t>
            </a:r>
            <a:endParaRPr lang="en-US" sz="1300" dirty="0">
              <a:latin typeface="Georgia" panose="02040502050405020303" pitchFamily="18" charset="0"/>
            </a:endParaRPr>
          </a:p>
        </p:txBody>
      </p:sp>
      <p:sp>
        <p:nvSpPr>
          <p:cNvPr id="3" name="Text 1"/>
          <p:cNvSpPr/>
          <p:nvPr/>
        </p:nvSpPr>
        <p:spPr>
          <a:xfrm>
            <a:off x="548640" y="731520"/>
            <a:ext cx="9144000" cy="640080"/>
          </a:xfrm>
          <a:prstGeom prst="rect">
            <a:avLst/>
          </a:prstGeom>
          <a:noFill/>
          <a:ln/>
        </p:spPr>
        <p:txBody>
          <a:bodyPr wrap="square" rtlCol="0" anchor="ctr"/>
          <a:lstStyle/>
          <a:p>
            <a:pPr marL="0" indent="0">
              <a:buNone/>
            </a:pPr>
            <a:r>
              <a:rPr lang="en-US" sz="3000" b="1" dirty="0">
                <a:solidFill>
                  <a:srgbClr val="21295C"/>
                </a:solidFill>
                <a:latin typeface="Georgia" panose="02040502050405020303" pitchFamily="18" charset="0"/>
                <a:ea typeface="Cambria" pitchFamily="34" charset="-122"/>
                <a:cs typeface="Cambria" pitchFamily="34" charset="-120"/>
              </a:rPr>
              <a:t>Sales Trend &amp; Regional Profit</a:t>
            </a:r>
            <a:endParaRPr lang="en-US" sz="3000" dirty="0">
              <a:latin typeface="Georgia" panose="02040502050405020303" pitchFamily="18" charset="0"/>
            </a:endParaRPr>
          </a:p>
        </p:txBody>
      </p:sp>
      <p:sp>
        <p:nvSpPr>
          <p:cNvPr id="5" name="Shape 2"/>
          <p:cNvSpPr/>
          <p:nvPr/>
        </p:nvSpPr>
        <p:spPr>
          <a:xfrm>
            <a:off x="548640" y="4572000"/>
            <a:ext cx="6492240" cy="1737360"/>
          </a:xfrm>
          <a:prstGeom prst="roundRect">
            <a:avLst>
              <a:gd name="adj" fmla="val 4211"/>
            </a:avLst>
          </a:prstGeom>
          <a:solidFill>
            <a:srgbClr val="F4F7F9"/>
          </a:solidFill>
          <a:ln/>
        </p:spPr>
        <p:txBody>
          <a:bodyPr/>
          <a:lstStyle/>
          <a:p>
            <a:endParaRPr lang="en-US" dirty="0">
              <a:latin typeface="Georgia" panose="02040502050405020303" pitchFamily="18" charset="0"/>
            </a:endParaRPr>
          </a:p>
        </p:txBody>
      </p:sp>
      <p:sp>
        <p:nvSpPr>
          <p:cNvPr id="6" name="Text 3"/>
          <p:cNvSpPr/>
          <p:nvPr/>
        </p:nvSpPr>
        <p:spPr>
          <a:xfrm>
            <a:off x="777240" y="4709160"/>
            <a:ext cx="6035040" cy="685800"/>
          </a:xfrm>
          <a:prstGeom prst="rect">
            <a:avLst/>
          </a:prstGeom>
          <a:noFill/>
          <a:ln/>
        </p:spPr>
        <p:txBody>
          <a:bodyPr wrap="square" rtlCol="0" anchor="ctr"/>
          <a:lstStyle/>
          <a:p>
            <a:pPr marL="0" indent="0">
              <a:lnSpc>
                <a:spcPct val="115000"/>
              </a:lnSpc>
              <a:buNone/>
            </a:pPr>
            <a:r>
              <a:rPr lang="en-US" sz="1250" b="1" dirty="0">
                <a:solidFill>
                  <a:srgbClr val="1C7293"/>
                </a:solidFill>
                <a:latin typeface="Georgia" panose="02040502050405020303" pitchFamily="18" charset="0"/>
                <a:ea typeface="Calibri" pitchFamily="34" charset="-122"/>
                <a:cs typeface="Calibri" pitchFamily="34" charset="-120"/>
              </a:rPr>
              <a:t>•  </a:t>
            </a:r>
            <a:r>
              <a:rPr lang="en-US" sz="1250" dirty="0">
                <a:solidFill>
                  <a:srgbClr val="1B2430"/>
                </a:solidFill>
                <a:latin typeface="Georgia" panose="02040502050405020303" pitchFamily="18" charset="0"/>
                <a:ea typeface="Calibri" pitchFamily="34" charset="-122"/>
                <a:cs typeface="Calibri" pitchFamily="34" charset="-120"/>
              </a:rPr>
              <a:t>Sales show a steady upward trend throughout the year, with December recording the highest monthly sales (3.21M).</a:t>
            </a:r>
            <a:endParaRPr lang="en-US" sz="1250" dirty="0">
              <a:latin typeface="Georgia" panose="02040502050405020303" pitchFamily="18" charset="0"/>
            </a:endParaRPr>
          </a:p>
        </p:txBody>
      </p:sp>
      <p:sp>
        <p:nvSpPr>
          <p:cNvPr id="7" name="Text 4"/>
          <p:cNvSpPr/>
          <p:nvPr/>
        </p:nvSpPr>
        <p:spPr>
          <a:xfrm>
            <a:off x="777240" y="5394960"/>
            <a:ext cx="6035040" cy="777240"/>
          </a:xfrm>
          <a:prstGeom prst="rect">
            <a:avLst/>
          </a:prstGeom>
          <a:noFill/>
          <a:ln/>
        </p:spPr>
        <p:txBody>
          <a:bodyPr wrap="square" rtlCol="0" anchor="ctr"/>
          <a:lstStyle/>
          <a:p>
            <a:pPr marL="0" indent="0">
              <a:lnSpc>
                <a:spcPct val="115000"/>
              </a:lnSpc>
              <a:buNone/>
            </a:pPr>
            <a:r>
              <a:rPr lang="en-US" sz="1250" b="1" dirty="0">
                <a:solidFill>
                  <a:srgbClr val="1C7293"/>
                </a:solidFill>
                <a:latin typeface="Georgia" panose="02040502050405020303" pitchFamily="18" charset="0"/>
                <a:ea typeface="Calibri" pitchFamily="34" charset="-122"/>
                <a:cs typeface="Calibri" pitchFamily="34" charset="-120"/>
              </a:rPr>
              <a:t>•  </a:t>
            </a:r>
            <a:r>
              <a:rPr lang="en-US" sz="1250" dirty="0">
                <a:solidFill>
                  <a:srgbClr val="1B2430"/>
                </a:solidFill>
                <a:latin typeface="Georgia" panose="02040502050405020303" pitchFamily="18" charset="0"/>
                <a:ea typeface="Calibri" pitchFamily="34" charset="-122"/>
                <a:cs typeface="Calibri" pitchFamily="34" charset="-120"/>
              </a:rPr>
              <a:t>Sales increased significantly after May, indicating stronger business performance in the second half of the year.</a:t>
            </a:r>
            <a:endParaRPr lang="en-US" sz="1250" dirty="0">
              <a:latin typeface="Georgia" panose="02040502050405020303" pitchFamily="18" charset="0"/>
            </a:endParaRPr>
          </a:p>
        </p:txBody>
      </p:sp>
      <p:sp>
        <p:nvSpPr>
          <p:cNvPr id="9" name="Shape 5"/>
          <p:cNvSpPr/>
          <p:nvPr/>
        </p:nvSpPr>
        <p:spPr>
          <a:xfrm>
            <a:off x="7360920" y="4572000"/>
            <a:ext cx="4297680" cy="1737360"/>
          </a:xfrm>
          <a:prstGeom prst="roundRect">
            <a:avLst>
              <a:gd name="adj" fmla="val 4211"/>
            </a:avLst>
          </a:prstGeom>
          <a:solidFill>
            <a:srgbClr val="21295C"/>
          </a:solidFill>
          <a:ln/>
        </p:spPr>
      </p:sp>
      <p:sp>
        <p:nvSpPr>
          <p:cNvPr id="10" name="Text 6"/>
          <p:cNvSpPr/>
          <p:nvPr/>
        </p:nvSpPr>
        <p:spPr>
          <a:xfrm>
            <a:off x="7589520" y="4709160"/>
            <a:ext cx="3840480" cy="777240"/>
          </a:xfrm>
          <a:prstGeom prst="rect">
            <a:avLst/>
          </a:prstGeom>
          <a:noFill/>
          <a:ln/>
        </p:spPr>
        <p:txBody>
          <a:bodyPr wrap="square" rtlCol="0" anchor="ctr"/>
          <a:lstStyle/>
          <a:p>
            <a:pPr marL="0" indent="0">
              <a:lnSpc>
                <a:spcPct val="115000"/>
              </a:lnSpc>
              <a:buNone/>
            </a:pPr>
            <a:r>
              <a:rPr lang="en-US" sz="1200" b="1" dirty="0">
                <a:solidFill>
                  <a:srgbClr val="2FC8B7"/>
                </a:solidFill>
                <a:latin typeface="Georgia" panose="02040502050405020303" pitchFamily="18" charset="0"/>
                <a:ea typeface="Calibri" pitchFamily="34" charset="-122"/>
                <a:cs typeface="Calibri" pitchFamily="34" charset="-120"/>
              </a:rPr>
              <a:t>North America</a:t>
            </a:r>
            <a:r>
              <a:rPr lang="en-US" sz="1200" dirty="0">
                <a:solidFill>
                  <a:srgbClr val="FFFFFF"/>
                </a:solidFill>
                <a:latin typeface="Georgia" panose="02040502050405020303" pitchFamily="18" charset="0"/>
                <a:ea typeface="Calibri" pitchFamily="34" charset="-122"/>
                <a:cs typeface="Calibri" pitchFamily="34" charset="-120"/>
              </a:rPr>
              <a:t> generated the highest regional profit (4.73M), outperforming Pacific and Europe.</a:t>
            </a:r>
            <a:endParaRPr lang="en-US" sz="1200" dirty="0">
              <a:latin typeface="Georgia" panose="02040502050405020303" pitchFamily="18" charset="0"/>
            </a:endParaRPr>
          </a:p>
        </p:txBody>
      </p:sp>
      <p:sp>
        <p:nvSpPr>
          <p:cNvPr id="11" name="Text 7"/>
          <p:cNvSpPr/>
          <p:nvPr/>
        </p:nvSpPr>
        <p:spPr>
          <a:xfrm>
            <a:off x="7589520" y="5486400"/>
            <a:ext cx="3840480" cy="685800"/>
          </a:xfrm>
          <a:prstGeom prst="rect">
            <a:avLst/>
          </a:prstGeom>
          <a:noFill/>
          <a:ln/>
        </p:spPr>
        <p:txBody>
          <a:bodyPr wrap="square" rtlCol="0" anchor="ctr"/>
          <a:lstStyle/>
          <a:p>
            <a:pPr marL="0" indent="0">
              <a:lnSpc>
                <a:spcPct val="115000"/>
              </a:lnSpc>
              <a:buNone/>
            </a:pPr>
            <a:r>
              <a:rPr lang="en-US" sz="1200" dirty="0">
                <a:solidFill>
                  <a:srgbClr val="CADCFC"/>
                </a:solidFill>
                <a:latin typeface="Georgia" panose="02040502050405020303" pitchFamily="18" charset="0"/>
                <a:ea typeface="Calibri" pitchFamily="34" charset="-122"/>
                <a:cs typeface="Calibri" pitchFamily="34" charset="-120"/>
              </a:rPr>
              <a:t>Pacific and Europe deliver similar, closely matched profit levels.</a:t>
            </a:r>
            <a:endParaRPr lang="en-US" sz="1200" dirty="0">
              <a:latin typeface="Georgia" panose="02040502050405020303" pitchFamily="18" charset="0"/>
            </a:endParaRPr>
          </a:p>
        </p:txBody>
      </p:sp>
      <p:sp>
        <p:nvSpPr>
          <p:cNvPr id="12" name="Text 8"/>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9</a:t>
            </a:r>
            <a:endParaRPr lang="en-US" sz="1000" dirty="0">
              <a:latin typeface="Georgia" panose="02040502050405020303" pitchFamily="18" charset="0"/>
            </a:endParaRPr>
          </a:p>
        </p:txBody>
      </p:sp>
      <p:sp>
        <p:nvSpPr>
          <p:cNvPr id="13" name="Text 9"/>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graphicFrame>
        <p:nvGraphicFramePr>
          <p:cNvPr id="15" name="Chart 14">
            <a:extLst>
              <a:ext uri="{FF2B5EF4-FFF2-40B4-BE49-F238E27FC236}">
                <a16:creationId xmlns:a16="http://schemas.microsoft.com/office/drawing/2014/main" id="{E1A6DC76-A068-6679-0AF2-4D3F179104FA}"/>
              </a:ext>
            </a:extLst>
          </p:cNvPr>
          <p:cNvGraphicFramePr>
            <a:graphicFrameLocks/>
          </p:cNvGraphicFramePr>
          <p:nvPr>
            <p:extLst>
              <p:ext uri="{D42A27DB-BD31-4B8C-83A1-F6EECF244321}">
                <p14:modId xmlns:p14="http://schemas.microsoft.com/office/powerpoint/2010/main" val="105288121"/>
              </p:ext>
            </p:extLst>
          </p:nvPr>
        </p:nvGraphicFramePr>
        <p:xfrm>
          <a:off x="619760" y="1607003"/>
          <a:ext cx="6492240" cy="27295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0ADB0274-9607-1B3D-956C-B43DF96502D9}"/>
              </a:ext>
            </a:extLst>
          </p:cNvPr>
          <p:cNvGraphicFramePr>
            <a:graphicFrameLocks/>
          </p:cNvGraphicFramePr>
          <p:nvPr>
            <p:extLst>
              <p:ext uri="{D42A27DB-BD31-4B8C-83A1-F6EECF244321}">
                <p14:modId xmlns:p14="http://schemas.microsoft.com/office/powerpoint/2010/main" val="1107655122"/>
              </p:ext>
            </p:extLst>
          </p:nvPr>
        </p:nvGraphicFramePr>
        <p:xfrm>
          <a:off x="7360921" y="1607003"/>
          <a:ext cx="4297680" cy="27305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FFFFFF"/>
                </a:solidFill>
                <a:latin typeface="Georgia" panose="02040502050405020303" pitchFamily="18" charset="0"/>
                <a:ea typeface="Cambria" pitchFamily="34" charset="-122"/>
                <a:cs typeface="Cambria" pitchFamily="34" charset="-120"/>
              </a:rPr>
              <a:t>Key Takeaways</a:t>
            </a:r>
            <a:endParaRPr lang="en-US" sz="3400" dirty="0">
              <a:latin typeface="Georgia" panose="02040502050405020303" pitchFamily="18" charset="0"/>
            </a:endParaRPr>
          </a:p>
        </p:txBody>
      </p:sp>
      <p:sp>
        <p:nvSpPr>
          <p:cNvPr id="3" name="Shape 1"/>
          <p:cNvSpPr/>
          <p:nvPr/>
        </p:nvSpPr>
        <p:spPr>
          <a:xfrm>
            <a:off x="548640" y="1371600"/>
            <a:ext cx="5440680" cy="1417320"/>
          </a:xfrm>
          <a:prstGeom prst="roundRect">
            <a:avLst>
              <a:gd name="adj" fmla="val 6452"/>
            </a:avLst>
          </a:prstGeom>
          <a:solidFill>
            <a:srgbClr val="065A82">
              <a:alpha val="75000"/>
            </a:srgbClr>
          </a:solidFill>
          <a:ln w="9525">
            <a:solidFill>
              <a:srgbClr val="1C7293"/>
            </a:solidFill>
            <a:prstDash val="solid"/>
          </a:ln>
        </p:spPr>
      </p:sp>
      <p:sp>
        <p:nvSpPr>
          <p:cNvPr id="4" name="Shape 2"/>
          <p:cNvSpPr/>
          <p:nvPr/>
        </p:nvSpPr>
        <p:spPr>
          <a:xfrm>
            <a:off x="777240" y="1600200"/>
            <a:ext cx="502920" cy="502920"/>
          </a:xfrm>
          <a:prstGeom prst="ellipse">
            <a:avLst/>
          </a:prstGeom>
          <a:solidFill>
            <a:srgbClr val="2FC8B7"/>
          </a:solidFill>
          <a:ln/>
        </p:spPr>
      </p:sp>
      <p:sp>
        <p:nvSpPr>
          <p:cNvPr id="5" name="Text 3"/>
          <p:cNvSpPr/>
          <p:nvPr/>
        </p:nvSpPr>
        <p:spPr>
          <a:xfrm>
            <a:off x="777240" y="1600200"/>
            <a:ext cx="502920" cy="502920"/>
          </a:xfrm>
          <a:prstGeom prst="rect">
            <a:avLst/>
          </a:prstGeom>
          <a:noFill/>
          <a:ln/>
        </p:spPr>
        <p:txBody>
          <a:bodyPr wrap="square" rtlCol="0" anchor="ctr"/>
          <a:lstStyle/>
          <a:p>
            <a:pPr marL="0" indent="0" algn="ctr">
              <a:buNone/>
            </a:pPr>
            <a:r>
              <a:rPr lang="en-US" sz="1600" b="1" dirty="0">
                <a:solidFill>
                  <a:srgbClr val="21295C"/>
                </a:solidFill>
                <a:latin typeface="Georgia" panose="02040502050405020303" pitchFamily="18" charset="0"/>
                <a:ea typeface="Calibri" pitchFamily="34" charset="-122"/>
                <a:cs typeface="Calibri" pitchFamily="34" charset="-120"/>
              </a:rPr>
              <a:t>1</a:t>
            </a:r>
            <a:endParaRPr lang="en-US" sz="1600" dirty="0">
              <a:latin typeface="Georgia" panose="02040502050405020303" pitchFamily="18" charset="0"/>
            </a:endParaRPr>
          </a:p>
        </p:txBody>
      </p:sp>
      <p:sp>
        <p:nvSpPr>
          <p:cNvPr id="6" name="Text 4"/>
          <p:cNvSpPr/>
          <p:nvPr/>
        </p:nvSpPr>
        <p:spPr>
          <a:xfrm>
            <a:off x="1463040" y="1554480"/>
            <a:ext cx="4297680" cy="365760"/>
          </a:xfrm>
          <a:prstGeom prst="rect">
            <a:avLst/>
          </a:prstGeom>
          <a:noFill/>
          <a:ln/>
        </p:spPr>
        <p:txBody>
          <a:bodyPr wrap="square" rtlCol="0" anchor="ctr"/>
          <a:lstStyle/>
          <a:p>
            <a:pPr marL="0" indent="0">
              <a:buNone/>
            </a:pPr>
            <a:r>
              <a:rPr lang="en-US" sz="1500" b="1" dirty="0">
                <a:solidFill>
                  <a:srgbClr val="FFFFFF"/>
                </a:solidFill>
                <a:latin typeface="Georgia" panose="02040502050405020303" pitchFamily="18" charset="0"/>
                <a:ea typeface="Cambria" pitchFamily="34" charset="-122"/>
                <a:cs typeface="Cambria" pitchFamily="34" charset="-120"/>
              </a:rPr>
              <a:t>End-to-End Analytics</a:t>
            </a:r>
            <a:endParaRPr lang="en-US" sz="1500" dirty="0">
              <a:latin typeface="Georgia" panose="02040502050405020303" pitchFamily="18" charset="0"/>
            </a:endParaRPr>
          </a:p>
        </p:txBody>
      </p:sp>
      <p:sp>
        <p:nvSpPr>
          <p:cNvPr id="7" name="Text 5"/>
          <p:cNvSpPr/>
          <p:nvPr/>
        </p:nvSpPr>
        <p:spPr>
          <a:xfrm>
            <a:off x="1463040" y="1938528"/>
            <a:ext cx="4297680" cy="731520"/>
          </a:xfrm>
          <a:prstGeom prst="rect">
            <a:avLst/>
          </a:prstGeom>
          <a:noFill/>
          <a:ln/>
        </p:spPr>
        <p:txBody>
          <a:bodyPr wrap="square" rtlCol="0" anchor="ctr"/>
          <a:lstStyle/>
          <a:p>
            <a:pPr marL="0" indent="0">
              <a:lnSpc>
                <a:spcPct val="115000"/>
              </a:lnSpc>
              <a:buNone/>
            </a:pPr>
            <a:r>
              <a:rPr lang="en-US" sz="1150" dirty="0">
                <a:solidFill>
                  <a:srgbClr val="CADCFC"/>
                </a:solidFill>
                <a:latin typeface="Georgia" panose="02040502050405020303" pitchFamily="18" charset="0"/>
                <a:ea typeface="Calibri" pitchFamily="34" charset="-122"/>
                <a:cs typeface="Calibri" pitchFamily="34" charset="-120"/>
              </a:rPr>
              <a:t>Completed the full analytics workflow independently in SQL, Excel, Tableau, and Power BI.</a:t>
            </a:r>
            <a:endParaRPr lang="en-US" sz="1150" dirty="0">
              <a:latin typeface="Georgia" panose="02040502050405020303" pitchFamily="18" charset="0"/>
            </a:endParaRPr>
          </a:p>
        </p:txBody>
      </p:sp>
      <p:sp>
        <p:nvSpPr>
          <p:cNvPr id="8" name="Shape 6"/>
          <p:cNvSpPr/>
          <p:nvPr/>
        </p:nvSpPr>
        <p:spPr>
          <a:xfrm>
            <a:off x="6172200" y="1371600"/>
            <a:ext cx="5440680" cy="1417320"/>
          </a:xfrm>
          <a:prstGeom prst="roundRect">
            <a:avLst>
              <a:gd name="adj" fmla="val 6452"/>
            </a:avLst>
          </a:prstGeom>
          <a:solidFill>
            <a:srgbClr val="065A82">
              <a:alpha val="75000"/>
            </a:srgbClr>
          </a:solidFill>
          <a:ln w="9525">
            <a:solidFill>
              <a:srgbClr val="1C7293"/>
            </a:solidFill>
            <a:prstDash val="solid"/>
          </a:ln>
        </p:spPr>
      </p:sp>
      <p:sp>
        <p:nvSpPr>
          <p:cNvPr id="9" name="Shape 7"/>
          <p:cNvSpPr/>
          <p:nvPr/>
        </p:nvSpPr>
        <p:spPr>
          <a:xfrm>
            <a:off x="6400800" y="1600200"/>
            <a:ext cx="502920" cy="502920"/>
          </a:xfrm>
          <a:prstGeom prst="ellipse">
            <a:avLst/>
          </a:prstGeom>
          <a:solidFill>
            <a:srgbClr val="2FC8B7"/>
          </a:solidFill>
          <a:ln/>
        </p:spPr>
      </p:sp>
      <p:sp>
        <p:nvSpPr>
          <p:cNvPr id="10" name="Text 8"/>
          <p:cNvSpPr/>
          <p:nvPr/>
        </p:nvSpPr>
        <p:spPr>
          <a:xfrm>
            <a:off x="6400800" y="1600200"/>
            <a:ext cx="502920" cy="502920"/>
          </a:xfrm>
          <a:prstGeom prst="rect">
            <a:avLst/>
          </a:prstGeom>
          <a:noFill/>
          <a:ln/>
        </p:spPr>
        <p:txBody>
          <a:bodyPr wrap="square" rtlCol="0" anchor="ctr"/>
          <a:lstStyle/>
          <a:p>
            <a:pPr marL="0" indent="0" algn="ctr">
              <a:buNone/>
            </a:pPr>
            <a:r>
              <a:rPr lang="en-US" sz="1600" b="1" dirty="0">
                <a:solidFill>
                  <a:srgbClr val="21295C"/>
                </a:solidFill>
                <a:latin typeface="Georgia" panose="02040502050405020303" pitchFamily="18" charset="0"/>
                <a:ea typeface="Calibri" pitchFamily="34" charset="-122"/>
                <a:cs typeface="Calibri" pitchFamily="34" charset="-120"/>
              </a:rPr>
              <a:t>2</a:t>
            </a:r>
            <a:endParaRPr lang="en-US" sz="1600" dirty="0">
              <a:latin typeface="Georgia" panose="02040502050405020303" pitchFamily="18" charset="0"/>
            </a:endParaRPr>
          </a:p>
        </p:txBody>
      </p:sp>
      <p:sp>
        <p:nvSpPr>
          <p:cNvPr id="11" name="Text 9"/>
          <p:cNvSpPr/>
          <p:nvPr/>
        </p:nvSpPr>
        <p:spPr>
          <a:xfrm>
            <a:off x="7086600" y="1554480"/>
            <a:ext cx="4297680" cy="365760"/>
          </a:xfrm>
          <a:prstGeom prst="rect">
            <a:avLst/>
          </a:prstGeom>
          <a:noFill/>
          <a:ln/>
        </p:spPr>
        <p:txBody>
          <a:bodyPr wrap="square" rtlCol="0" anchor="ctr"/>
          <a:lstStyle/>
          <a:p>
            <a:pPr marL="0" indent="0">
              <a:buNone/>
            </a:pPr>
            <a:r>
              <a:rPr lang="en-US" sz="1500" b="1" dirty="0">
                <a:solidFill>
                  <a:srgbClr val="FFFFFF"/>
                </a:solidFill>
                <a:latin typeface="Georgia" panose="02040502050405020303" pitchFamily="18" charset="0"/>
                <a:ea typeface="Cambria" pitchFamily="34" charset="-122"/>
                <a:cs typeface="Cambria" pitchFamily="34" charset="-120"/>
              </a:rPr>
              <a:t>Data Transformation</a:t>
            </a:r>
            <a:endParaRPr lang="en-US" sz="1500" dirty="0">
              <a:latin typeface="Georgia" panose="02040502050405020303" pitchFamily="18" charset="0"/>
            </a:endParaRPr>
          </a:p>
        </p:txBody>
      </p:sp>
      <p:sp>
        <p:nvSpPr>
          <p:cNvPr id="12" name="Text 10"/>
          <p:cNvSpPr/>
          <p:nvPr/>
        </p:nvSpPr>
        <p:spPr>
          <a:xfrm>
            <a:off x="7086600" y="1938528"/>
            <a:ext cx="4297680" cy="731520"/>
          </a:xfrm>
          <a:prstGeom prst="rect">
            <a:avLst/>
          </a:prstGeom>
          <a:noFill/>
          <a:ln/>
        </p:spPr>
        <p:txBody>
          <a:bodyPr wrap="square" rtlCol="0" anchor="ctr"/>
          <a:lstStyle/>
          <a:p>
            <a:pPr marL="0" indent="0">
              <a:lnSpc>
                <a:spcPct val="115000"/>
              </a:lnSpc>
              <a:buNone/>
            </a:pPr>
            <a:r>
              <a:rPr lang="en-US" sz="1150" dirty="0">
                <a:solidFill>
                  <a:srgbClr val="CADCFC"/>
                </a:solidFill>
                <a:latin typeface="Georgia" panose="02040502050405020303" pitchFamily="18" charset="0"/>
                <a:ea typeface="Calibri" pitchFamily="34" charset="-122"/>
                <a:cs typeface="Calibri" pitchFamily="34" charset="-120"/>
              </a:rPr>
              <a:t>Prepared clean, structured data for accurate analysis and reporting.</a:t>
            </a:r>
            <a:endParaRPr lang="en-US" sz="1150" dirty="0">
              <a:latin typeface="Georgia" panose="02040502050405020303" pitchFamily="18" charset="0"/>
            </a:endParaRPr>
          </a:p>
        </p:txBody>
      </p:sp>
      <p:sp>
        <p:nvSpPr>
          <p:cNvPr id="13" name="Shape 11"/>
          <p:cNvSpPr/>
          <p:nvPr/>
        </p:nvSpPr>
        <p:spPr>
          <a:xfrm>
            <a:off x="548640" y="2971800"/>
            <a:ext cx="5440680" cy="1417320"/>
          </a:xfrm>
          <a:prstGeom prst="roundRect">
            <a:avLst>
              <a:gd name="adj" fmla="val 6452"/>
            </a:avLst>
          </a:prstGeom>
          <a:solidFill>
            <a:srgbClr val="065A82">
              <a:alpha val="75000"/>
            </a:srgbClr>
          </a:solidFill>
          <a:ln w="9525">
            <a:solidFill>
              <a:srgbClr val="1C7293"/>
            </a:solidFill>
            <a:prstDash val="solid"/>
          </a:ln>
        </p:spPr>
      </p:sp>
      <p:sp>
        <p:nvSpPr>
          <p:cNvPr id="14" name="Shape 12"/>
          <p:cNvSpPr/>
          <p:nvPr/>
        </p:nvSpPr>
        <p:spPr>
          <a:xfrm>
            <a:off x="777240" y="3200400"/>
            <a:ext cx="502920" cy="502920"/>
          </a:xfrm>
          <a:prstGeom prst="ellipse">
            <a:avLst/>
          </a:prstGeom>
          <a:solidFill>
            <a:srgbClr val="2FC8B7"/>
          </a:solidFill>
          <a:ln/>
        </p:spPr>
      </p:sp>
      <p:sp>
        <p:nvSpPr>
          <p:cNvPr id="15" name="Text 13"/>
          <p:cNvSpPr/>
          <p:nvPr/>
        </p:nvSpPr>
        <p:spPr>
          <a:xfrm>
            <a:off x="777240" y="3200400"/>
            <a:ext cx="502920" cy="502920"/>
          </a:xfrm>
          <a:prstGeom prst="rect">
            <a:avLst/>
          </a:prstGeom>
          <a:noFill/>
          <a:ln/>
        </p:spPr>
        <p:txBody>
          <a:bodyPr wrap="square" rtlCol="0" anchor="ctr"/>
          <a:lstStyle/>
          <a:p>
            <a:pPr marL="0" indent="0" algn="ctr">
              <a:buNone/>
            </a:pPr>
            <a:r>
              <a:rPr lang="en-US" sz="1600" b="1" dirty="0">
                <a:solidFill>
                  <a:srgbClr val="21295C"/>
                </a:solidFill>
                <a:latin typeface="Georgia" panose="02040502050405020303" pitchFamily="18" charset="0"/>
                <a:ea typeface="Calibri" pitchFamily="34" charset="-122"/>
                <a:cs typeface="Calibri" pitchFamily="34" charset="-120"/>
              </a:rPr>
              <a:t>3</a:t>
            </a:r>
            <a:endParaRPr lang="en-US" sz="1600" dirty="0">
              <a:latin typeface="Georgia" panose="02040502050405020303" pitchFamily="18" charset="0"/>
            </a:endParaRPr>
          </a:p>
        </p:txBody>
      </p:sp>
      <p:sp>
        <p:nvSpPr>
          <p:cNvPr id="16" name="Text 14"/>
          <p:cNvSpPr/>
          <p:nvPr/>
        </p:nvSpPr>
        <p:spPr>
          <a:xfrm>
            <a:off x="1463040" y="3154680"/>
            <a:ext cx="4297680" cy="365760"/>
          </a:xfrm>
          <a:prstGeom prst="rect">
            <a:avLst/>
          </a:prstGeom>
          <a:noFill/>
          <a:ln/>
        </p:spPr>
        <p:txBody>
          <a:bodyPr wrap="square" rtlCol="0" anchor="ctr"/>
          <a:lstStyle/>
          <a:p>
            <a:pPr marL="0" indent="0">
              <a:buNone/>
            </a:pPr>
            <a:r>
              <a:rPr lang="en-US" sz="1500" b="1" dirty="0">
                <a:solidFill>
                  <a:srgbClr val="FFFFFF"/>
                </a:solidFill>
                <a:latin typeface="Georgia" panose="02040502050405020303" pitchFamily="18" charset="0"/>
                <a:ea typeface="Cambria" pitchFamily="34" charset="-122"/>
                <a:cs typeface="Cambria" pitchFamily="34" charset="-120"/>
              </a:rPr>
              <a:t>Business Metrics</a:t>
            </a:r>
            <a:endParaRPr lang="en-US" sz="1500" dirty="0">
              <a:latin typeface="Georgia" panose="02040502050405020303" pitchFamily="18" charset="0"/>
            </a:endParaRPr>
          </a:p>
        </p:txBody>
      </p:sp>
      <p:sp>
        <p:nvSpPr>
          <p:cNvPr id="17" name="Text 15"/>
          <p:cNvSpPr/>
          <p:nvPr/>
        </p:nvSpPr>
        <p:spPr>
          <a:xfrm>
            <a:off x="1463040" y="3538728"/>
            <a:ext cx="4297680" cy="731520"/>
          </a:xfrm>
          <a:prstGeom prst="rect">
            <a:avLst/>
          </a:prstGeom>
          <a:noFill/>
          <a:ln/>
        </p:spPr>
        <p:txBody>
          <a:bodyPr wrap="square" rtlCol="0" anchor="ctr"/>
          <a:lstStyle/>
          <a:p>
            <a:pPr marL="0" indent="0">
              <a:lnSpc>
                <a:spcPct val="115000"/>
              </a:lnSpc>
              <a:buNone/>
            </a:pPr>
            <a:r>
              <a:rPr lang="en-US" sz="1150" dirty="0">
                <a:solidFill>
                  <a:srgbClr val="CADCFC"/>
                </a:solidFill>
                <a:latin typeface="Georgia" panose="02040502050405020303" pitchFamily="18" charset="0"/>
                <a:ea typeface="Calibri" pitchFamily="34" charset="-122"/>
                <a:cs typeface="Calibri" pitchFamily="34" charset="-120"/>
              </a:rPr>
              <a:t>Calculated Sales Amount, Production Cost, Profit, and Profit %.</a:t>
            </a:r>
            <a:endParaRPr lang="en-US" sz="1150" dirty="0">
              <a:latin typeface="Georgia" panose="02040502050405020303" pitchFamily="18" charset="0"/>
            </a:endParaRPr>
          </a:p>
        </p:txBody>
      </p:sp>
      <p:sp>
        <p:nvSpPr>
          <p:cNvPr id="18" name="Shape 16"/>
          <p:cNvSpPr/>
          <p:nvPr/>
        </p:nvSpPr>
        <p:spPr>
          <a:xfrm>
            <a:off x="6172200" y="2971800"/>
            <a:ext cx="5440680" cy="1417320"/>
          </a:xfrm>
          <a:prstGeom prst="roundRect">
            <a:avLst>
              <a:gd name="adj" fmla="val 6452"/>
            </a:avLst>
          </a:prstGeom>
          <a:solidFill>
            <a:srgbClr val="065A82">
              <a:alpha val="75000"/>
            </a:srgbClr>
          </a:solidFill>
          <a:ln w="9525">
            <a:solidFill>
              <a:srgbClr val="1C7293"/>
            </a:solidFill>
            <a:prstDash val="solid"/>
          </a:ln>
        </p:spPr>
      </p:sp>
      <p:sp>
        <p:nvSpPr>
          <p:cNvPr id="19" name="Shape 17"/>
          <p:cNvSpPr/>
          <p:nvPr/>
        </p:nvSpPr>
        <p:spPr>
          <a:xfrm>
            <a:off x="6400800" y="3200400"/>
            <a:ext cx="502920" cy="502920"/>
          </a:xfrm>
          <a:prstGeom prst="ellipse">
            <a:avLst/>
          </a:prstGeom>
          <a:solidFill>
            <a:srgbClr val="2FC8B7"/>
          </a:solidFill>
          <a:ln/>
        </p:spPr>
      </p:sp>
      <p:sp>
        <p:nvSpPr>
          <p:cNvPr id="20" name="Text 18"/>
          <p:cNvSpPr/>
          <p:nvPr/>
        </p:nvSpPr>
        <p:spPr>
          <a:xfrm>
            <a:off x="6400800" y="3200400"/>
            <a:ext cx="502920" cy="502920"/>
          </a:xfrm>
          <a:prstGeom prst="rect">
            <a:avLst/>
          </a:prstGeom>
          <a:noFill/>
          <a:ln/>
        </p:spPr>
        <p:txBody>
          <a:bodyPr wrap="square" rtlCol="0" anchor="ctr"/>
          <a:lstStyle/>
          <a:p>
            <a:pPr marL="0" indent="0" algn="ctr">
              <a:buNone/>
            </a:pPr>
            <a:r>
              <a:rPr lang="en-US" sz="1600" b="1" dirty="0">
                <a:solidFill>
                  <a:srgbClr val="21295C"/>
                </a:solidFill>
                <a:latin typeface="Georgia" panose="02040502050405020303" pitchFamily="18" charset="0"/>
                <a:ea typeface="Calibri" pitchFamily="34" charset="-122"/>
                <a:cs typeface="Calibri" pitchFamily="34" charset="-120"/>
              </a:rPr>
              <a:t>4</a:t>
            </a:r>
            <a:endParaRPr lang="en-US" sz="1600" dirty="0">
              <a:latin typeface="Georgia" panose="02040502050405020303" pitchFamily="18" charset="0"/>
            </a:endParaRPr>
          </a:p>
        </p:txBody>
      </p:sp>
      <p:sp>
        <p:nvSpPr>
          <p:cNvPr id="21" name="Text 19"/>
          <p:cNvSpPr/>
          <p:nvPr/>
        </p:nvSpPr>
        <p:spPr>
          <a:xfrm>
            <a:off x="7086600" y="3154680"/>
            <a:ext cx="4297680" cy="365760"/>
          </a:xfrm>
          <a:prstGeom prst="rect">
            <a:avLst/>
          </a:prstGeom>
          <a:noFill/>
          <a:ln/>
        </p:spPr>
        <p:txBody>
          <a:bodyPr wrap="square" rtlCol="0" anchor="ctr"/>
          <a:lstStyle/>
          <a:p>
            <a:pPr marL="0" indent="0">
              <a:buNone/>
            </a:pPr>
            <a:r>
              <a:rPr lang="en-US" sz="1500" b="1" dirty="0">
                <a:solidFill>
                  <a:srgbClr val="FFFFFF"/>
                </a:solidFill>
                <a:latin typeface="Georgia" panose="02040502050405020303" pitchFamily="18" charset="0"/>
                <a:ea typeface="Cambria" pitchFamily="34" charset="-122"/>
                <a:cs typeface="Cambria" pitchFamily="34" charset="-120"/>
              </a:rPr>
              <a:t>Interactive Dashboards</a:t>
            </a:r>
            <a:endParaRPr lang="en-US" sz="1500" dirty="0">
              <a:latin typeface="Georgia" panose="02040502050405020303" pitchFamily="18" charset="0"/>
            </a:endParaRPr>
          </a:p>
        </p:txBody>
      </p:sp>
      <p:sp>
        <p:nvSpPr>
          <p:cNvPr id="22" name="Text 20"/>
          <p:cNvSpPr/>
          <p:nvPr/>
        </p:nvSpPr>
        <p:spPr>
          <a:xfrm>
            <a:off x="7086600" y="3538728"/>
            <a:ext cx="4297680" cy="731520"/>
          </a:xfrm>
          <a:prstGeom prst="rect">
            <a:avLst/>
          </a:prstGeom>
          <a:noFill/>
          <a:ln/>
        </p:spPr>
        <p:txBody>
          <a:bodyPr wrap="square" rtlCol="0" anchor="ctr"/>
          <a:lstStyle/>
          <a:p>
            <a:pPr marL="0" indent="0">
              <a:lnSpc>
                <a:spcPct val="115000"/>
              </a:lnSpc>
              <a:buNone/>
            </a:pPr>
            <a:r>
              <a:rPr lang="en-US" sz="1150" dirty="0">
                <a:solidFill>
                  <a:srgbClr val="CADCFC"/>
                </a:solidFill>
                <a:latin typeface="Georgia" panose="02040502050405020303" pitchFamily="18" charset="0"/>
                <a:ea typeface="Calibri" pitchFamily="34" charset="-122"/>
                <a:cs typeface="Calibri" pitchFamily="34" charset="-120"/>
              </a:rPr>
              <a:t>Created KPI dashboards with charts, filters, and slicers for better analysis.</a:t>
            </a:r>
            <a:endParaRPr lang="en-US" sz="1150" dirty="0">
              <a:latin typeface="Georgia" panose="02040502050405020303" pitchFamily="18" charset="0"/>
            </a:endParaRPr>
          </a:p>
        </p:txBody>
      </p:sp>
      <p:sp>
        <p:nvSpPr>
          <p:cNvPr id="23" name="Shape 21"/>
          <p:cNvSpPr/>
          <p:nvPr/>
        </p:nvSpPr>
        <p:spPr>
          <a:xfrm>
            <a:off x="548640" y="4572000"/>
            <a:ext cx="5440680" cy="1417320"/>
          </a:xfrm>
          <a:prstGeom prst="roundRect">
            <a:avLst>
              <a:gd name="adj" fmla="val 6452"/>
            </a:avLst>
          </a:prstGeom>
          <a:solidFill>
            <a:srgbClr val="065A82">
              <a:alpha val="75000"/>
            </a:srgbClr>
          </a:solidFill>
          <a:ln w="9525">
            <a:solidFill>
              <a:srgbClr val="1C7293"/>
            </a:solidFill>
            <a:prstDash val="solid"/>
          </a:ln>
        </p:spPr>
      </p:sp>
      <p:sp>
        <p:nvSpPr>
          <p:cNvPr id="24" name="Shape 22"/>
          <p:cNvSpPr/>
          <p:nvPr/>
        </p:nvSpPr>
        <p:spPr>
          <a:xfrm>
            <a:off x="777240" y="4800600"/>
            <a:ext cx="502920" cy="502920"/>
          </a:xfrm>
          <a:prstGeom prst="ellipse">
            <a:avLst/>
          </a:prstGeom>
          <a:solidFill>
            <a:srgbClr val="2FC8B7"/>
          </a:solidFill>
          <a:ln/>
        </p:spPr>
      </p:sp>
      <p:sp>
        <p:nvSpPr>
          <p:cNvPr id="25" name="Text 23"/>
          <p:cNvSpPr/>
          <p:nvPr/>
        </p:nvSpPr>
        <p:spPr>
          <a:xfrm>
            <a:off x="777240" y="4800600"/>
            <a:ext cx="502920" cy="502920"/>
          </a:xfrm>
          <a:prstGeom prst="rect">
            <a:avLst/>
          </a:prstGeom>
          <a:noFill/>
          <a:ln/>
        </p:spPr>
        <p:txBody>
          <a:bodyPr wrap="square" rtlCol="0" anchor="ctr"/>
          <a:lstStyle/>
          <a:p>
            <a:pPr marL="0" indent="0" algn="ctr">
              <a:buNone/>
            </a:pPr>
            <a:r>
              <a:rPr lang="en-US" sz="1600" b="1" dirty="0">
                <a:solidFill>
                  <a:srgbClr val="21295C"/>
                </a:solidFill>
                <a:latin typeface="Georgia" panose="02040502050405020303" pitchFamily="18" charset="0"/>
                <a:ea typeface="Calibri" pitchFamily="34" charset="-122"/>
                <a:cs typeface="Calibri" pitchFamily="34" charset="-120"/>
              </a:rPr>
              <a:t>5</a:t>
            </a:r>
            <a:endParaRPr lang="en-US" sz="1600" dirty="0">
              <a:latin typeface="Georgia" panose="02040502050405020303" pitchFamily="18" charset="0"/>
            </a:endParaRPr>
          </a:p>
        </p:txBody>
      </p:sp>
      <p:sp>
        <p:nvSpPr>
          <p:cNvPr id="26" name="Text 24"/>
          <p:cNvSpPr/>
          <p:nvPr/>
        </p:nvSpPr>
        <p:spPr>
          <a:xfrm>
            <a:off x="1463040" y="4754880"/>
            <a:ext cx="4297680" cy="365760"/>
          </a:xfrm>
          <a:prstGeom prst="rect">
            <a:avLst/>
          </a:prstGeom>
          <a:noFill/>
          <a:ln/>
        </p:spPr>
        <p:txBody>
          <a:bodyPr wrap="square" rtlCol="0" anchor="ctr"/>
          <a:lstStyle/>
          <a:p>
            <a:pPr marL="0" indent="0">
              <a:buNone/>
            </a:pPr>
            <a:r>
              <a:rPr lang="en-US" sz="1500" b="1" dirty="0">
                <a:solidFill>
                  <a:srgbClr val="FFFFFF"/>
                </a:solidFill>
                <a:latin typeface="Georgia" panose="02040502050405020303" pitchFamily="18" charset="0"/>
                <a:ea typeface="Cambria" pitchFamily="34" charset="-122"/>
                <a:cs typeface="Cambria" pitchFamily="34" charset="-120"/>
              </a:rPr>
              <a:t>Cross-Platform Implementation</a:t>
            </a:r>
            <a:endParaRPr lang="en-US" sz="1500" dirty="0">
              <a:latin typeface="Georgia" panose="02040502050405020303" pitchFamily="18" charset="0"/>
            </a:endParaRPr>
          </a:p>
        </p:txBody>
      </p:sp>
      <p:sp>
        <p:nvSpPr>
          <p:cNvPr id="27" name="Text 25"/>
          <p:cNvSpPr/>
          <p:nvPr/>
        </p:nvSpPr>
        <p:spPr>
          <a:xfrm>
            <a:off x="1463040" y="5138928"/>
            <a:ext cx="4297680" cy="731520"/>
          </a:xfrm>
          <a:prstGeom prst="rect">
            <a:avLst/>
          </a:prstGeom>
          <a:noFill/>
          <a:ln/>
        </p:spPr>
        <p:txBody>
          <a:bodyPr wrap="square" rtlCol="0" anchor="ctr"/>
          <a:lstStyle/>
          <a:p>
            <a:pPr marL="0" indent="0">
              <a:lnSpc>
                <a:spcPct val="115000"/>
              </a:lnSpc>
              <a:buNone/>
            </a:pPr>
            <a:r>
              <a:rPr lang="en-US" sz="1150" dirty="0">
                <a:solidFill>
                  <a:srgbClr val="CADCFC"/>
                </a:solidFill>
                <a:latin typeface="Georgia" panose="02040502050405020303" pitchFamily="18" charset="0"/>
                <a:ea typeface="Calibri" pitchFamily="34" charset="-122"/>
                <a:cs typeface="Calibri" pitchFamily="34" charset="-120"/>
              </a:rPr>
              <a:t>Solved the same business problem using four different analytics tools.</a:t>
            </a:r>
            <a:endParaRPr lang="en-US" sz="1150" dirty="0">
              <a:latin typeface="Georgia" panose="02040502050405020303" pitchFamily="18" charset="0"/>
            </a:endParaRPr>
          </a:p>
        </p:txBody>
      </p:sp>
      <p:sp>
        <p:nvSpPr>
          <p:cNvPr id="28" name="Shape 26"/>
          <p:cNvSpPr/>
          <p:nvPr/>
        </p:nvSpPr>
        <p:spPr>
          <a:xfrm>
            <a:off x="6172200" y="4572000"/>
            <a:ext cx="5440680" cy="1417320"/>
          </a:xfrm>
          <a:prstGeom prst="roundRect">
            <a:avLst>
              <a:gd name="adj" fmla="val 6452"/>
            </a:avLst>
          </a:prstGeom>
          <a:solidFill>
            <a:srgbClr val="065A82">
              <a:alpha val="75000"/>
            </a:srgbClr>
          </a:solidFill>
          <a:ln w="9525">
            <a:solidFill>
              <a:srgbClr val="1C7293"/>
            </a:solidFill>
            <a:prstDash val="solid"/>
          </a:ln>
        </p:spPr>
      </p:sp>
      <p:sp>
        <p:nvSpPr>
          <p:cNvPr id="29" name="Shape 27"/>
          <p:cNvSpPr/>
          <p:nvPr/>
        </p:nvSpPr>
        <p:spPr>
          <a:xfrm>
            <a:off x="6400800" y="4800600"/>
            <a:ext cx="502920" cy="502920"/>
          </a:xfrm>
          <a:prstGeom prst="ellipse">
            <a:avLst/>
          </a:prstGeom>
          <a:solidFill>
            <a:srgbClr val="2FC8B7"/>
          </a:solidFill>
          <a:ln/>
        </p:spPr>
      </p:sp>
      <p:sp>
        <p:nvSpPr>
          <p:cNvPr id="30" name="Text 28"/>
          <p:cNvSpPr/>
          <p:nvPr/>
        </p:nvSpPr>
        <p:spPr>
          <a:xfrm>
            <a:off x="6400800" y="4800600"/>
            <a:ext cx="502920" cy="502920"/>
          </a:xfrm>
          <a:prstGeom prst="rect">
            <a:avLst/>
          </a:prstGeom>
          <a:noFill/>
          <a:ln/>
        </p:spPr>
        <p:txBody>
          <a:bodyPr wrap="square" rtlCol="0" anchor="ctr"/>
          <a:lstStyle/>
          <a:p>
            <a:pPr marL="0" indent="0" algn="ctr">
              <a:buNone/>
            </a:pPr>
            <a:r>
              <a:rPr lang="en-US" sz="1600" b="1" dirty="0">
                <a:solidFill>
                  <a:srgbClr val="21295C"/>
                </a:solidFill>
                <a:latin typeface="Georgia" panose="02040502050405020303" pitchFamily="18" charset="0"/>
                <a:ea typeface="Calibri" pitchFamily="34" charset="-122"/>
                <a:cs typeface="Calibri" pitchFamily="34" charset="-120"/>
              </a:rPr>
              <a:t>6</a:t>
            </a:r>
            <a:endParaRPr lang="en-US" sz="1600" dirty="0">
              <a:latin typeface="Georgia" panose="02040502050405020303" pitchFamily="18" charset="0"/>
            </a:endParaRPr>
          </a:p>
        </p:txBody>
      </p:sp>
      <p:sp>
        <p:nvSpPr>
          <p:cNvPr id="31" name="Text 29"/>
          <p:cNvSpPr/>
          <p:nvPr/>
        </p:nvSpPr>
        <p:spPr>
          <a:xfrm>
            <a:off x="7086600" y="4754880"/>
            <a:ext cx="4297680" cy="365760"/>
          </a:xfrm>
          <a:prstGeom prst="rect">
            <a:avLst/>
          </a:prstGeom>
          <a:noFill/>
          <a:ln/>
        </p:spPr>
        <p:txBody>
          <a:bodyPr wrap="square" rtlCol="0" anchor="ctr"/>
          <a:lstStyle/>
          <a:p>
            <a:pPr marL="0" indent="0">
              <a:buNone/>
            </a:pPr>
            <a:r>
              <a:rPr lang="en-US" sz="1500" b="1" dirty="0">
                <a:solidFill>
                  <a:srgbClr val="FFFFFF"/>
                </a:solidFill>
                <a:latin typeface="Georgia" panose="02040502050405020303" pitchFamily="18" charset="0"/>
                <a:ea typeface="Cambria" pitchFamily="34" charset="-122"/>
                <a:cs typeface="Cambria" pitchFamily="34" charset="-120"/>
              </a:rPr>
              <a:t>Business Insights</a:t>
            </a:r>
            <a:endParaRPr lang="en-US" sz="1500" dirty="0">
              <a:latin typeface="Georgia" panose="02040502050405020303" pitchFamily="18" charset="0"/>
            </a:endParaRPr>
          </a:p>
        </p:txBody>
      </p:sp>
      <p:sp>
        <p:nvSpPr>
          <p:cNvPr id="32" name="Text 30"/>
          <p:cNvSpPr/>
          <p:nvPr/>
        </p:nvSpPr>
        <p:spPr>
          <a:xfrm>
            <a:off x="7086600" y="5138928"/>
            <a:ext cx="4297680" cy="731520"/>
          </a:xfrm>
          <a:prstGeom prst="rect">
            <a:avLst/>
          </a:prstGeom>
          <a:noFill/>
          <a:ln/>
        </p:spPr>
        <p:txBody>
          <a:bodyPr wrap="square" rtlCol="0" anchor="ctr"/>
          <a:lstStyle/>
          <a:p>
            <a:pPr marL="0" indent="0">
              <a:lnSpc>
                <a:spcPct val="115000"/>
              </a:lnSpc>
              <a:buNone/>
            </a:pPr>
            <a:r>
              <a:rPr lang="en-US" sz="1150" dirty="0">
                <a:solidFill>
                  <a:srgbClr val="CADCFC"/>
                </a:solidFill>
                <a:latin typeface="Georgia" panose="02040502050405020303" pitchFamily="18" charset="0"/>
                <a:ea typeface="Calibri" pitchFamily="34" charset="-122"/>
                <a:cs typeface="Calibri" pitchFamily="34" charset="-120"/>
              </a:rPr>
              <a:t>Identified sales trends and performance across Products, Customers, Regions, and Time.</a:t>
            </a:r>
            <a:endParaRPr lang="en-US" sz="1150" dirty="0">
              <a:latin typeface="Georgia" panose="02040502050405020303" pitchFamily="18" charset="0"/>
            </a:endParaRPr>
          </a:p>
        </p:txBody>
      </p:sp>
      <p:sp>
        <p:nvSpPr>
          <p:cNvPr id="33" name="Text 3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chemeClr val="bg1"/>
                </a:solidFill>
                <a:latin typeface="Georgia" panose="02040502050405020303" pitchFamily="18" charset="0"/>
              </a:rPr>
              <a:t>10</a:t>
            </a:r>
          </a:p>
        </p:txBody>
      </p:sp>
      <p:sp>
        <p:nvSpPr>
          <p:cNvPr id="34" name="Text 3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6C87A8"/>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21295C"/>
                </a:solidFill>
                <a:latin typeface="Georgia" panose="02040502050405020303" pitchFamily="18" charset="0"/>
                <a:ea typeface="Cambria" pitchFamily="34" charset="-122"/>
                <a:cs typeface="Cambria" pitchFamily="34" charset="-120"/>
              </a:rPr>
              <a:t>Challenges &amp; Solutions</a:t>
            </a:r>
            <a:endParaRPr lang="en-US" sz="3200" dirty="0">
              <a:latin typeface="Georgia" panose="02040502050405020303" pitchFamily="18" charset="0"/>
            </a:endParaRPr>
          </a:p>
        </p:txBody>
      </p:sp>
      <p:sp>
        <p:nvSpPr>
          <p:cNvPr id="3" name="Shape 1"/>
          <p:cNvSpPr/>
          <p:nvPr/>
        </p:nvSpPr>
        <p:spPr>
          <a:xfrm>
            <a:off x="548640" y="1371600"/>
            <a:ext cx="5120640" cy="502920"/>
          </a:xfrm>
          <a:prstGeom prst="roundRect">
            <a:avLst>
              <a:gd name="adj" fmla="val 10909"/>
            </a:avLst>
          </a:prstGeom>
          <a:solidFill>
            <a:srgbClr val="21295C"/>
          </a:solidFill>
          <a:ln/>
        </p:spPr>
      </p:sp>
      <p:sp>
        <p:nvSpPr>
          <p:cNvPr id="4" name="Text 2"/>
          <p:cNvSpPr/>
          <p:nvPr/>
        </p:nvSpPr>
        <p:spPr>
          <a:xfrm>
            <a:off x="731520" y="1371600"/>
            <a:ext cx="4754880" cy="502920"/>
          </a:xfrm>
          <a:prstGeom prst="rect">
            <a:avLst/>
          </a:prstGeom>
          <a:noFill/>
          <a:ln/>
        </p:spPr>
        <p:txBody>
          <a:bodyPr wrap="square" rtlCol="0" anchor="ctr"/>
          <a:lstStyle/>
          <a:p>
            <a:pPr marL="0" indent="0">
              <a:buNone/>
            </a:pPr>
            <a:r>
              <a:rPr lang="en-US" sz="1200" b="1" kern="0" spc="100" dirty="0">
                <a:solidFill>
                  <a:srgbClr val="FFFFFF"/>
                </a:solidFill>
                <a:latin typeface="Georgia" panose="02040502050405020303" pitchFamily="18" charset="0"/>
                <a:ea typeface="Calibri" pitchFamily="34" charset="-122"/>
                <a:cs typeface="Calibri" pitchFamily="34" charset="-120"/>
              </a:rPr>
              <a:t>CHALLENGE</a:t>
            </a:r>
            <a:endParaRPr lang="en-US" sz="1200" dirty="0">
              <a:latin typeface="Georgia" panose="02040502050405020303" pitchFamily="18" charset="0"/>
            </a:endParaRPr>
          </a:p>
        </p:txBody>
      </p:sp>
      <p:sp>
        <p:nvSpPr>
          <p:cNvPr id="5" name="Shape 3"/>
          <p:cNvSpPr/>
          <p:nvPr/>
        </p:nvSpPr>
        <p:spPr>
          <a:xfrm>
            <a:off x="5943600" y="1371600"/>
            <a:ext cx="5715000" cy="502920"/>
          </a:xfrm>
          <a:prstGeom prst="roundRect">
            <a:avLst>
              <a:gd name="adj" fmla="val 10909"/>
            </a:avLst>
          </a:prstGeom>
          <a:solidFill>
            <a:srgbClr val="1C7293"/>
          </a:solidFill>
          <a:ln/>
        </p:spPr>
      </p:sp>
      <p:sp>
        <p:nvSpPr>
          <p:cNvPr id="6" name="Text 4"/>
          <p:cNvSpPr/>
          <p:nvPr/>
        </p:nvSpPr>
        <p:spPr>
          <a:xfrm>
            <a:off x="6126480" y="1371600"/>
            <a:ext cx="5349240" cy="502920"/>
          </a:xfrm>
          <a:prstGeom prst="rect">
            <a:avLst/>
          </a:prstGeom>
          <a:noFill/>
          <a:ln/>
        </p:spPr>
        <p:txBody>
          <a:bodyPr wrap="square" rtlCol="0" anchor="ctr"/>
          <a:lstStyle/>
          <a:p>
            <a:pPr marL="0" indent="0">
              <a:buNone/>
            </a:pPr>
            <a:r>
              <a:rPr lang="en-US" sz="1200" b="1" kern="0" spc="100" dirty="0">
                <a:solidFill>
                  <a:srgbClr val="FFFFFF"/>
                </a:solidFill>
                <a:latin typeface="Georgia" panose="02040502050405020303" pitchFamily="18" charset="0"/>
                <a:ea typeface="Calibri" pitchFamily="34" charset="-122"/>
                <a:cs typeface="Calibri" pitchFamily="34" charset="-120"/>
              </a:rPr>
              <a:t>SOLUTION</a:t>
            </a:r>
            <a:endParaRPr lang="en-US" sz="1200" dirty="0">
              <a:latin typeface="Georgia" panose="02040502050405020303" pitchFamily="18" charset="0"/>
            </a:endParaRPr>
          </a:p>
        </p:txBody>
      </p:sp>
      <p:sp>
        <p:nvSpPr>
          <p:cNvPr id="7" name="Shape 5"/>
          <p:cNvSpPr/>
          <p:nvPr/>
        </p:nvSpPr>
        <p:spPr>
          <a:xfrm>
            <a:off x="548640" y="1965960"/>
            <a:ext cx="11109960" cy="841248"/>
          </a:xfrm>
          <a:prstGeom prst="rect">
            <a:avLst/>
          </a:prstGeom>
          <a:solidFill>
            <a:srgbClr val="F4F7F9"/>
          </a:solidFill>
          <a:ln/>
        </p:spPr>
      </p:sp>
      <p:sp>
        <p:nvSpPr>
          <p:cNvPr id="8" name="Text 6"/>
          <p:cNvSpPr/>
          <p:nvPr/>
        </p:nvSpPr>
        <p:spPr>
          <a:xfrm>
            <a:off x="685800" y="1965960"/>
            <a:ext cx="4892040" cy="841248"/>
          </a:xfrm>
          <a:prstGeom prst="rect">
            <a:avLst/>
          </a:prstGeom>
          <a:noFill/>
          <a:ln/>
        </p:spPr>
        <p:txBody>
          <a:bodyPr wrap="square" rtlCol="0" anchor="ctr"/>
          <a:lstStyle/>
          <a:p>
            <a:pPr marL="0" indent="0">
              <a:lnSpc>
                <a:spcPct val="110000"/>
              </a:lnSpc>
              <a:buNone/>
            </a:pPr>
            <a:r>
              <a:rPr lang="en-US" sz="1200" b="1" dirty="0">
                <a:solidFill>
                  <a:srgbClr val="21295C"/>
                </a:solidFill>
                <a:latin typeface="Georgia" panose="02040502050405020303" pitchFamily="18" charset="0"/>
                <a:ea typeface="Calibri" pitchFamily="34" charset="-122"/>
                <a:cs typeface="Calibri" pitchFamily="34" charset="-120"/>
              </a:rPr>
              <a:t>Combining data from multiple tables/sheets</a:t>
            </a:r>
            <a:endParaRPr lang="en-US" sz="1200" dirty="0">
              <a:latin typeface="Georgia" panose="02040502050405020303" pitchFamily="18" charset="0"/>
            </a:endParaRPr>
          </a:p>
        </p:txBody>
      </p:sp>
      <p:sp>
        <p:nvSpPr>
          <p:cNvPr id="9" name="Text 7"/>
          <p:cNvSpPr/>
          <p:nvPr/>
        </p:nvSpPr>
        <p:spPr>
          <a:xfrm>
            <a:off x="6080760" y="1965960"/>
            <a:ext cx="5440680" cy="841248"/>
          </a:xfrm>
          <a:prstGeom prst="rect">
            <a:avLst/>
          </a:prstGeom>
          <a:noFill/>
          <a:ln/>
        </p:spPr>
        <p:txBody>
          <a:bodyPr wrap="square" rtlCol="0" anchor="ctr"/>
          <a:lstStyle/>
          <a:p>
            <a:pPr marL="0" indent="0">
              <a:lnSpc>
                <a:spcPct val="110000"/>
              </a:lnSpc>
              <a:buNone/>
            </a:pPr>
            <a:r>
              <a:rPr lang="en-US" sz="1150" dirty="0">
                <a:solidFill>
                  <a:srgbClr val="1B2430"/>
                </a:solidFill>
                <a:latin typeface="Georgia" panose="02040502050405020303" pitchFamily="18" charset="0"/>
                <a:ea typeface="Calibri" pitchFamily="34" charset="-122"/>
                <a:cs typeface="Calibri" pitchFamily="34" charset="-120"/>
              </a:rPr>
              <a:t>Used UNION, JOINs, Append, and relationships based on each tool's capabilities to consolidate data.</a:t>
            </a:r>
            <a:endParaRPr lang="en-US" sz="1150" dirty="0">
              <a:latin typeface="Georgia" panose="02040502050405020303" pitchFamily="18" charset="0"/>
            </a:endParaRPr>
          </a:p>
        </p:txBody>
      </p:sp>
      <p:sp>
        <p:nvSpPr>
          <p:cNvPr id="10" name="Shape 8"/>
          <p:cNvSpPr/>
          <p:nvPr/>
        </p:nvSpPr>
        <p:spPr>
          <a:xfrm>
            <a:off x="548640" y="2880360"/>
            <a:ext cx="11109960" cy="841248"/>
          </a:xfrm>
          <a:prstGeom prst="rect">
            <a:avLst/>
          </a:prstGeom>
          <a:solidFill>
            <a:srgbClr val="FFFFFF"/>
          </a:solidFill>
          <a:ln/>
        </p:spPr>
      </p:sp>
      <p:sp>
        <p:nvSpPr>
          <p:cNvPr id="11" name="Text 9"/>
          <p:cNvSpPr/>
          <p:nvPr/>
        </p:nvSpPr>
        <p:spPr>
          <a:xfrm>
            <a:off x="685800" y="2880360"/>
            <a:ext cx="4892040" cy="841248"/>
          </a:xfrm>
          <a:prstGeom prst="rect">
            <a:avLst/>
          </a:prstGeom>
          <a:noFill/>
          <a:ln/>
        </p:spPr>
        <p:txBody>
          <a:bodyPr wrap="square" rtlCol="0" anchor="ctr"/>
          <a:lstStyle/>
          <a:p>
            <a:pPr marL="0" indent="0">
              <a:lnSpc>
                <a:spcPct val="110000"/>
              </a:lnSpc>
              <a:buNone/>
            </a:pPr>
            <a:r>
              <a:rPr lang="en-US" sz="1200" b="1" dirty="0">
                <a:solidFill>
                  <a:srgbClr val="21295C"/>
                </a:solidFill>
                <a:latin typeface="Georgia" panose="02040502050405020303" pitchFamily="18" charset="0"/>
                <a:ea typeface="Calibri" pitchFamily="34" charset="-122"/>
                <a:cs typeface="Calibri" pitchFamily="34" charset="-120"/>
              </a:rPr>
              <a:t>Missing, duplicate, or inconsistent data</a:t>
            </a:r>
            <a:endParaRPr lang="en-US" sz="1200" dirty="0">
              <a:latin typeface="Georgia" panose="02040502050405020303" pitchFamily="18" charset="0"/>
            </a:endParaRPr>
          </a:p>
        </p:txBody>
      </p:sp>
      <p:sp>
        <p:nvSpPr>
          <p:cNvPr id="12" name="Text 10"/>
          <p:cNvSpPr/>
          <p:nvPr/>
        </p:nvSpPr>
        <p:spPr>
          <a:xfrm>
            <a:off x="6080760" y="2880360"/>
            <a:ext cx="5440680" cy="841248"/>
          </a:xfrm>
          <a:prstGeom prst="rect">
            <a:avLst/>
          </a:prstGeom>
          <a:noFill/>
          <a:ln/>
        </p:spPr>
        <p:txBody>
          <a:bodyPr wrap="square" rtlCol="0" anchor="ctr"/>
          <a:lstStyle/>
          <a:p>
            <a:pPr marL="0" indent="0">
              <a:lnSpc>
                <a:spcPct val="110000"/>
              </a:lnSpc>
              <a:buNone/>
            </a:pPr>
            <a:r>
              <a:rPr lang="en-US" sz="1150" dirty="0">
                <a:solidFill>
                  <a:srgbClr val="1B2430"/>
                </a:solidFill>
                <a:latin typeface="Georgia" panose="02040502050405020303" pitchFamily="18" charset="0"/>
                <a:ea typeface="Calibri" pitchFamily="34" charset="-122"/>
                <a:cs typeface="Calibri" pitchFamily="34" charset="-120"/>
              </a:rPr>
              <a:t>Performed data cleaning — removed duplicates, handled nulls, corrected data types, validated records.</a:t>
            </a:r>
            <a:endParaRPr lang="en-US" sz="1150" dirty="0">
              <a:latin typeface="Georgia" panose="02040502050405020303" pitchFamily="18" charset="0"/>
            </a:endParaRPr>
          </a:p>
        </p:txBody>
      </p:sp>
      <p:sp>
        <p:nvSpPr>
          <p:cNvPr id="13" name="Shape 11"/>
          <p:cNvSpPr/>
          <p:nvPr/>
        </p:nvSpPr>
        <p:spPr>
          <a:xfrm>
            <a:off x="548640" y="3794760"/>
            <a:ext cx="11109960" cy="841248"/>
          </a:xfrm>
          <a:prstGeom prst="rect">
            <a:avLst/>
          </a:prstGeom>
          <a:solidFill>
            <a:srgbClr val="F4F7F9"/>
          </a:solidFill>
          <a:ln/>
        </p:spPr>
      </p:sp>
      <p:sp>
        <p:nvSpPr>
          <p:cNvPr id="14" name="Text 12"/>
          <p:cNvSpPr/>
          <p:nvPr/>
        </p:nvSpPr>
        <p:spPr>
          <a:xfrm>
            <a:off x="685800" y="3794760"/>
            <a:ext cx="4892040" cy="841248"/>
          </a:xfrm>
          <a:prstGeom prst="rect">
            <a:avLst/>
          </a:prstGeom>
          <a:noFill/>
          <a:ln/>
        </p:spPr>
        <p:txBody>
          <a:bodyPr wrap="square" rtlCol="0" anchor="ctr"/>
          <a:lstStyle/>
          <a:p>
            <a:pPr marL="0" indent="0">
              <a:lnSpc>
                <a:spcPct val="110000"/>
              </a:lnSpc>
              <a:buNone/>
            </a:pPr>
            <a:r>
              <a:rPr lang="en-US" sz="1200" b="1" dirty="0">
                <a:solidFill>
                  <a:srgbClr val="21295C"/>
                </a:solidFill>
                <a:latin typeface="Georgia" panose="02040502050405020303" pitchFamily="18" charset="0"/>
                <a:ea typeface="Calibri" pitchFamily="34" charset="-122"/>
                <a:cs typeface="Calibri" pitchFamily="34" charset="-120"/>
              </a:rPr>
              <a:t>Creating accurate business metrics</a:t>
            </a:r>
            <a:endParaRPr lang="en-US" sz="1200" dirty="0">
              <a:latin typeface="Georgia" panose="02040502050405020303" pitchFamily="18" charset="0"/>
            </a:endParaRPr>
          </a:p>
        </p:txBody>
      </p:sp>
      <p:sp>
        <p:nvSpPr>
          <p:cNvPr id="15" name="Text 13"/>
          <p:cNvSpPr/>
          <p:nvPr/>
        </p:nvSpPr>
        <p:spPr>
          <a:xfrm>
            <a:off x="6080760" y="3794760"/>
            <a:ext cx="5440680" cy="841248"/>
          </a:xfrm>
          <a:prstGeom prst="rect">
            <a:avLst/>
          </a:prstGeom>
          <a:noFill/>
          <a:ln/>
        </p:spPr>
        <p:txBody>
          <a:bodyPr wrap="square" rtlCol="0" anchor="ctr"/>
          <a:lstStyle/>
          <a:p>
            <a:pPr marL="0" indent="0">
              <a:lnSpc>
                <a:spcPct val="110000"/>
              </a:lnSpc>
              <a:buNone/>
            </a:pPr>
            <a:r>
              <a:rPr lang="en-US" sz="1150" dirty="0">
                <a:solidFill>
                  <a:srgbClr val="1B2430"/>
                </a:solidFill>
                <a:latin typeface="Georgia" panose="02040502050405020303" pitchFamily="18" charset="0"/>
                <a:ea typeface="Calibri" pitchFamily="34" charset="-122"/>
                <a:cs typeface="Calibri" pitchFamily="34" charset="-120"/>
              </a:rPr>
              <a:t>Applied formulas, calculated fields, SQL queries, and DAX measures for Sales, Cost, Profit and Profit %.</a:t>
            </a:r>
            <a:endParaRPr lang="en-US" sz="1150" dirty="0">
              <a:latin typeface="Georgia" panose="02040502050405020303" pitchFamily="18" charset="0"/>
            </a:endParaRPr>
          </a:p>
        </p:txBody>
      </p:sp>
      <p:sp>
        <p:nvSpPr>
          <p:cNvPr id="16" name="Shape 14"/>
          <p:cNvSpPr/>
          <p:nvPr/>
        </p:nvSpPr>
        <p:spPr>
          <a:xfrm>
            <a:off x="548640" y="4709160"/>
            <a:ext cx="11109960" cy="841248"/>
          </a:xfrm>
          <a:prstGeom prst="rect">
            <a:avLst/>
          </a:prstGeom>
          <a:solidFill>
            <a:srgbClr val="FFFFFF"/>
          </a:solidFill>
          <a:ln/>
        </p:spPr>
      </p:sp>
      <p:sp>
        <p:nvSpPr>
          <p:cNvPr id="17" name="Text 15"/>
          <p:cNvSpPr/>
          <p:nvPr/>
        </p:nvSpPr>
        <p:spPr>
          <a:xfrm>
            <a:off x="685800" y="4709160"/>
            <a:ext cx="4892040" cy="841248"/>
          </a:xfrm>
          <a:prstGeom prst="rect">
            <a:avLst/>
          </a:prstGeom>
          <a:noFill/>
          <a:ln/>
        </p:spPr>
        <p:txBody>
          <a:bodyPr wrap="square" rtlCol="0" anchor="ctr"/>
          <a:lstStyle/>
          <a:p>
            <a:pPr marL="0" indent="0">
              <a:lnSpc>
                <a:spcPct val="110000"/>
              </a:lnSpc>
              <a:buNone/>
            </a:pPr>
            <a:r>
              <a:rPr lang="en-US" sz="1200" b="1" dirty="0">
                <a:solidFill>
                  <a:srgbClr val="21295C"/>
                </a:solidFill>
                <a:latin typeface="Georgia" panose="02040502050405020303" pitchFamily="18" charset="0"/>
                <a:ea typeface="Calibri" pitchFamily="34" charset="-122"/>
                <a:cs typeface="Calibri" pitchFamily="34" charset="-120"/>
              </a:rPr>
              <a:t>Building interactive, meaningful dashboards</a:t>
            </a:r>
            <a:endParaRPr lang="en-US" sz="1200" dirty="0">
              <a:latin typeface="Georgia" panose="02040502050405020303" pitchFamily="18" charset="0"/>
            </a:endParaRPr>
          </a:p>
        </p:txBody>
      </p:sp>
      <p:sp>
        <p:nvSpPr>
          <p:cNvPr id="18" name="Text 16"/>
          <p:cNvSpPr/>
          <p:nvPr/>
        </p:nvSpPr>
        <p:spPr>
          <a:xfrm>
            <a:off x="6080760" y="4709160"/>
            <a:ext cx="5440680" cy="841248"/>
          </a:xfrm>
          <a:prstGeom prst="rect">
            <a:avLst/>
          </a:prstGeom>
          <a:noFill/>
          <a:ln/>
        </p:spPr>
        <p:txBody>
          <a:bodyPr wrap="square" rtlCol="0" anchor="ctr"/>
          <a:lstStyle/>
          <a:p>
            <a:pPr marL="0" indent="0">
              <a:lnSpc>
                <a:spcPct val="110000"/>
              </a:lnSpc>
              <a:buNone/>
            </a:pPr>
            <a:r>
              <a:rPr lang="en-US" sz="1150" dirty="0">
                <a:solidFill>
                  <a:srgbClr val="1B2430"/>
                </a:solidFill>
                <a:latin typeface="Georgia" panose="02040502050405020303" pitchFamily="18" charset="0"/>
                <a:ea typeface="Calibri" pitchFamily="34" charset="-122"/>
                <a:cs typeface="Calibri" pitchFamily="34" charset="-120"/>
              </a:rPr>
              <a:t>Used filters, slicers, parameters, and interactive visualizations to improve usability.</a:t>
            </a:r>
            <a:endParaRPr lang="en-US" sz="1150" dirty="0">
              <a:latin typeface="Georgia" panose="02040502050405020303" pitchFamily="18" charset="0"/>
            </a:endParaRPr>
          </a:p>
        </p:txBody>
      </p:sp>
      <p:sp>
        <p:nvSpPr>
          <p:cNvPr id="19" name="Shape 17"/>
          <p:cNvSpPr/>
          <p:nvPr/>
        </p:nvSpPr>
        <p:spPr>
          <a:xfrm>
            <a:off x="548640" y="5623560"/>
            <a:ext cx="11109960" cy="841248"/>
          </a:xfrm>
          <a:prstGeom prst="rect">
            <a:avLst/>
          </a:prstGeom>
          <a:solidFill>
            <a:srgbClr val="F4F7F9"/>
          </a:solidFill>
          <a:ln/>
        </p:spPr>
      </p:sp>
      <p:sp>
        <p:nvSpPr>
          <p:cNvPr id="20" name="Text 18"/>
          <p:cNvSpPr/>
          <p:nvPr/>
        </p:nvSpPr>
        <p:spPr>
          <a:xfrm>
            <a:off x="685800" y="5623560"/>
            <a:ext cx="4892040" cy="841248"/>
          </a:xfrm>
          <a:prstGeom prst="rect">
            <a:avLst/>
          </a:prstGeom>
          <a:noFill/>
          <a:ln/>
        </p:spPr>
        <p:txBody>
          <a:bodyPr wrap="square" rtlCol="0" anchor="ctr"/>
          <a:lstStyle/>
          <a:p>
            <a:pPr marL="0" indent="0">
              <a:lnSpc>
                <a:spcPct val="110000"/>
              </a:lnSpc>
              <a:buNone/>
            </a:pPr>
            <a:r>
              <a:rPr lang="en-US" sz="1200" b="1" dirty="0">
                <a:solidFill>
                  <a:srgbClr val="21295C"/>
                </a:solidFill>
                <a:latin typeface="Georgia" panose="02040502050405020303" pitchFamily="18" charset="0"/>
                <a:ea typeface="Calibri" pitchFamily="34" charset="-122"/>
                <a:cs typeface="Calibri" pitchFamily="34" charset="-120"/>
              </a:rPr>
              <a:t>Ensuring data consistency across reports</a:t>
            </a:r>
            <a:endParaRPr lang="en-US" sz="1200" dirty="0">
              <a:latin typeface="Georgia" panose="02040502050405020303" pitchFamily="18" charset="0"/>
            </a:endParaRPr>
          </a:p>
        </p:txBody>
      </p:sp>
      <p:sp>
        <p:nvSpPr>
          <p:cNvPr id="21" name="Text 19"/>
          <p:cNvSpPr/>
          <p:nvPr/>
        </p:nvSpPr>
        <p:spPr>
          <a:xfrm>
            <a:off x="6080760" y="5623560"/>
            <a:ext cx="5440680" cy="841248"/>
          </a:xfrm>
          <a:prstGeom prst="rect">
            <a:avLst/>
          </a:prstGeom>
          <a:noFill/>
          <a:ln/>
        </p:spPr>
        <p:txBody>
          <a:bodyPr wrap="square" rtlCol="0" anchor="ctr"/>
          <a:lstStyle/>
          <a:p>
            <a:pPr marL="0" indent="0">
              <a:lnSpc>
                <a:spcPct val="110000"/>
              </a:lnSpc>
              <a:buNone/>
            </a:pPr>
            <a:r>
              <a:rPr lang="en-US" sz="1150" dirty="0">
                <a:solidFill>
                  <a:srgbClr val="1B2430"/>
                </a:solidFill>
                <a:latin typeface="Georgia" panose="02040502050405020303" pitchFamily="18" charset="0"/>
                <a:ea typeface="Calibri" pitchFamily="34" charset="-122"/>
                <a:cs typeface="Calibri" pitchFamily="34" charset="-120"/>
              </a:rPr>
              <a:t>Validated calculations and compared outputs across SQL, Excel, Tableau, and Power BI.</a:t>
            </a:r>
            <a:endParaRPr lang="en-US" sz="1150" dirty="0">
              <a:latin typeface="Georgia" panose="02040502050405020303" pitchFamily="18" charset="0"/>
            </a:endParaRPr>
          </a:p>
        </p:txBody>
      </p:sp>
      <p:sp>
        <p:nvSpPr>
          <p:cNvPr id="22" name="Text 2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9"/>
                </a:solidFill>
                <a:latin typeface="Georgia" panose="02040502050405020303" pitchFamily="18" charset="0"/>
                <a:ea typeface="Calibri" pitchFamily="34" charset="-122"/>
                <a:cs typeface="Calibri" pitchFamily="34" charset="-120"/>
              </a:rPr>
              <a:t>11</a:t>
            </a:r>
            <a:endParaRPr lang="en-US" sz="1000" dirty="0">
              <a:latin typeface="Georgia" panose="02040502050405020303" pitchFamily="18" charset="0"/>
            </a:endParaRPr>
          </a:p>
        </p:txBody>
      </p:sp>
      <p:sp>
        <p:nvSpPr>
          <p:cNvPr id="23" name="Text 21"/>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9509760" y="-1371600"/>
            <a:ext cx="4572000" cy="4572000"/>
          </a:xfrm>
          <a:prstGeom prst="ellipse">
            <a:avLst/>
          </a:prstGeom>
          <a:solidFill>
            <a:srgbClr val="1C7293">
              <a:alpha val="45000"/>
            </a:srgbClr>
          </a:solidFill>
          <a:ln/>
        </p:spPr>
      </p:sp>
      <p:sp>
        <p:nvSpPr>
          <p:cNvPr id="3" name="Text 1"/>
          <p:cNvSpPr/>
          <p:nvPr/>
        </p:nvSpPr>
        <p:spPr>
          <a:xfrm>
            <a:off x="548640" y="502920"/>
            <a:ext cx="7315200" cy="640080"/>
          </a:xfrm>
          <a:prstGeom prst="rect">
            <a:avLst/>
          </a:prstGeom>
          <a:noFill/>
          <a:ln/>
        </p:spPr>
        <p:txBody>
          <a:bodyPr wrap="square" rtlCol="0" anchor="ctr"/>
          <a:lstStyle/>
          <a:p>
            <a:pPr marL="0" indent="0">
              <a:buNone/>
            </a:pPr>
            <a:r>
              <a:rPr lang="en-US" sz="3400" b="1" dirty="0">
                <a:solidFill>
                  <a:srgbClr val="FFFFFF"/>
                </a:solidFill>
                <a:latin typeface="Georgia" panose="02040502050405020303" pitchFamily="18" charset="0"/>
                <a:ea typeface="Cambria" pitchFamily="34" charset="-122"/>
                <a:cs typeface="Cambria" pitchFamily="34" charset="-120"/>
              </a:rPr>
              <a:t>Conclusion</a:t>
            </a:r>
            <a:endParaRPr lang="en-US" sz="3400" dirty="0">
              <a:latin typeface="Georgia" panose="02040502050405020303" pitchFamily="18" charset="0"/>
            </a:endParaRPr>
          </a:p>
        </p:txBody>
      </p:sp>
      <p:sp>
        <p:nvSpPr>
          <p:cNvPr id="4" name="Text 2"/>
          <p:cNvSpPr/>
          <p:nvPr/>
        </p:nvSpPr>
        <p:spPr>
          <a:xfrm>
            <a:off x="548640" y="1280160"/>
            <a:ext cx="10424160" cy="1188720"/>
          </a:xfrm>
          <a:prstGeom prst="rect">
            <a:avLst/>
          </a:prstGeom>
          <a:noFill/>
          <a:ln/>
        </p:spPr>
        <p:txBody>
          <a:bodyPr wrap="square" rtlCol="0" anchor="ctr"/>
          <a:lstStyle/>
          <a:p>
            <a:pPr marL="0" indent="0">
              <a:lnSpc>
                <a:spcPct val="130000"/>
              </a:lnSpc>
              <a:buNone/>
            </a:pPr>
            <a:r>
              <a:rPr lang="en-US" sz="1500" dirty="0">
                <a:solidFill>
                  <a:srgbClr val="E4EAF0"/>
                </a:solidFill>
                <a:latin typeface="Georgia" panose="02040502050405020303" pitchFamily="18" charset="0"/>
                <a:ea typeface="Calibri" pitchFamily="34" charset="-122"/>
                <a:cs typeface="Calibri" pitchFamily="34" charset="-120"/>
              </a:rPr>
              <a:t>This project successfully demonstrated end-to-end sales analytics using the Adventure Works dataset. The same business requirements were independently implemented in SQL, Excel, Tableau, and Power BI, resulting in meaningful business insights and interactive dashboards for decision-making.</a:t>
            </a:r>
            <a:endParaRPr lang="en-US" sz="1500" dirty="0">
              <a:latin typeface="Georgia" panose="02040502050405020303" pitchFamily="18" charset="0"/>
            </a:endParaRPr>
          </a:p>
        </p:txBody>
      </p:sp>
      <p:sp>
        <p:nvSpPr>
          <p:cNvPr id="5" name="Shape 3"/>
          <p:cNvSpPr/>
          <p:nvPr/>
        </p:nvSpPr>
        <p:spPr>
          <a:xfrm>
            <a:off x="548640" y="2743200"/>
            <a:ext cx="10424160" cy="777240"/>
          </a:xfrm>
          <a:prstGeom prst="roundRect">
            <a:avLst>
              <a:gd name="adj" fmla="val 9412"/>
            </a:avLst>
          </a:prstGeom>
          <a:solidFill>
            <a:srgbClr val="21295C">
              <a:alpha val="70000"/>
            </a:srgbClr>
          </a:solidFill>
          <a:ln/>
        </p:spPr>
      </p:sp>
      <p:sp>
        <p:nvSpPr>
          <p:cNvPr id="6" name="Shape 4"/>
          <p:cNvSpPr/>
          <p:nvPr/>
        </p:nvSpPr>
        <p:spPr>
          <a:xfrm>
            <a:off x="777240" y="3035808"/>
            <a:ext cx="182880" cy="182880"/>
          </a:xfrm>
          <a:prstGeom prst="ellipse">
            <a:avLst/>
          </a:prstGeom>
          <a:solidFill>
            <a:srgbClr val="2FC8B7"/>
          </a:solidFill>
          <a:ln/>
        </p:spPr>
      </p:sp>
      <p:sp>
        <p:nvSpPr>
          <p:cNvPr id="7" name="Text 5"/>
          <p:cNvSpPr/>
          <p:nvPr/>
        </p:nvSpPr>
        <p:spPr>
          <a:xfrm>
            <a:off x="1143000" y="2743200"/>
            <a:ext cx="9601200" cy="777240"/>
          </a:xfrm>
          <a:prstGeom prst="rect">
            <a:avLst/>
          </a:prstGeom>
          <a:noFill/>
          <a:ln/>
        </p:spPr>
        <p:txBody>
          <a:bodyPr wrap="square" rtlCol="0" anchor="ctr"/>
          <a:lstStyle/>
          <a:p>
            <a:pPr marL="0" indent="0">
              <a:lnSpc>
                <a:spcPct val="110000"/>
              </a:lnSpc>
              <a:buNone/>
            </a:pPr>
            <a:r>
              <a:rPr lang="en-US" sz="1300" dirty="0">
                <a:solidFill>
                  <a:srgbClr val="FFFFFF"/>
                </a:solidFill>
                <a:latin typeface="Georgia" panose="02040502050405020303" pitchFamily="18" charset="0"/>
                <a:ea typeface="Calibri" pitchFamily="34" charset="-122"/>
                <a:cs typeface="Calibri" pitchFamily="34" charset="-120"/>
              </a:rPr>
              <a:t>Successfully analyzed sales performance across Products, Customers, Regions, and Time.</a:t>
            </a:r>
            <a:endParaRPr lang="en-US" sz="1300" dirty="0">
              <a:latin typeface="Georgia" panose="02040502050405020303" pitchFamily="18" charset="0"/>
            </a:endParaRPr>
          </a:p>
        </p:txBody>
      </p:sp>
      <p:sp>
        <p:nvSpPr>
          <p:cNvPr id="8" name="Shape 6"/>
          <p:cNvSpPr/>
          <p:nvPr/>
        </p:nvSpPr>
        <p:spPr>
          <a:xfrm>
            <a:off x="548640" y="3657600"/>
            <a:ext cx="10424160" cy="777240"/>
          </a:xfrm>
          <a:prstGeom prst="roundRect">
            <a:avLst>
              <a:gd name="adj" fmla="val 9412"/>
            </a:avLst>
          </a:prstGeom>
          <a:solidFill>
            <a:srgbClr val="21295C">
              <a:alpha val="70000"/>
            </a:srgbClr>
          </a:solidFill>
          <a:ln/>
        </p:spPr>
      </p:sp>
      <p:sp>
        <p:nvSpPr>
          <p:cNvPr id="9" name="Shape 7"/>
          <p:cNvSpPr/>
          <p:nvPr/>
        </p:nvSpPr>
        <p:spPr>
          <a:xfrm>
            <a:off x="777240" y="3950208"/>
            <a:ext cx="182880" cy="182880"/>
          </a:xfrm>
          <a:prstGeom prst="ellipse">
            <a:avLst/>
          </a:prstGeom>
          <a:solidFill>
            <a:srgbClr val="2FC8B7"/>
          </a:solidFill>
          <a:ln/>
        </p:spPr>
      </p:sp>
      <p:sp>
        <p:nvSpPr>
          <p:cNvPr id="10" name="Text 8"/>
          <p:cNvSpPr/>
          <p:nvPr/>
        </p:nvSpPr>
        <p:spPr>
          <a:xfrm>
            <a:off x="1143000" y="3657600"/>
            <a:ext cx="9601200" cy="777240"/>
          </a:xfrm>
          <a:prstGeom prst="rect">
            <a:avLst/>
          </a:prstGeom>
          <a:noFill/>
          <a:ln/>
        </p:spPr>
        <p:txBody>
          <a:bodyPr wrap="square" rtlCol="0" anchor="ctr"/>
          <a:lstStyle/>
          <a:p>
            <a:pPr marL="0" indent="0">
              <a:lnSpc>
                <a:spcPct val="110000"/>
              </a:lnSpc>
              <a:buNone/>
            </a:pPr>
            <a:r>
              <a:rPr lang="en-US" sz="1300" dirty="0">
                <a:solidFill>
                  <a:srgbClr val="FFFFFF"/>
                </a:solidFill>
                <a:latin typeface="Georgia" panose="02040502050405020303" pitchFamily="18" charset="0"/>
                <a:ea typeface="Calibri" pitchFamily="34" charset="-122"/>
                <a:cs typeface="Calibri" pitchFamily="34" charset="-120"/>
              </a:rPr>
              <a:t>Developed key business metrics including Sales Amount, Production Cost, Profit, and Profit %.</a:t>
            </a:r>
            <a:endParaRPr lang="en-US" sz="1300" dirty="0">
              <a:latin typeface="Georgia" panose="02040502050405020303" pitchFamily="18" charset="0"/>
            </a:endParaRPr>
          </a:p>
        </p:txBody>
      </p:sp>
      <p:sp>
        <p:nvSpPr>
          <p:cNvPr id="11" name="Shape 9"/>
          <p:cNvSpPr/>
          <p:nvPr/>
        </p:nvSpPr>
        <p:spPr>
          <a:xfrm>
            <a:off x="548640" y="4572000"/>
            <a:ext cx="10424160" cy="777240"/>
          </a:xfrm>
          <a:prstGeom prst="roundRect">
            <a:avLst>
              <a:gd name="adj" fmla="val 9412"/>
            </a:avLst>
          </a:prstGeom>
          <a:solidFill>
            <a:srgbClr val="21295C">
              <a:alpha val="70000"/>
            </a:srgbClr>
          </a:solidFill>
          <a:ln/>
        </p:spPr>
      </p:sp>
      <p:sp>
        <p:nvSpPr>
          <p:cNvPr id="12" name="Shape 10"/>
          <p:cNvSpPr/>
          <p:nvPr/>
        </p:nvSpPr>
        <p:spPr>
          <a:xfrm>
            <a:off x="777240" y="4864608"/>
            <a:ext cx="182880" cy="182880"/>
          </a:xfrm>
          <a:prstGeom prst="ellipse">
            <a:avLst/>
          </a:prstGeom>
          <a:solidFill>
            <a:srgbClr val="2FC8B7"/>
          </a:solidFill>
          <a:ln/>
        </p:spPr>
      </p:sp>
      <p:sp>
        <p:nvSpPr>
          <p:cNvPr id="13" name="Text 11"/>
          <p:cNvSpPr/>
          <p:nvPr/>
        </p:nvSpPr>
        <p:spPr>
          <a:xfrm>
            <a:off x="1143000" y="4572000"/>
            <a:ext cx="9601200" cy="777240"/>
          </a:xfrm>
          <a:prstGeom prst="rect">
            <a:avLst/>
          </a:prstGeom>
          <a:noFill/>
          <a:ln/>
        </p:spPr>
        <p:txBody>
          <a:bodyPr wrap="square" rtlCol="0" anchor="ctr"/>
          <a:lstStyle/>
          <a:p>
            <a:pPr marL="0" indent="0">
              <a:lnSpc>
                <a:spcPct val="110000"/>
              </a:lnSpc>
              <a:buNone/>
            </a:pPr>
            <a:r>
              <a:rPr lang="en-US" sz="1300" dirty="0">
                <a:solidFill>
                  <a:srgbClr val="FFFFFF"/>
                </a:solidFill>
                <a:latin typeface="Georgia" panose="02040502050405020303" pitchFamily="18" charset="0"/>
                <a:ea typeface="Calibri" pitchFamily="34" charset="-122"/>
                <a:cs typeface="Calibri" pitchFamily="34" charset="-120"/>
              </a:rPr>
              <a:t>Built interactive dashboards and reports for effective business analysis.</a:t>
            </a:r>
            <a:endParaRPr lang="en-US" sz="1300" dirty="0">
              <a:latin typeface="Georgia" panose="02040502050405020303" pitchFamily="18" charset="0"/>
            </a:endParaRPr>
          </a:p>
        </p:txBody>
      </p:sp>
      <p:sp>
        <p:nvSpPr>
          <p:cNvPr id="14" name="Shape 12"/>
          <p:cNvSpPr/>
          <p:nvPr/>
        </p:nvSpPr>
        <p:spPr>
          <a:xfrm>
            <a:off x="548640" y="5486400"/>
            <a:ext cx="10424160" cy="777240"/>
          </a:xfrm>
          <a:prstGeom prst="roundRect">
            <a:avLst>
              <a:gd name="adj" fmla="val 9412"/>
            </a:avLst>
          </a:prstGeom>
          <a:solidFill>
            <a:srgbClr val="21295C">
              <a:alpha val="70000"/>
            </a:srgbClr>
          </a:solidFill>
          <a:ln/>
        </p:spPr>
      </p:sp>
      <p:sp>
        <p:nvSpPr>
          <p:cNvPr id="15" name="Shape 13"/>
          <p:cNvSpPr/>
          <p:nvPr/>
        </p:nvSpPr>
        <p:spPr>
          <a:xfrm>
            <a:off x="777240" y="5779008"/>
            <a:ext cx="182880" cy="182880"/>
          </a:xfrm>
          <a:prstGeom prst="ellipse">
            <a:avLst/>
          </a:prstGeom>
          <a:solidFill>
            <a:srgbClr val="2FC8B7"/>
          </a:solidFill>
          <a:ln/>
        </p:spPr>
      </p:sp>
      <p:sp>
        <p:nvSpPr>
          <p:cNvPr id="16" name="Text 14"/>
          <p:cNvSpPr/>
          <p:nvPr/>
        </p:nvSpPr>
        <p:spPr>
          <a:xfrm>
            <a:off x="1143000" y="5486400"/>
            <a:ext cx="9601200" cy="777240"/>
          </a:xfrm>
          <a:prstGeom prst="rect">
            <a:avLst/>
          </a:prstGeom>
          <a:noFill/>
          <a:ln/>
        </p:spPr>
        <p:txBody>
          <a:bodyPr wrap="square" rtlCol="0" anchor="ctr"/>
          <a:lstStyle/>
          <a:p>
            <a:pPr marL="0" indent="0">
              <a:lnSpc>
                <a:spcPct val="110000"/>
              </a:lnSpc>
              <a:buNone/>
            </a:pPr>
            <a:r>
              <a:rPr lang="en-US" sz="1300" dirty="0">
                <a:solidFill>
                  <a:srgbClr val="FFFFFF"/>
                </a:solidFill>
                <a:latin typeface="Georgia" panose="02040502050405020303" pitchFamily="18" charset="0"/>
                <a:ea typeface="Calibri" pitchFamily="34" charset="-122"/>
                <a:cs typeface="Calibri" pitchFamily="34" charset="-120"/>
              </a:rPr>
              <a:t>Demonstrated proficiency in SQL, Excel, Tableau, and Power BI through independent implementation.</a:t>
            </a:r>
            <a:endParaRPr lang="en-US" sz="1300" dirty="0">
              <a:latin typeface="Georgia" panose="02040502050405020303" pitchFamily="18" charset="0"/>
            </a:endParaRPr>
          </a:p>
        </p:txBody>
      </p:sp>
      <p:sp>
        <p:nvSpPr>
          <p:cNvPr id="17" name="Text 1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9FB3C8"/>
                </a:solidFill>
                <a:latin typeface="Georgia" panose="02040502050405020303" pitchFamily="18" charset="0"/>
                <a:ea typeface="Calibri" pitchFamily="34" charset="-122"/>
                <a:cs typeface="Calibri" pitchFamily="34" charset="-120"/>
              </a:rPr>
              <a:t>12</a:t>
            </a:r>
            <a:endParaRPr lang="en-US" sz="1000" dirty="0">
              <a:latin typeface="Georgia" panose="02040502050405020303" pitchFamily="18" charset="0"/>
            </a:endParaRPr>
          </a:p>
        </p:txBody>
      </p:sp>
      <p:sp>
        <p:nvSpPr>
          <p:cNvPr id="18" name="Text 16"/>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6C87A8"/>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21295C"/>
                </a:solidFill>
                <a:latin typeface="Georgia" panose="02040502050405020303" pitchFamily="18" charset="0"/>
                <a:ea typeface="Cambria" pitchFamily="34" charset="-122"/>
                <a:cs typeface="Cambria" pitchFamily="34" charset="-120"/>
              </a:rPr>
              <a:t>Future Scope</a:t>
            </a:r>
            <a:endParaRPr lang="en-US" sz="3400" dirty="0">
              <a:latin typeface="Georgia" panose="02040502050405020303" pitchFamily="18" charset="0"/>
            </a:endParaRPr>
          </a:p>
        </p:txBody>
      </p:sp>
      <p:sp>
        <p:nvSpPr>
          <p:cNvPr id="3" name="Text 1"/>
          <p:cNvSpPr/>
          <p:nvPr/>
        </p:nvSpPr>
        <p:spPr>
          <a:xfrm>
            <a:off x="548640" y="1005840"/>
            <a:ext cx="7315200" cy="365760"/>
          </a:xfrm>
          <a:prstGeom prst="rect">
            <a:avLst/>
          </a:prstGeom>
          <a:noFill/>
          <a:ln/>
        </p:spPr>
        <p:txBody>
          <a:bodyPr wrap="square" rtlCol="0" anchor="ctr"/>
          <a:lstStyle/>
          <a:p>
            <a:pPr marL="0" indent="0">
              <a:buNone/>
            </a:pPr>
            <a:r>
              <a:rPr lang="en-US" sz="1400" dirty="0">
                <a:solidFill>
                  <a:srgbClr val="5B6B79"/>
                </a:solidFill>
                <a:latin typeface="Georgia" panose="02040502050405020303" pitchFamily="18" charset="0"/>
                <a:ea typeface="Calibri" pitchFamily="34" charset="-122"/>
                <a:cs typeface="Calibri" pitchFamily="34" charset="-120"/>
              </a:rPr>
              <a:t>Where the project can grow next</a:t>
            </a:r>
            <a:endParaRPr lang="en-US" sz="1400" dirty="0">
              <a:latin typeface="Georgia" panose="02040502050405020303" pitchFamily="18" charset="0"/>
            </a:endParaRPr>
          </a:p>
        </p:txBody>
      </p:sp>
      <p:sp>
        <p:nvSpPr>
          <p:cNvPr id="4" name="Shape 2"/>
          <p:cNvSpPr/>
          <p:nvPr/>
        </p:nvSpPr>
        <p:spPr>
          <a:xfrm>
            <a:off x="548640" y="1600200"/>
            <a:ext cx="3611880" cy="2148840"/>
          </a:xfrm>
          <a:prstGeom prst="roundRect">
            <a:avLst>
              <a:gd name="adj" fmla="val 4255"/>
            </a:avLst>
          </a:prstGeom>
          <a:solidFill>
            <a:srgbClr val="F4F7F9"/>
          </a:solidFill>
          <a:ln/>
          <a:effectLst>
            <a:outerShdw blurRad="76200" dist="25400" dir="5400000" algn="bl" rotWithShape="0">
              <a:srgbClr val="1B2430">
                <a:alpha val="10000"/>
              </a:srgbClr>
            </a:outerShdw>
          </a:effectLst>
        </p:spPr>
      </p:sp>
      <p:sp>
        <p:nvSpPr>
          <p:cNvPr id="5" name="Shape 3"/>
          <p:cNvSpPr/>
          <p:nvPr/>
        </p:nvSpPr>
        <p:spPr>
          <a:xfrm>
            <a:off x="822960" y="1874520"/>
            <a:ext cx="502920" cy="502920"/>
          </a:xfrm>
          <a:prstGeom prst="ellipse">
            <a:avLst/>
          </a:prstGeom>
          <a:solidFill>
            <a:srgbClr val="065A82"/>
          </a:solidFill>
          <a:ln/>
        </p:spPr>
      </p:sp>
      <p:sp>
        <p:nvSpPr>
          <p:cNvPr id="6" name="Text 4"/>
          <p:cNvSpPr/>
          <p:nvPr/>
        </p:nvSpPr>
        <p:spPr>
          <a:xfrm>
            <a:off x="82296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1</a:t>
            </a:r>
            <a:endParaRPr lang="en-US" sz="1800" dirty="0">
              <a:latin typeface="Georgia" panose="02040502050405020303" pitchFamily="18" charset="0"/>
            </a:endParaRPr>
          </a:p>
        </p:txBody>
      </p:sp>
      <p:sp>
        <p:nvSpPr>
          <p:cNvPr id="7" name="Text 5"/>
          <p:cNvSpPr/>
          <p:nvPr/>
        </p:nvSpPr>
        <p:spPr>
          <a:xfrm>
            <a:off x="822960" y="2514600"/>
            <a:ext cx="3063240" cy="502920"/>
          </a:xfrm>
          <a:prstGeom prst="rect">
            <a:avLst/>
          </a:prstGeom>
          <a:noFill/>
          <a:ln/>
        </p:spPr>
        <p:txBody>
          <a:bodyPr wrap="square" rtlCol="0" anchor="ctr"/>
          <a:lstStyle/>
          <a:p>
            <a:pPr marL="0" indent="0">
              <a:lnSpc>
                <a:spcPct val="105000"/>
              </a:lnSpc>
              <a:buNone/>
            </a:pPr>
            <a:r>
              <a:rPr lang="en-US" sz="1400" b="1" dirty="0">
                <a:solidFill>
                  <a:srgbClr val="21295C"/>
                </a:solidFill>
                <a:latin typeface="Georgia" panose="02040502050405020303" pitchFamily="18" charset="0"/>
                <a:ea typeface="Cambria" pitchFamily="34" charset="-122"/>
                <a:cs typeface="Cambria" pitchFamily="34" charset="-120"/>
              </a:rPr>
              <a:t>Automated Data Refresh</a:t>
            </a:r>
            <a:endParaRPr lang="en-US" sz="1400" dirty="0">
              <a:latin typeface="Georgia" panose="02040502050405020303" pitchFamily="18" charset="0"/>
            </a:endParaRPr>
          </a:p>
        </p:txBody>
      </p:sp>
      <p:sp>
        <p:nvSpPr>
          <p:cNvPr id="8" name="Text 6"/>
          <p:cNvSpPr/>
          <p:nvPr/>
        </p:nvSpPr>
        <p:spPr>
          <a:xfrm>
            <a:off x="822960" y="3017520"/>
            <a:ext cx="3063240" cy="640080"/>
          </a:xfrm>
          <a:prstGeom prst="rect">
            <a:avLst/>
          </a:prstGeom>
          <a:noFill/>
          <a:ln/>
        </p:spPr>
        <p:txBody>
          <a:bodyPr wrap="square" rtlCol="0" anchor="ctr"/>
          <a:lstStyle/>
          <a:p>
            <a:pPr marL="0" indent="0">
              <a:lnSpc>
                <a:spcPct val="115000"/>
              </a:lnSpc>
              <a:buNone/>
            </a:pPr>
            <a:r>
              <a:rPr lang="en-US" sz="1100" dirty="0">
                <a:solidFill>
                  <a:srgbClr val="1B2430"/>
                </a:solidFill>
                <a:latin typeface="Georgia" panose="02040502050405020303" pitchFamily="18" charset="0"/>
                <a:ea typeface="Calibri" pitchFamily="34" charset="-122"/>
                <a:cs typeface="Calibri" pitchFamily="34" charset="-120"/>
              </a:rPr>
              <a:t>Automate data updates to ensure reports always display the latest information.</a:t>
            </a:r>
            <a:endParaRPr lang="en-US" sz="1100" dirty="0">
              <a:latin typeface="Georgia" panose="02040502050405020303" pitchFamily="18" charset="0"/>
            </a:endParaRPr>
          </a:p>
        </p:txBody>
      </p:sp>
      <p:sp>
        <p:nvSpPr>
          <p:cNvPr id="9" name="Shape 7"/>
          <p:cNvSpPr/>
          <p:nvPr/>
        </p:nvSpPr>
        <p:spPr>
          <a:xfrm>
            <a:off x="4297680" y="1600200"/>
            <a:ext cx="3611880" cy="2148840"/>
          </a:xfrm>
          <a:prstGeom prst="roundRect">
            <a:avLst>
              <a:gd name="adj" fmla="val 4255"/>
            </a:avLst>
          </a:prstGeom>
          <a:solidFill>
            <a:srgbClr val="F4F7F9"/>
          </a:solidFill>
          <a:ln/>
          <a:effectLst>
            <a:outerShdw blurRad="76200" dist="25400" dir="5400000" algn="bl" rotWithShape="0">
              <a:srgbClr val="1B2430">
                <a:alpha val="10000"/>
              </a:srgbClr>
            </a:outerShdw>
          </a:effectLst>
        </p:spPr>
      </p:sp>
      <p:sp>
        <p:nvSpPr>
          <p:cNvPr id="10" name="Shape 8"/>
          <p:cNvSpPr/>
          <p:nvPr/>
        </p:nvSpPr>
        <p:spPr>
          <a:xfrm>
            <a:off x="4572000" y="1874520"/>
            <a:ext cx="502920" cy="502920"/>
          </a:xfrm>
          <a:prstGeom prst="ellipse">
            <a:avLst/>
          </a:prstGeom>
          <a:solidFill>
            <a:srgbClr val="1C7293"/>
          </a:solidFill>
          <a:ln/>
        </p:spPr>
      </p:sp>
      <p:sp>
        <p:nvSpPr>
          <p:cNvPr id="11" name="Text 9"/>
          <p:cNvSpPr/>
          <p:nvPr/>
        </p:nvSpPr>
        <p:spPr>
          <a:xfrm>
            <a:off x="457200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2</a:t>
            </a:r>
            <a:endParaRPr lang="en-US" sz="1800" dirty="0">
              <a:latin typeface="Georgia" panose="02040502050405020303" pitchFamily="18" charset="0"/>
            </a:endParaRPr>
          </a:p>
        </p:txBody>
      </p:sp>
      <p:sp>
        <p:nvSpPr>
          <p:cNvPr id="12" name="Text 10"/>
          <p:cNvSpPr/>
          <p:nvPr/>
        </p:nvSpPr>
        <p:spPr>
          <a:xfrm>
            <a:off x="4572000" y="2514600"/>
            <a:ext cx="3063240" cy="502920"/>
          </a:xfrm>
          <a:prstGeom prst="rect">
            <a:avLst/>
          </a:prstGeom>
          <a:noFill/>
          <a:ln/>
        </p:spPr>
        <p:txBody>
          <a:bodyPr wrap="square" rtlCol="0" anchor="ctr"/>
          <a:lstStyle/>
          <a:p>
            <a:pPr marL="0" indent="0">
              <a:lnSpc>
                <a:spcPct val="105000"/>
              </a:lnSpc>
              <a:buNone/>
            </a:pPr>
            <a:r>
              <a:rPr lang="en-US" sz="1400" b="1" dirty="0">
                <a:solidFill>
                  <a:srgbClr val="21295C"/>
                </a:solidFill>
                <a:latin typeface="Georgia" panose="02040502050405020303" pitchFamily="18" charset="0"/>
                <a:ea typeface="Cambria" pitchFamily="34" charset="-122"/>
                <a:cs typeface="Cambria" pitchFamily="34" charset="-120"/>
              </a:rPr>
              <a:t>Advanced Customer Analytics</a:t>
            </a:r>
            <a:endParaRPr lang="en-US" sz="1400" dirty="0">
              <a:latin typeface="Georgia" panose="02040502050405020303" pitchFamily="18" charset="0"/>
            </a:endParaRPr>
          </a:p>
        </p:txBody>
      </p:sp>
      <p:sp>
        <p:nvSpPr>
          <p:cNvPr id="13" name="Text 11"/>
          <p:cNvSpPr/>
          <p:nvPr/>
        </p:nvSpPr>
        <p:spPr>
          <a:xfrm>
            <a:off x="4572000" y="3017520"/>
            <a:ext cx="3063240" cy="640080"/>
          </a:xfrm>
          <a:prstGeom prst="rect">
            <a:avLst/>
          </a:prstGeom>
          <a:noFill/>
          <a:ln/>
        </p:spPr>
        <p:txBody>
          <a:bodyPr wrap="square" rtlCol="0" anchor="ctr"/>
          <a:lstStyle/>
          <a:p>
            <a:pPr marL="0" indent="0">
              <a:lnSpc>
                <a:spcPct val="115000"/>
              </a:lnSpc>
              <a:buNone/>
            </a:pPr>
            <a:r>
              <a:rPr lang="en-US" sz="1100" dirty="0">
                <a:solidFill>
                  <a:srgbClr val="1B2430"/>
                </a:solidFill>
                <a:latin typeface="Georgia" panose="02040502050405020303" pitchFamily="18" charset="0"/>
                <a:ea typeface="Calibri" pitchFamily="34" charset="-122"/>
                <a:cs typeface="Calibri" pitchFamily="34" charset="-120"/>
              </a:rPr>
              <a:t>Implement customer segmentation and RFM analysis for deeper customer insights.</a:t>
            </a:r>
            <a:endParaRPr lang="en-US" sz="1100" dirty="0">
              <a:latin typeface="Georgia" panose="02040502050405020303" pitchFamily="18" charset="0"/>
            </a:endParaRPr>
          </a:p>
        </p:txBody>
      </p:sp>
      <p:sp>
        <p:nvSpPr>
          <p:cNvPr id="14" name="Shape 12"/>
          <p:cNvSpPr/>
          <p:nvPr/>
        </p:nvSpPr>
        <p:spPr>
          <a:xfrm>
            <a:off x="8046720" y="1600200"/>
            <a:ext cx="3611880" cy="2148840"/>
          </a:xfrm>
          <a:prstGeom prst="roundRect">
            <a:avLst>
              <a:gd name="adj" fmla="val 4255"/>
            </a:avLst>
          </a:prstGeom>
          <a:solidFill>
            <a:srgbClr val="F4F7F9"/>
          </a:solidFill>
          <a:ln/>
          <a:effectLst>
            <a:outerShdw blurRad="76200" dist="25400" dir="5400000" algn="bl" rotWithShape="0">
              <a:srgbClr val="1B2430">
                <a:alpha val="10000"/>
              </a:srgbClr>
            </a:outerShdw>
          </a:effectLst>
        </p:spPr>
      </p:sp>
      <p:sp>
        <p:nvSpPr>
          <p:cNvPr id="15" name="Shape 13"/>
          <p:cNvSpPr/>
          <p:nvPr/>
        </p:nvSpPr>
        <p:spPr>
          <a:xfrm>
            <a:off x="8321040" y="1874520"/>
            <a:ext cx="502920" cy="502920"/>
          </a:xfrm>
          <a:prstGeom prst="ellipse">
            <a:avLst/>
          </a:prstGeom>
          <a:solidFill>
            <a:srgbClr val="065A82"/>
          </a:solidFill>
          <a:ln/>
        </p:spPr>
      </p:sp>
      <p:sp>
        <p:nvSpPr>
          <p:cNvPr id="16" name="Text 14"/>
          <p:cNvSpPr/>
          <p:nvPr/>
        </p:nvSpPr>
        <p:spPr>
          <a:xfrm>
            <a:off x="832104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3</a:t>
            </a:r>
            <a:endParaRPr lang="en-US" sz="1800" dirty="0">
              <a:latin typeface="Georgia" panose="02040502050405020303" pitchFamily="18" charset="0"/>
            </a:endParaRPr>
          </a:p>
        </p:txBody>
      </p:sp>
      <p:sp>
        <p:nvSpPr>
          <p:cNvPr id="17" name="Text 15"/>
          <p:cNvSpPr/>
          <p:nvPr/>
        </p:nvSpPr>
        <p:spPr>
          <a:xfrm>
            <a:off x="8321040" y="2514600"/>
            <a:ext cx="3063240" cy="502920"/>
          </a:xfrm>
          <a:prstGeom prst="rect">
            <a:avLst/>
          </a:prstGeom>
          <a:noFill/>
          <a:ln/>
        </p:spPr>
        <p:txBody>
          <a:bodyPr wrap="square" rtlCol="0" anchor="ctr"/>
          <a:lstStyle/>
          <a:p>
            <a:pPr marL="0" indent="0">
              <a:lnSpc>
                <a:spcPct val="105000"/>
              </a:lnSpc>
              <a:buNone/>
            </a:pPr>
            <a:r>
              <a:rPr lang="en-US" sz="1400" b="1" dirty="0">
                <a:solidFill>
                  <a:srgbClr val="21295C"/>
                </a:solidFill>
                <a:latin typeface="Georgia" panose="02040502050405020303" pitchFamily="18" charset="0"/>
                <a:ea typeface="Cambria" pitchFamily="34" charset="-122"/>
                <a:cs typeface="Cambria" pitchFamily="34" charset="-120"/>
              </a:rPr>
              <a:t>Sales Forecasting</a:t>
            </a:r>
            <a:endParaRPr lang="en-US" sz="1400" dirty="0">
              <a:latin typeface="Georgia" panose="02040502050405020303" pitchFamily="18" charset="0"/>
            </a:endParaRPr>
          </a:p>
        </p:txBody>
      </p:sp>
      <p:sp>
        <p:nvSpPr>
          <p:cNvPr id="18" name="Text 16"/>
          <p:cNvSpPr/>
          <p:nvPr/>
        </p:nvSpPr>
        <p:spPr>
          <a:xfrm>
            <a:off x="8321040" y="3017520"/>
            <a:ext cx="3063240" cy="640080"/>
          </a:xfrm>
          <a:prstGeom prst="rect">
            <a:avLst/>
          </a:prstGeom>
          <a:noFill/>
          <a:ln/>
        </p:spPr>
        <p:txBody>
          <a:bodyPr wrap="square" rtlCol="0" anchor="ctr"/>
          <a:lstStyle/>
          <a:p>
            <a:pPr marL="0" indent="0">
              <a:lnSpc>
                <a:spcPct val="115000"/>
              </a:lnSpc>
              <a:buNone/>
            </a:pPr>
            <a:r>
              <a:rPr lang="en-US" sz="1100" dirty="0">
                <a:solidFill>
                  <a:srgbClr val="1B2430"/>
                </a:solidFill>
                <a:latin typeface="Georgia" panose="02040502050405020303" pitchFamily="18" charset="0"/>
                <a:ea typeface="Calibri" pitchFamily="34" charset="-122"/>
                <a:cs typeface="Calibri" pitchFamily="34" charset="-120"/>
              </a:rPr>
              <a:t>Use predictive analytics to forecast future sales and demand.</a:t>
            </a:r>
            <a:endParaRPr lang="en-US" sz="1100" dirty="0">
              <a:latin typeface="Georgia" panose="02040502050405020303" pitchFamily="18" charset="0"/>
            </a:endParaRPr>
          </a:p>
        </p:txBody>
      </p:sp>
      <p:sp>
        <p:nvSpPr>
          <p:cNvPr id="19" name="Shape 17"/>
          <p:cNvSpPr/>
          <p:nvPr/>
        </p:nvSpPr>
        <p:spPr>
          <a:xfrm>
            <a:off x="548640" y="3977640"/>
            <a:ext cx="3611880" cy="2148840"/>
          </a:xfrm>
          <a:prstGeom prst="roundRect">
            <a:avLst>
              <a:gd name="adj" fmla="val 4255"/>
            </a:avLst>
          </a:prstGeom>
          <a:solidFill>
            <a:srgbClr val="F4F7F9"/>
          </a:solidFill>
          <a:ln/>
          <a:effectLst>
            <a:outerShdw blurRad="76200" dist="25400" dir="5400000" algn="bl" rotWithShape="0">
              <a:srgbClr val="1B2430">
                <a:alpha val="10000"/>
              </a:srgbClr>
            </a:outerShdw>
          </a:effectLst>
        </p:spPr>
      </p:sp>
      <p:sp>
        <p:nvSpPr>
          <p:cNvPr id="20" name="Shape 18"/>
          <p:cNvSpPr/>
          <p:nvPr/>
        </p:nvSpPr>
        <p:spPr>
          <a:xfrm>
            <a:off x="822960" y="4251960"/>
            <a:ext cx="502920" cy="502920"/>
          </a:xfrm>
          <a:prstGeom prst="ellipse">
            <a:avLst/>
          </a:prstGeom>
          <a:solidFill>
            <a:srgbClr val="1C7293"/>
          </a:solidFill>
          <a:ln/>
        </p:spPr>
      </p:sp>
      <p:sp>
        <p:nvSpPr>
          <p:cNvPr id="21" name="Text 19"/>
          <p:cNvSpPr/>
          <p:nvPr/>
        </p:nvSpPr>
        <p:spPr>
          <a:xfrm>
            <a:off x="82296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4</a:t>
            </a:r>
            <a:endParaRPr lang="en-US" sz="1800" dirty="0">
              <a:latin typeface="Georgia" panose="02040502050405020303" pitchFamily="18" charset="0"/>
            </a:endParaRPr>
          </a:p>
        </p:txBody>
      </p:sp>
      <p:sp>
        <p:nvSpPr>
          <p:cNvPr id="22" name="Text 20"/>
          <p:cNvSpPr/>
          <p:nvPr/>
        </p:nvSpPr>
        <p:spPr>
          <a:xfrm>
            <a:off x="822960" y="4892040"/>
            <a:ext cx="3063240" cy="502920"/>
          </a:xfrm>
          <a:prstGeom prst="rect">
            <a:avLst/>
          </a:prstGeom>
          <a:noFill/>
          <a:ln/>
        </p:spPr>
        <p:txBody>
          <a:bodyPr wrap="square" rtlCol="0" anchor="ctr"/>
          <a:lstStyle/>
          <a:p>
            <a:pPr marL="0" indent="0">
              <a:lnSpc>
                <a:spcPct val="105000"/>
              </a:lnSpc>
              <a:buNone/>
            </a:pPr>
            <a:r>
              <a:rPr lang="en-US" sz="1400" b="1" dirty="0">
                <a:solidFill>
                  <a:srgbClr val="21295C"/>
                </a:solidFill>
                <a:latin typeface="Georgia" panose="02040502050405020303" pitchFamily="18" charset="0"/>
                <a:ea typeface="Cambria" pitchFamily="34" charset="-122"/>
                <a:cs typeface="Cambria" pitchFamily="34" charset="-120"/>
              </a:rPr>
              <a:t>Enhanced Profitability Analysis</a:t>
            </a:r>
            <a:endParaRPr lang="en-US" sz="1400" dirty="0">
              <a:latin typeface="Georgia" panose="02040502050405020303" pitchFamily="18" charset="0"/>
            </a:endParaRPr>
          </a:p>
        </p:txBody>
      </p:sp>
      <p:sp>
        <p:nvSpPr>
          <p:cNvPr id="23" name="Text 21"/>
          <p:cNvSpPr/>
          <p:nvPr/>
        </p:nvSpPr>
        <p:spPr>
          <a:xfrm>
            <a:off x="822960" y="5394960"/>
            <a:ext cx="3063240" cy="640080"/>
          </a:xfrm>
          <a:prstGeom prst="rect">
            <a:avLst/>
          </a:prstGeom>
          <a:noFill/>
          <a:ln/>
        </p:spPr>
        <p:txBody>
          <a:bodyPr wrap="square" rtlCol="0" anchor="ctr"/>
          <a:lstStyle/>
          <a:p>
            <a:pPr marL="0" indent="0">
              <a:lnSpc>
                <a:spcPct val="115000"/>
              </a:lnSpc>
              <a:buNone/>
            </a:pPr>
            <a:r>
              <a:rPr lang="en-US" sz="1100" dirty="0">
                <a:solidFill>
                  <a:srgbClr val="1B2430"/>
                </a:solidFill>
                <a:latin typeface="Georgia" panose="02040502050405020303" pitchFamily="18" charset="0"/>
                <a:ea typeface="Calibri" pitchFamily="34" charset="-122"/>
                <a:cs typeface="Calibri" pitchFamily="34" charset="-120"/>
              </a:rPr>
              <a:t>Analyze returns, discounts, freight costs, and product margins.</a:t>
            </a:r>
            <a:endParaRPr lang="en-US" sz="1100" dirty="0">
              <a:latin typeface="Georgia" panose="02040502050405020303" pitchFamily="18" charset="0"/>
            </a:endParaRPr>
          </a:p>
        </p:txBody>
      </p:sp>
      <p:sp>
        <p:nvSpPr>
          <p:cNvPr id="24" name="Shape 22"/>
          <p:cNvSpPr/>
          <p:nvPr/>
        </p:nvSpPr>
        <p:spPr>
          <a:xfrm>
            <a:off x="4297680" y="3977640"/>
            <a:ext cx="3611880" cy="2148840"/>
          </a:xfrm>
          <a:prstGeom prst="roundRect">
            <a:avLst>
              <a:gd name="adj" fmla="val 4255"/>
            </a:avLst>
          </a:prstGeom>
          <a:solidFill>
            <a:srgbClr val="F4F7F9"/>
          </a:solidFill>
          <a:ln/>
          <a:effectLst>
            <a:outerShdw blurRad="76200" dist="25400" dir="5400000" algn="bl" rotWithShape="0">
              <a:srgbClr val="1B2430">
                <a:alpha val="10000"/>
              </a:srgbClr>
            </a:outerShdw>
          </a:effectLst>
        </p:spPr>
      </p:sp>
      <p:sp>
        <p:nvSpPr>
          <p:cNvPr id="25" name="Shape 23"/>
          <p:cNvSpPr/>
          <p:nvPr/>
        </p:nvSpPr>
        <p:spPr>
          <a:xfrm>
            <a:off x="4572000" y="4251960"/>
            <a:ext cx="502920" cy="502920"/>
          </a:xfrm>
          <a:prstGeom prst="ellipse">
            <a:avLst/>
          </a:prstGeom>
          <a:solidFill>
            <a:srgbClr val="065A82"/>
          </a:solidFill>
          <a:ln/>
        </p:spPr>
      </p:sp>
      <p:sp>
        <p:nvSpPr>
          <p:cNvPr id="26" name="Text 24"/>
          <p:cNvSpPr/>
          <p:nvPr/>
        </p:nvSpPr>
        <p:spPr>
          <a:xfrm>
            <a:off x="457200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5</a:t>
            </a:r>
            <a:endParaRPr lang="en-US" sz="1800" dirty="0">
              <a:latin typeface="Georgia" panose="02040502050405020303" pitchFamily="18" charset="0"/>
            </a:endParaRPr>
          </a:p>
        </p:txBody>
      </p:sp>
      <p:sp>
        <p:nvSpPr>
          <p:cNvPr id="27" name="Text 25"/>
          <p:cNvSpPr/>
          <p:nvPr/>
        </p:nvSpPr>
        <p:spPr>
          <a:xfrm>
            <a:off x="4572000" y="4892040"/>
            <a:ext cx="3063240" cy="502920"/>
          </a:xfrm>
          <a:prstGeom prst="rect">
            <a:avLst/>
          </a:prstGeom>
          <a:noFill/>
          <a:ln/>
        </p:spPr>
        <p:txBody>
          <a:bodyPr wrap="square" rtlCol="0" anchor="ctr"/>
          <a:lstStyle/>
          <a:p>
            <a:pPr marL="0" indent="0">
              <a:lnSpc>
                <a:spcPct val="105000"/>
              </a:lnSpc>
              <a:buNone/>
            </a:pPr>
            <a:r>
              <a:rPr lang="en-US" sz="1400" b="1" dirty="0">
                <a:solidFill>
                  <a:srgbClr val="21295C"/>
                </a:solidFill>
                <a:latin typeface="Georgia" panose="02040502050405020303" pitchFamily="18" charset="0"/>
                <a:ea typeface="Cambria" pitchFamily="34" charset="-122"/>
                <a:cs typeface="Cambria" pitchFamily="34" charset="-120"/>
              </a:rPr>
              <a:t>Real-Time Data Integration</a:t>
            </a:r>
            <a:endParaRPr lang="en-US" sz="1400" dirty="0">
              <a:latin typeface="Georgia" panose="02040502050405020303" pitchFamily="18" charset="0"/>
            </a:endParaRPr>
          </a:p>
        </p:txBody>
      </p:sp>
      <p:sp>
        <p:nvSpPr>
          <p:cNvPr id="28" name="Text 26"/>
          <p:cNvSpPr/>
          <p:nvPr/>
        </p:nvSpPr>
        <p:spPr>
          <a:xfrm>
            <a:off x="4572000" y="5394960"/>
            <a:ext cx="3063240" cy="640080"/>
          </a:xfrm>
          <a:prstGeom prst="rect">
            <a:avLst/>
          </a:prstGeom>
          <a:noFill/>
          <a:ln/>
        </p:spPr>
        <p:txBody>
          <a:bodyPr wrap="square" rtlCol="0" anchor="ctr"/>
          <a:lstStyle/>
          <a:p>
            <a:pPr marL="0" indent="0">
              <a:lnSpc>
                <a:spcPct val="115000"/>
              </a:lnSpc>
              <a:buNone/>
            </a:pPr>
            <a:r>
              <a:rPr lang="en-US" sz="1100" dirty="0">
                <a:solidFill>
                  <a:srgbClr val="1B2430"/>
                </a:solidFill>
                <a:latin typeface="Georgia" panose="02040502050405020303" pitchFamily="18" charset="0"/>
                <a:ea typeface="Calibri" pitchFamily="34" charset="-122"/>
                <a:cs typeface="Calibri" pitchFamily="34" charset="-120"/>
              </a:rPr>
              <a:t>Connect dashboards to live data sources for real-time reporting.</a:t>
            </a:r>
            <a:endParaRPr lang="en-US" sz="1100" dirty="0">
              <a:latin typeface="Georgia" panose="02040502050405020303" pitchFamily="18" charset="0"/>
            </a:endParaRPr>
          </a:p>
        </p:txBody>
      </p:sp>
      <p:sp>
        <p:nvSpPr>
          <p:cNvPr id="29" name="Shape 27"/>
          <p:cNvSpPr/>
          <p:nvPr/>
        </p:nvSpPr>
        <p:spPr>
          <a:xfrm>
            <a:off x="8046720" y="3977640"/>
            <a:ext cx="3611880" cy="2148840"/>
          </a:xfrm>
          <a:prstGeom prst="roundRect">
            <a:avLst>
              <a:gd name="adj" fmla="val 4255"/>
            </a:avLst>
          </a:prstGeom>
          <a:solidFill>
            <a:srgbClr val="F4F7F9"/>
          </a:solidFill>
          <a:ln/>
          <a:effectLst>
            <a:outerShdw blurRad="76200" dist="25400" dir="5400000" algn="bl" rotWithShape="0">
              <a:srgbClr val="1B2430">
                <a:alpha val="10000"/>
              </a:srgbClr>
            </a:outerShdw>
          </a:effectLst>
        </p:spPr>
      </p:sp>
      <p:sp>
        <p:nvSpPr>
          <p:cNvPr id="30" name="Shape 28"/>
          <p:cNvSpPr/>
          <p:nvPr/>
        </p:nvSpPr>
        <p:spPr>
          <a:xfrm>
            <a:off x="8321040" y="4251960"/>
            <a:ext cx="502920" cy="502920"/>
          </a:xfrm>
          <a:prstGeom prst="ellipse">
            <a:avLst/>
          </a:prstGeom>
          <a:solidFill>
            <a:srgbClr val="1C7293"/>
          </a:solidFill>
          <a:ln/>
        </p:spPr>
      </p:sp>
      <p:sp>
        <p:nvSpPr>
          <p:cNvPr id="31" name="Text 29"/>
          <p:cNvSpPr/>
          <p:nvPr/>
        </p:nvSpPr>
        <p:spPr>
          <a:xfrm>
            <a:off x="832104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anose="02040502050405020303" pitchFamily="18" charset="0"/>
                <a:ea typeface="Calibri" pitchFamily="34" charset="-122"/>
                <a:cs typeface="Calibri" pitchFamily="34" charset="-120"/>
              </a:rPr>
              <a:t>6</a:t>
            </a:r>
            <a:endParaRPr lang="en-US" sz="1800" dirty="0">
              <a:latin typeface="Georgia" panose="02040502050405020303" pitchFamily="18" charset="0"/>
            </a:endParaRPr>
          </a:p>
        </p:txBody>
      </p:sp>
      <p:sp>
        <p:nvSpPr>
          <p:cNvPr id="32" name="Text 30"/>
          <p:cNvSpPr/>
          <p:nvPr/>
        </p:nvSpPr>
        <p:spPr>
          <a:xfrm>
            <a:off x="8321040" y="4892040"/>
            <a:ext cx="3063240" cy="502920"/>
          </a:xfrm>
          <a:prstGeom prst="rect">
            <a:avLst/>
          </a:prstGeom>
          <a:noFill/>
          <a:ln/>
        </p:spPr>
        <p:txBody>
          <a:bodyPr wrap="square" rtlCol="0" anchor="ctr"/>
          <a:lstStyle/>
          <a:p>
            <a:pPr marL="0" indent="0">
              <a:lnSpc>
                <a:spcPct val="105000"/>
              </a:lnSpc>
              <a:buNone/>
            </a:pPr>
            <a:r>
              <a:rPr lang="en-US" sz="1400" b="1" dirty="0">
                <a:solidFill>
                  <a:srgbClr val="21295C"/>
                </a:solidFill>
                <a:latin typeface="Georgia" panose="02040502050405020303" pitchFamily="18" charset="0"/>
                <a:ea typeface="Cambria" pitchFamily="34" charset="-122"/>
                <a:cs typeface="Cambria" pitchFamily="34" charset="-120"/>
              </a:rPr>
              <a:t>Mobile-Friendly Dashboards</a:t>
            </a:r>
            <a:endParaRPr lang="en-US" sz="1400" dirty="0">
              <a:latin typeface="Georgia" panose="02040502050405020303" pitchFamily="18" charset="0"/>
            </a:endParaRPr>
          </a:p>
        </p:txBody>
      </p:sp>
      <p:sp>
        <p:nvSpPr>
          <p:cNvPr id="33" name="Text 31"/>
          <p:cNvSpPr/>
          <p:nvPr/>
        </p:nvSpPr>
        <p:spPr>
          <a:xfrm>
            <a:off x="8321040" y="5394960"/>
            <a:ext cx="3063240" cy="640080"/>
          </a:xfrm>
          <a:prstGeom prst="rect">
            <a:avLst/>
          </a:prstGeom>
          <a:noFill/>
          <a:ln/>
        </p:spPr>
        <p:txBody>
          <a:bodyPr wrap="square" rtlCol="0" anchor="ctr"/>
          <a:lstStyle/>
          <a:p>
            <a:pPr marL="0" indent="0">
              <a:lnSpc>
                <a:spcPct val="115000"/>
              </a:lnSpc>
              <a:buNone/>
            </a:pPr>
            <a:r>
              <a:rPr lang="en-US" sz="1100" dirty="0">
                <a:solidFill>
                  <a:srgbClr val="1B2430"/>
                </a:solidFill>
                <a:latin typeface="Georgia" panose="02040502050405020303" pitchFamily="18" charset="0"/>
                <a:ea typeface="Calibri" pitchFamily="34" charset="-122"/>
                <a:cs typeface="Calibri" pitchFamily="34" charset="-120"/>
              </a:rPr>
              <a:t>Design responsive dashboards for easy access across devices.</a:t>
            </a:r>
            <a:endParaRPr lang="en-US" sz="1100" dirty="0">
              <a:latin typeface="Georgia" panose="02040502050405020303" pitchFamily="18" charset="0"/>
            </a:endParaRPr>
          </a:p>
        </p:txBody>
      </p:sp>
      <p:sp>
        <p:nvSpPr>
          <p:cNvPr id="34" name="Text 32"/>
          <p:cNvSpPr/>
          <p:nvPr/>
        </p:nvSpPr>
        <p:spPr>
          <a:xfrm>
            <a:off x="11548872" y="6400800"/>
            <a:ext cx="365760" cy="274320"/>
          </a:xfrm>
          <a:prstGeom prst="rect">
            <a:avLst/>
          </a:prstGeom>
          <a:noFill/>
          <a:ln/>
        </p:spPr>
        <p:txBody>
          <a:bodyPr wrap="square" rtlCol="0" anchor="ctr"/>
          <a:lstStyle/>
          <a:p>
            <a:pPr marL="0" indent="0" algn="r">
              <a:buNone/>
            </a:pPr>
            <a:r>
              <a:rPr lang="en-US" sz="1000" dirty="0">
                <a:latin typeface="Georgia" panose="02040502050405020303" pitchFamily="18" charset="0"/>
              </a:rPr>
              <a:t>13</a:t>
            </a:r>
          </a:p>
        </p:txBody>
      </p:sp>
      <p:sp>
        <p:nvSpPr>
          <p:cNvPr id="35" name="Text 33"/>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AEB9C2"/>
                </a:solidFill>
                <a:latin typeface="Georgia" panose="02040502050405020303" pitchFamily="18" charset="0"/>
                <a:ea typeface="Calibri" pitchFamily="34" charset="-122"/>
                <a:cs typeface="Calibri" pitchFamily="34" charset="-120"/>
              </a:rPr>
              <a:t>Adventure Works Sales Analytics</a:t>
            </a:r>
            <a:endParaRPr lang="en-US" sz="900" dirty="0">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065A82">
              <a:alpha val="50000"/>
            </a:srgbClr>
          </a:solidFill>
          <a:ln/>
        </p:spPr>
      </p:sp>
      <p:sp>
        <p:nvSpPr>
          <p:cNvPr id="3" name="Shape 1"/>
          <p:cNvSpPr/>
          <p:nvPr/>
        </p:nvSpPr>
        <p:spPr>
          <a:xfrm>
            <a:off x="9601200" y="4114800"/>
            <a:ext cx="4114800" cy="4114800"/>
          </a:xfrm>
          <a:prstGeom prst="ellipse">
            <a:avLst/>
          </a:prstGeom>
          <a:solidFill>
            <a:srgbClr val="1C7293">
              <a:alpha val="45000"/>
            </a:srgbClr>
          </a:solidFill>
          <a:ln/>
        </p:spPr>
      </p:sp>
      <p:sp>
        <p:nvSpPr>
          <p:cNvPr id="4" name="Text 2"/>
          <p:cNvSpPr/>
          <p:nvPr/>
        </p:nvSpPr>
        <p:spPr>
          <a:xfrm>
            <a:off x="0" y="2743200"/>
            <a:ext cx="12188952" cy="1005840"/>
          </a:xfrm>
          <a:prstGeom prst="rect">
            <a:avLst/>
          </a:prstGeom>
          <a:noFill/>
          <a:ln/>
        </p:spPr>
        <p:txBody>
          <a:bodyPr wrap="square" rtlCol="0" anchor="ctr"/>
          <a:lstStyle/>
          <a:p>
            <a:pPr marL="0" indent="0" algn="ctr">
              <a:buNone/>
            </a:pPr>
            <a:r>
              <a:rPr lang="en-US" sz="4800" b="1" dirty="0">
                <a:solidFill>
                  <a:srgbClr val="FFFFFF"/>
                </a:solidFill>
                <a:latin typeface="Georgia" panose="02040502050405020303" pitchFamily="18" charset="0"/>
                <a:ea typeface="Cambria" pitchFamily="34" charset="-122"/>
                <a:cs typeface="Cambria" pitchFamily="34" charset="-120"/>
              </a:rPr>
              <a:t>Thank You</a:t>
            </a:r>
            <a:endParaRPr lang="en-US" sz="4800" dirty="0">
              <a:latin typeface="Georgia" panose="02040502050405020303" pitchFamily="18" charset="0"/>
            </a:endParaRPr>
          </a:p>
        </p:txBody>
      </p:sp>
      <p:sp>
        <p:nvSpPr>
          <p:cNvPr id="5" name="Shape 3"/>
          <p:cNvSpPr/>
          <p:nvPr/>
        </p:nvSpPr>
        <p:spPr>
          <a:xfrm>
            <a:off x="5454396" y="3703320"/>
            <a:ext cx="1280160" cy="0"/>
          </a:xfrm>
          <a:prstGeom prst="line">
            <a:avLst/>
          </a:prstGeom>
          <a:noFill/>
          <a:ln w="38100">
            <a:solidFill>
              <a:srgbClr val="2FC8B7"/>
            </a:solidFill>
            <a:prstDash val="solid"/>
          </a:ln>
        </p:spPr>
      </p:sp>
      <p:sp>
        <p:nvSpPr>
          <p:cNvPr id="6" name="Text 4"/>
          <p:cNvSpPr/>
          <p:nvPr/>
        </p:nvSpPr>
        <p:spPr>
          <a:xfrm>
            <a:off x="0" y="3886200"/>
            <a:ext cx="12188952" cy="457200"/>
          </a:xfrm>
          <a:prstGeom prst="rect">
            <a:avLst/>
          </a:prstGeom>
          <a:noFill/>
          <a:ln/>
        </p:spPr>
        <p:txBody>
          <a:bodyPr wrap="square" rtlCol="0" anchor="ctr"/>
          <a:lstStyle/>
          <a:p>
            <a:pPr marL="0" indent="0" algn="ctr">
              <a:buNone/>
            </a:pPr>
            <a:r>
              <a:rPr lang="en-US" sz="1400" dirty="0">
                <a:solidFill>
                  <a:srgbClr val="9FB3C8"/>
                </a:solidFill>
                <a:latin typeface="Georgia" panose="02040502050405020303" pitchFamily="18" charset="0"/>
                <a:ea typeface="Calibri" pitchFamily="34" charset="-122"/>
                <a:cs typeface="Calibri" pitchFamily="34" charset="-120"/>
              </a:rPr>
              <a:t>Adventure Works Sales Analytics — SQL · Excel · Tableau · Power BI</a:t>
            </a:r>
            <a:endParaRPr lang="en-US" sz="1400" dirty="0">
              <a:latin typeface="Georgia" panose="020405020504050203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1141</Words>
  <Application>Microsoft Office PowerPoint</Application>
  <PresentationFormat>Widescreen</PresentationFormat>
  <Paragraphs>222</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Calibri</vt:lpstr>
      <vt:lpstr>Cambria</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Arunajyothi Hegade</cp:lastModifiedBy>
  <cp:revision>8</cp:revision>
  <dcterms:created xsi:type="dcterms:W3CDTF">2026-08-08T13:20:26Z</dcterms:created>
  <dcterms:modified xsi:type="dcterms:W3CDTF">2026-10-20T03:47:14Z</dcterms:modified>
</cp:coreProperties>
</file>